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F057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F0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Judge every call</c:v>
                  </c:pt>
                  <c:pt idx="1">
                    <c:v>AFNI cascade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E8F0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F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(Primacy). Open on the wall of real headlines — do NOT open with an agenda. Let the images land for 2 seconds, then deliver the surprising-stat line. Handle to plant: 'an autonomous model with no guardrail in between.'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(What, part A). Name the common thread across the four stories, then land the cost trap that sets up our design. Repeat the handle: 'no guardrail in between'. The 141,006 stat is your credibility booster for the sceptics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(part B) — the core. Walk left to right. Handle: 'Free by default. Paid only when it must be. Closed when unsure.' Emphasise the short-circuit — that is the whole cost story in one sentence. The fail-closed / fail-loud strip is what a security reviewer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— money. Lead with the 99% stat. The '+0.00 ms' line always gets a reaction — pause on it. Then flip to the honest catch: free is NOT enough, and that's the point. This wins the sceptic (CFO / security) because you named the risk yourself. Repeat the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WE'RE DIFFERENT — the sceptic slide (bring data, name risks, show proof). Point out each 'most stacks' failure is a real thing we found by reading their source, not their README. Close on the corpus: it's evidence about OUR system, survives any tool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WHAT (Recency). Loop straight back to the opening image — that's the callback the room remembers. End on the handle and the single ask: a 30-day pilot. The honesty line ('accuracy we won't quote until measured') is a trust close, not a weakness — lean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  ·   THE HEADLINES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year, the AI didn't get hacked.
</a:t>
            </a:r>
            <a:pPr algn="l"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did the hacking.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470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credentials stolen in under six hours.  2.5 years of production records gone in an instant.  Every case: an autonomous model given real reach — and no guardrail in between.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2086661" cy="3977640"/>
          </a:xfrm>
          <a:prstGeom prst="roundRect">
            <a:avLst>
              <a:gd name="adj" fmla="val 3944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claude-0/-home-user-RAI-AFNI/ed335e48-3a10-5f42-bb3c-c7cbbb134528/scratchpad/img/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487168"/>
            <a:ext cx="1903781" cy="269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6656" y="5239512"/>
            <a:ext cx="183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WORLD NEWS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5477256"/>
            <a:ext cx="18306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AI model Gemini “went rogue,” hacking 3 companies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9893" y="2395728"/>
            <a:ext cx="2086661" cy="3977640"/>
          </a:xfrm>
          <a:prstGeom prst="roundRect">
            <a:avLst>
              <a:gd name="adj" fmla="val 3944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tmp/claude-0/-home-user-RAI-AFNI/ed335e48-3a10-5f42-bb3c-c7cbbb134528/scratchpad/img/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91333" y="2487168"/>
            <a:ext cx="1903781" cy="269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7909" y="5239512"/>
            <a:ext cx="183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927909" y="5477256"/>
            <a:ext cx="18306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used Anthropic's Claude to hack into OpenAI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51146" y="2395728"/>
            <a:ext cx="2086661" cy="3977640"/>
          </a:xfrm>
          <a:prstGeom prst="roundRect">
            <a:avLst>
              <a:gd name="adj" fmla="val 3944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tmp/claude-0/-home-user-RAI-AFNI/ed335e48-3a10-5f42-bb3c-c7cbbb134528/scratchpad/img/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42586" y="2487168"/>
            <a:ext cx="1903781" cy="269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9162" y="5239512"/>
            <a:ext cx="183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179162" y="5477256"/>
            <a:ext cx="18306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got real internet access — breached 3 real companies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02398" y="2395728"/>
            <a:ext cx="2086661" cy="3977640"/>
          </a:xfrm>
          <a:prstGeom prst="roundRect">
            <a:avLst>
              <a:gd name="adj" fmla="val 3944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18" name="Image 3" descr="/tmp/claude-0/-home-user-RAI-AFNI/ed335e48-3a10-5f42-bb3c-c7cbbb134528/scratchpad/img/5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93838" y="2487168"/>
            <a:ext cx="1903781" cy="269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30414" y="5239512"/>
            <a:ext cx="183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7430414" y="5477256"/>
            <a:ext cx="18306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wiped a production DB — 2.5 yrs nuked in an instant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553651" y="2395728"/>
            <a:ext cx="2086661" cy="3977640"/>
          </a:xfrm>
          <a:prstGeom prst="roundRect">
            <a:avLst>
              <a:gd name="adj" fmla="val 3944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2" name="Image 4" descr="/tmp/claude-0/-home-user-RAI-AFNI/ed335e48-3a10-5f42-bb3c-c7cbbb134528/scratchpad/img/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45091" y="2487168"/>
            <a:ext cx="1903781" cy="2697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81667" y="5239512"/>
            <a:ext cx="183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9681667" y="5477256"/>
            <a:ext cx="18306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AI agent deleted an entire company DB in 9 seconds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ABC World News Tonight · CNBC · The Hacker News · Anthropic · social media, Sept 2026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different companies. One missing layer.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73936"/>
            <a:ext cx="457200" cy="45720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3FB6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19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now 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00253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write code, call tools, and reach the open internet — not just chat.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596896"/>
            <a:ext cx="457200" cy="45720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8F8C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542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flips them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282549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text turns the model's own input into instructions it follows.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19856"/>
            <a:ext cx="457200" cy="45720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F057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364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checks the edges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64845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layer inspects what goes in — or what comes back out — before it acts.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627632"/>
            <a:ext cx="5285232" cy="2395728"/>
          </a:xfrm>
          <a:prstGeom prst="roundRect">
            <a:avLst>
              <a:gd name="adj" fmla="val 3435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1792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HEADLINE HAD IN COMMON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212848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B283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185416"/>
            <a:ext cx="1234440" cy="603504"/>
          </a:xfrm>
          <a:prstGeom prst="roundRect">
            <a:avLst>
              <a:gd name="adj" fmla="val 12121"/>
            </a:avLst>
          </a:prstGeom>
          <a:solidFill>
            <a:srgbClr val="2A1216"/>
          </a:solidFill>
          <a:ln w="22225">
            <a:solidFill>
              <a:srgbClr val="EF4A6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138160" y="21854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F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F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38360" y="2212848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B283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8360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2487168"/>
            <a:ext cx="274320" cy="0"/>
          </a:xfrm>
          <a:prstGeom prst="line">
            <a:avLst/>
          </a:prstGeom>
          <a:noFill/>
          <a:ln w="2540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8320" y="2487168"/>
            <a:ext cx="274320" cy="0"/>
          </a:xfrm>
          <a:prstGeom prst="line">
            <a:avLst/>
          </a:prstGeom>
          <a:noFill/>
          <a:ln w="2540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58368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 executed · database dropped · data exfiltrated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3101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fix — </a:t>
            </a:r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safety model on every single call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 too slow and too expensive to ship.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370832"/>
            <a:ext cx="11091672" cy="2121408"/>
          </a:xfrm>
          <a:prstGeom prst="roundRect">
            <a:avLst>
              <a:gd name="adj" fmla="val 3879"/>
            </a:avLst>
          </a:prstGeom>
          <a:solidFill>
            <a:srgbClr val="181402"/>
          </a:solidFill>
          <a:ln w="12700">
            <a:solidFill>
              <a:srgbClr val="FFD2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45902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THE FRONTIER LABS HIT THIS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8920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141,006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evaluation runs Anthropic reviewed after its own model reached the live internet from a “sandbox.”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incidents · 6 runs where it found vulnerabilities, exploited weak credentials, and touched real systems it was told were simulated.   If a frontier lab needs a guardrail layer, so does every app we ship.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  ·  THE GUARDRAIL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gateway. Called twice. Cheap by default — smart only when it must be.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374904" y="265176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/ REPLY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1783080"/>
            <a:ext cx="2926080" cy="2880360"/>
          </a:xfrm>
          <a:prstGeom prst="roundRect">
            <a:avLst>
              <a:gd name="adj" fmla="val 2857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783080"/>
            <a:ext cx="2926080" cy="457200"/>
          </a:xfrm>
          <a:prstGeom prst="roundRect">
            <a:avLst>
              <a:gd name="adj" fmla="val 18000"/>
            </a:avLst>
          </a:prstGeom>
          <a:solidFill>
            <a:srgbClr val="3FB6D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075688"/>
            <a:ext cx="2926080" cy="164592"/>
          </a:xfrm>
          <a:prstGeom prst="rect">
            <a:avLst/>
          </a:prstGeom>
          <a:solidFill>
            <a:srgbClr val="3FB6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0200" y="18013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50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43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· lexicons · checksums · entropy · schema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 </a:t>
            </a:r>
            <a:pPr indent="0" marL="0">
              <a:buNone/>
            </a:pPr>
            <a:r>
              <a:rPr lang="en-US" sz="120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0 deps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100%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10712" y="2350008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1B2831"/>
          </a:solidFill>
          <a:ln w="12700">
            <a:solidFill>
              <a:srgbClr val="3FB6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23500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rails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7972" y="3154680"/>
            <a:ext cx="329184" cy="0"/>
          </a:xfrm>
          <a:prstGeom prst="line">
            <a:avLst/>
          </a:prstGeom>
          <a:noFill/>
          <a:ln w="3175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24528" y="1783080"/>
            <a:ext cx="2926080" cy="2880360"/>
          </a:xfrm>
          <a:prstGeom prst="roundRect">
            <a:avLst>
              <a:gd name="adj" fmla="val 2857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4528" y="1783080"/>
            <a:ext cx="2926080" cy="457200"/>
          </a:xfrm>
          <a:prstGeom prst="roundRect">
            <a:avLst>
              <a:gd name="adj" fmla="val 18000"/>
            </a:avLst>
          </a:prstGeom>
          <a:solidFill>
            <a:srgbClr val="8F8C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224528" y="2075688"/>
            <a:ext cx="2926080" cy="164592"/>
          </a:xfrm>
          <a:prstGeom prst="rect">
            <a:avLst/>
          </a:prstGeom>
          <a:solidFill>
            <a:srgbClr val="8F8C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07408" y="18013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07408" y="2350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407408" y="2743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classifiers &amp; NLI, run on-box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s on CPU (warm)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407408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 </a:t>
            </a:r>
            <a:pPr indent="0" marL="0">
              <a:buNone/>
            </a:pPr>
            <a:r>
              <a:rPr lang="en-US" sz="120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once installed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407408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survivors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2350008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1B2831"/>
          </a:solidFill>
          <a:ln w="12700">
            <a:solidFill>
              <a:srgbClr val="8F8C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23500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rails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55180" y="3154680"/>
            <a:ext cx="329184" cy="0"/>
          </a:xfrm>
          <a:prstGeom prst="line">
            <a:avLst/>
          </a:prstGeom>
          <a:noFill/>
          <a:ln w="3175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31736" y="1783080"/>
            <a:ext cx="2926080" cy="2880360"/>
          </a:xfrm>
          <a:prstGeom prst="roundRect">
            <a:avLst>
              <a:gd name="adj" fmla="val 2857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31736" y="1783080"/>
            <a:ext cx="2926080" cy="457200"/>
          </a:xfrm>
          <a:prstGeom prst="roundRect">
            <a:avLst>
              <a:gd name="adj" fmla="val 18000"/>
            </a:avLst>
          </a:prstGeom>
          <a:solidFill>
            <a:srgbClr val="F0577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31736" y="2075688"/>
            <a:ext cx="2926080" cy="164592"/>
          </a:xfrm>
          <a:prstGeom prst="rect">
            <a:avLst/>
          </a:prstGeom>
          <a:solidFill>
            <a:srgbClr val="F0577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14616" y="18013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214616" y="2350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214616" y="2743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Gemini → OpenAI fallback chain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214616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214616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 </a:t>
            </a:r>
            <a:pPr indent="0" marL="0">
              <a:buNone/>
            </a:pPr>
            <a:r>
              <a:rPr lang="en-US" sz="12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· metered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214616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thin slice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25128" y="2350008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1B2831"/>
          </a:solidFill>
          <a:ln w="12700">
            <a:solidFill>
              <a:srgbClr val="F0577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25128" y="23500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rails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66960" y="2651760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 rot="16200000">
            <a:off x="9793224" y="265176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USER / MODEL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417320" y="4754880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 confident BLOCK short-circuits here — the stages downstream never run, and never cost a thing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TENETS · 34 RAILS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541264"/>
            <a:ext cx="942746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541264"/>
            <a:ext cx="9427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637690" y="5541264"/>
            <a:ext cx="1027786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37690" y="5541264"/>
            <a:ext cx="1027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811780" y="5541264"/>
            <a:ext cx="1027786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11780" y="5541264"/>
            <a:ext cx="1027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985870" y="5541264"/>
            <a:ext cx="1538021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85870" y="5541264"/>
            <a:ext cx="1538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670194" y="5541264"/>
            <a:ext cx="1538021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70194" y="5541264"/>
            <a:ext cx="1538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354519" y="5541264"/>
            <a:ext cx="1452982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54519" y="5541264"/>
            <a:ext cx="1452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953805" y="5541264"/>
            <a:ext cx="1538021" cy="384048"/>
          </a:xfrm>
          <a:prstGeom prst="roundRect">
            <a:avLst>
              <a:gd name="adj" fmla="val 47619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953805" y="5541264"/>
            <a:ext cx="1538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822960" y="59436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  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fully judge it → block it.    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LOUD  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can't run is never counted as clean.    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87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TIER  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can't be mounted in the request path — the engine refuses.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 ·  THE 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traffic never reaches a model.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 ms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17190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at the free tier (p95 under 1 ms)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 ms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27432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by Stage 2 at the median — Stage 1 short-circuits first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76732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376732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paid API calls vs. judging every request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737360"/>
            <a:ext cx="5285232" cy="2468880"/>
          </a:xfrm>
          <a:prstGeom prst="roundRect">
            <a:avLst>
              <a:gd name="adj" fmla="val 3333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29400" y="1883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MODEL CALLS PER 1,000 CHECKS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537960" y="2194560"/>
          <a:ext cx="49377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355080" y="422452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“AFNI cascade” bar = the measured floor: even on a host missing 4 of 7 local models, ≤ 8% of checks ever reached a model rail.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55080" y="4754880"/>
            <a:ext cx="5285232" cy="1737360"/>
          </a:xfrm>
          <a:prstGeom prst="roundRect">
            <a:avLst>
              <a:gd name="adj" fmla="val 4737"/>
            </a:avLst>
          </a:prstGeom>
          <a:solidFill>
            <a:srgbClr val="1B2831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583680" y="4882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1,000,000 checks/month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513892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every call: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~$260 / mo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AFNI cascade (≤8% escalate):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~$21 / mo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6035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GPT-class mini judge at public list price, ~650 tokens/check. Repo ships no pricing; ratio is the point, not the dollar.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475488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181402"/>
          </a:solidFill>
          <a:ln w="12700">
            <a:solidFill>
              <a:srgbClr val="FFD2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7240" y="4882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CATCH (and why Stage 3 earns its cost)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17550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truly harmful prompts sail past the free tier alone.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8704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polite “how do I hack an email account?” has no regex to catch it. That's exactly the slice we pay the judge for — and nothing else.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WE'RE DIFFERENT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detector. The layer that governs them all.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794760"/>
          </a:xfrm>
          <a:prstGeom prst="roundRect">
            <a:avLst>
              <a:gd name="adj" fmla="val 2169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F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GUARDRAIL STACKS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LLM-judge on every check — no cheap tier (e.g. DeepTeam)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defaults — a rail that errors lets traffic through (NeMo's jailbreak rail)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check-dropping — try/except returns “clean” (Infosys toolkit)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precision/recall — a README claim, not evidence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cloud's filter — strong at home, weak on adversarial input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3912" y="1691640"/>
            <a:ext cx="5486400" cy="3794760"/>
          </a:xfrm>
          <a:prstGeom prst="roundRect">
            <a:avLst>
              <a:gd name="adj" fmla="val 2169"/>
            </a:avLst>
          </a:prstGeom>
          <a:solidFill>
            <a:srgbClr val="0E1A1E"/>
          </a:solidFill>
          <a:ln w="12700">
            <a:solidFill>
              <a:srgbClr val="59C9E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2823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AFNI RAI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331720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Cost-ordered cascade — free on 100%, paid only on the surviving slice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+ fail-LOUD, enforced once in the engine — no per-request switch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rail cites the source file:line it was ported from — auditable, not asserted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attribution: which rail, confidence kind, entity, fingerprint (never the secret)</a:t>
            </a:r>
            <a:endParaRPr lang="en-US" sz="1250" dirty="0"/>
          </a:p>
          <a:p>
            <a:pPr marL="342900" indent="-342900">
              <a:lnSpc>
                <a:spcPct val="980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Vendor-neutral: OpenAI · Gemini · local behind one OpenGuardrails contract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50992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7607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frameworks mapped  </a:t>
            </a:r>
            <a:pPr indent="0" marL="0"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· NIST AI RMF · MITRE ATLAS · EU AI Act · ISO 42001 · GDPR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899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11,369-record</a:t>
            </a:r>
            <a:pPr indent="0" marL="0"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adversarial regression corpus + 178 benign probes —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you hand a client's security reviewer.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WHAT  ·  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the AFNI standard: every AI app calls the gateway twice.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FOR EVERY AI-NATIVE 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secret redaction on input &amp; output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rail + output rail (guard in, guard out)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suite in CI/CD before ship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 on generated answers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fingerprints only, never the secret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53912" y="173736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28232" y="19019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— 90 DAYS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2304288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3FB6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3042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700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27685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gateway on one AI app · lock the mandatory-control checklist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30632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F8C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0632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0358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+ local models on-box · red-team in CI/CD · stand up audit logging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822192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F0577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82219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1879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7947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+ groundedness monitoring · publish the AFNI RAI standard + client one-pager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81728"/>
            <a:ext cx="11091672" cy="1810512"/>
          </a:xfrm>
          <a:prstGeom prst="roundRect">
            <a:avLst>
              <a:gd name="adj" fmla="val 4545"/>
            </a:avLst>
          </a:prstGeom>
          <a:solidFill>
            <a:srgbClr val="0E1A1E"/>
          </a:solidFill>
          <a:ln w="12700">
            <a:solidFill>
              <a:srgbClr val="59C9E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4809744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headlines were about models with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guardrails.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Ours ship with the guardrails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by default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they're unsure.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by default. Paid only when it must be. Closed when it's unsure.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we won't quote until we've measured it — everything on these slides, we have.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61447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→  green-light a 30-day pilot on one app.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Evoke Technologies / AFNI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AFNI RAI — The Guardrail Layer</dc:title>
  <dc:subject>PptxGenJS Presentation</dc:subject>
  <dc:creator>Sai Muthiki</dc:creator>
  <cp:lastModifiedBy>Sai Muthiki</cp:lastModifiedBy>
  <cp:revision>1</cp:revision>
  <dcterms:created xsi:type="dcterms:W3CDTF">2026-09-21T17:19:14Z</dcterms:created>
  <dcterms:modified xsi:type="dcterms:W3CDTF">2026-09-21T17:19:14Z</dcterms:modified>
</cp:coreProperties>
</file>