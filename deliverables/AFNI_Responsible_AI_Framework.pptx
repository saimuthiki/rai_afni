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notesMaster" Target="notesMasters/notesMaster1.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COMBINATION</a:t>
            </a:r>
          </a:p>
          <a:p>
            <a:r>
              <a:t>Two runtime layers plus one testing layer, and deliberately not three runtime layers. LLM Guard is the strongest single runtime PII component in the whole set because it pairs Presidio with an ai4privacy DeBERTa NER model and, uniquely, a Vault that lets redacted values be restored after the model call, so redaction stops breaking real workflows. It is free, MIT-licensed and needs no paid API. Its one real weakness is that Protect AI has archived the repo, so AFNI must fork, pin and own it. NeMo Guardrails is the second layer because it is the rail engine AFNI will already be running for Security, and it brings a GLiNER zero-shot PII rail that catches entity types no fixed regex list anticipated, plus a clean place to plug in Azure AI Language PII if a client insists on a Microsoft-supported service. We deliberately did not add a third LLM-as-judge PII layer at runtime: DeepEval and DeepTeam both offer one, but every call costs money and adds latency, and the accuracy gain over Presidio plus NER is not worth it in the request path. Instead the third slot goes to garak, which runs the ProPILE PII-leakage probes and training-data replay tests offline so AFNI can prove the model itself will not surrender personal data. Two cheap ports are recommended rather than adopted as dependencies: hai-guardrails-main's healthcare regex table (ICD-10, MRN, NPI, DEA) and secret patterns should be lifted into Presidio as custom recognisers, since they are just regex tables and the repo has almost no test coverage of its own.</a:t>
            </a:r>
          </a:p>
          <a:p/>
          <a:p>
            <a:r>
              <a:t>FULL CLOUD / PAID OPTIONS</a:t>
            </a:r>
          </a:p>
          <a:p>
            <a:r>
              <a:t>- Microsoft Presidio (open-source, but the de facto engine everything wraps)</a:t>
            </a:r>
          </a:p>
          <a:p>
            <a:r>
              <a:t>- Azure AI Language PII detection service</a:t>
            </a:r>
          </a:p>
          <a:p>
            <a:r>
              <a:t>- AWS Bedrock Guardrails (PII filters and masking)</a:t>
            </a:r>
          </a:p>
          <a:p>
            <a:r>
              <a:t>- Private AI / Polygraf PII (already wired as NeMo Guardrails rails)</a:t>
            </a:r>
          </a:p>
          <a:p>
            <a:r>
              <a:t>- NVIDIA GLiNER-PII NIM (hosted zero-shot PII NER)</a:t>
            </a:r>
          </a:p>
          <a:p/>
          <a:p>
            <a:r>
              <a:t>SAI'S PRIOR EXPERIENCE</a:t>
            </a:r>
          </a:p>
          <a:p>
            <a:r>
              <a:t>This is the single highest-leverage tenet for Sai's prior experience. Presidio sits underneath both recommended runtime repos, so the custom-recogniser work, entity allow/deny lists and threshold tuning done at Infosys transfers almost directly. The Infosys toolkit's privacy module is also the most capable PII implementation in the set for multi-format and multi-modal input (PDF, Office, OCR images, DICOM, video) plus Faker-based anonymisation and differential privacy, so those specific sub-packages are worth vendoring even though the full 20-microservice toolkit is not.</a:t>
            </a:r>
          </a:p>
          <a:p/>
          <a:p>
            <a:r>
              <a:t>RECONCILIATION</a:t>
            </a:r>
          </a:p>
          <a:p>
            <a:r>
              <a:t>Presidio is the engine inside LLM Guard and NeMo, not a separate thing to adopt. That is the whole reason the earlier two slides read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COMBINATION</a:t>
            </a:r>
          </a:p>
          <a:p>
            <a:r>
              <a:t>Security is the one tenet where a genuine three-part split is justified, but the split is cheap-to-expensive rather than library/model/prompt. First, LLM Guard's fine-tuned DeBERTa-v3 prompt-injection classifier is the best local, zero-API-cost injection detector available here, and it comes with Secrets scanning, InvisibleText and BanCode in the same package. Second, NeMo Guardrails supplies the enforcement engine and the deterministic tier that costs almost nothing to run: YARA rules for SQL, template, code and XSS injection, context-bloat heuristics using entropy and n-gram repetition, arbitrary regex blocking, and fail-closed tool-call schema validation. NeMo also publishes honest detection numbers for its perplexity jailbreak heuristics, which is rare and useful; the prefix/suffix check catches 49 of 50 GCG attacks at a 0.04 percent false-positive rate, while the length heuristic catches only about 31 percent, so AFNI should enable the former and treat the latter as signal only. One critical caveat to fix on day one: NeMo's jailbreak rail fails open on detector outage, which must be flipped to fail-closed for anything client-facing. Third, PyRIT is the offline attack engine, with Crescendo, TAP and PAIR multi-turn attacks, roughly 80 obfuscation converters, and nine deterministic regex output scorers mapped to OWASP LLM02 that double as free runtime output rails. PyRIT also carries the only real accuracy-measurement tooling in the set. We did not add a fourth runtime LLM-judge injection layer because independent benchmarks show cloud and judge-based filters degrade on adversarial and out-of-distribution input, so the money is better spent on a second offline scanner: run garak alongside PyRIT in CI, and route Azure Prompt Shields in as a NeMo rail for a third opinion on high-risk traffic rather than as the primary defence.</a:t>
            </a:r>
          </a:p>
          <a:p/>
          <a:p>
            <a:r>
              <a:t>FULL CLOUD / PAID OPTIONS</a:t>
            </a:r>
          </a:p>
          <a:p>
            <a:r>
              <a:t>- Azure AI Content Safety Prompt Shields (jailbreak and indirect-injection detection)</a:t>
            </a:r>
          </a:p>
          <a:p>
            <a:r>
              <a:t>- AWS Bedrock Guardrails</a:t>
            </a:r>
          </a:p>
          <a:p>
            <a:r>
              <a:t>- Azure AI Foundry red-team agent (already integrated in PyRIT)</a:t>
            </a:r>
          </a:p>
          <a:p>
            <a:r>
              <a:t>- Cisco AI Defense / CrowdStrike AIDR / Prompt Security (available as NeMo Guardrails rails)</a:t>
            </a:r>
          </a:p>
          <a:p>
            <a:r>
              <a:t>- Google Perspective API (as a scoring oracle)</a:t>
            </a:r>
          </a:p>
          <a:p/>
          <a:p>
            <a:r>
              <a:t>SAI'S PRIOR EXPERIENCE</a:t>
            </a:r>
          </a:p>
          <a:p>
            <a:r>
              <a:t>PyRIT is the direct continuation of Sai's existing Microsoft red-teaming experience, so the attacker-target orchestration, scorer configuration and memory layer are known ground. Rebuff's canary-token pattern and Rebuff's self-hardening vector store are worth reimplementing as custom NeMo rails rather than adopted as a dependency, since the maintainers themselves label Rebuff a prototype.</a:t>
            </a:r>
          </a:p>
          <a:p/>
          <a:p>
            <a:r>
              <a:t>RECONCILIATION</a:t>
            </a:r>
          </a:p>
          <a:p>
            <a:r>
              <a:t>Both earlier slides agreed here. Note from the source read: NeMo's jailbreak rail defaults to fail-OPEN and must be explicitly flipped.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COMBINATION</a:t>
            </a:r>
          </a:p>
          <a:p>
            <a:r>
              <a:t>Three repos, but for a completely different reason from the Infosys library/model/prompt pattern: these three cover three different kinds of model, not three detection techniques. Fairlearn is the primary choice for classic tabular models because it is MIT-licensed, Microsoft-maintained, has 62 unit-test files with warnings-as-errors CI, and every algorithm traces to a named peer-reviewed paper. Its MetricFrame auto-generates group-disparity versions of 11 standard scikit-learn metrics with bootstrap confidence intervals, which covers almost all governance reporting, and ThresholdOptimizer gives post-hoc mitigation that works on a black-box model without retraining. AIF360 is added for exactly one thing Fairlearn cannot do: automated discovery of harmed subgroups nobody thought to check, via MDSS subset scanning and FACTS counterfactual-recourse scanning. That capability is worth the extra dependency, but AFNI should use only the pure-Python metrics and detector modules and avoid the mitigation algorithms that drag in TensorFlow 1.x, CVXPY or rpy2. Third, promptfoo covers generative text, where no protected-attribute column exists and statistical parity is meaningless; its age, disability, gender and race bias plugins generate adversarial prompts and grade the responses with an LLM judge in CI. We did not include Deepchecks despite its genuinely useful PerformanceBias and weak-segment checks, because it is AGPL-3.0 and AFNI ships AI-enabled products to its own clients. We also did not add a runtime bias guard: bias is a distributional property measured over many decisions, so blocking a single response on a bias score produces false confidence and a poor user experience.</a:t>
            </a:r>
          </a:p>
          <a:p/>
          <a:p>
            <a:r>
              <a:t>FULL CLOUD / PAID OPTIONS</a:t>
            </a:r>
          </a:p>
          <a:p>
            <a:r>
              <a:t>- Fiddler AI</a:t>
            </a:r>
          </a:p>
          <a:p>
            <a:r>
              <a:t>- Arthur AI</a:t>
            </a:r>
          </a:p>
          <a:p>
            <a:r>
              <a:t>- DataRobot (bias and fairness monitoring)</a:t>
            </a:r>
          </a:p>
          <a:p>
            <a:r>
              <a:t>- Truera</a:t>
            </a:r>
          </a:p>
          <a:p>
            <a:r>
              <a:t>- Monitaur</a:t>
            </a:r>
          </a:p>
          <a:p>
            <a:r>
              <a:t>- Azure Machine Learning Responsible AI dashboard (Fairlearn-based)</a:t>
            </a:r>
          </a:p>
          <a:p/>
          <a:p>
            <a:r>
              <a:t>SAI'S PRIOR EXPERIENCE</a:t>
            </a:r>
          </a:p>
          <a:p>
            <a:r>
              <a:t>The Infosys toolkit's fairness module is literally a wrapper around AIF360 plus Fairlearn (statistical parity difference, disparate impact, four-fifths rule, Cohen's D, equal opportunity difference, plus Reweighing, Disparate Impact Remover and ThresholdOptimizer), so Sai has already integrated exactly this pair. The recommendation is to keep the metric selection and threshold conventions from that work and drop the bespoke wrapper package, calling Fairlearn and AIF360 directly.</a:t>
            </a:r>
          </a:p>
          <a:p/>
          <a:p>
            <a:r>
              <a:t>RECONCILIATION</a:t>
            </a:r>
          </a:p>
          <a:p>
            <a:r>
              <a:t>Both earlier slides agreed. Every metric here needs a labelled ground truth and a declared protected attribute, which is what makes it structurally offline.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COMBINATION</a:t>
            </a:r>
          </a:p>
          <a:p>
            <a:r>
              <a:t>Two repos, not three, because explainability splits cleanly into two questions and nothing else in the set adds a third. For classic and tabular models the answer is SHAP alone: it is MIT-licensed, Production/Stable, backed by Nature-published papers, has 55 test files, covers 12 estimation algorithms behind one auto-dispatching API, and is exact rather than approximate for tree and linear models, which are the model families AFNI's decisioning use cases will actually use. Its group_difference plot is also the bridge to the Fairness tenet, decomposing a between-group outcome gap into per-feature contributions with bootstrap bounds, so one library serves two tenets. For generative applications the answer is DeepEval's G-Eval and DAG metrics, which let AFNI encode a client's own written policy as a rubric and get back a score plus a written justification; DeepEval is already being adopted for Hallucination, so this costs no new dependency. We explicitly rejected adding a third layer. Guardrails AI has the best explainability plumbing in the set (character-offset error spans on streamed output, full Call/Iteration history), but it ships no detectors at all, is mid-migration away from its hosted hub, and has a documented supply-chain compromise in its own SECURITY_ADVISORY, so AFNI should copy its error-span and history design into the OpenGuardrails verdict schema rather than depend on it. LIME from the Infosys toolkit is worth adding later only if reviewers specifically ask for it, since Kernel SHAP answers the same question more rigorously and more slowly.</a:t>
            </a:r>
          </a:p>
          <a:p/>
          <a:p>
            <a:r>
              <a:t>FULL CLOUD / PAID OPTIONS</a:t>
            </a:r>
          </a:p>
          <a:p>
            <a:r>
              <a:t>- Microsoft InterpretML (open-source, Azure-aligned)</a:t>
            </a:r>
          </a:p>
          <a:p>
            <a:r>
              <a:t>- IBM AIX360</a:t>
            </a:r>
          </a:p>
          <a:p>
            <a:r>
              <a:t>- LIME (open-source, used inside the Infosys toolkit)</a:t>
            </a:r>
          </a:p>
          <a:p>
            <a:r>
              <a:t>- Fiddler AI / Arthur AI (hosted explainability dashboards)</a:t>
            </a:r>
          </a:p>
          <a:p>
            <a:r>
              <a:t>- Azure Machine Learning Responsible AI dashboard</a:t>
            </a:r>
          </a:p>
          <a:p/>
          <a:p>
            <a:r>
              <a:t>SAI'S PRIOR EXPERIENCE</a:t>
            </a:r>
          </a:p>
          <a:p>
            <a:r>
              <a:t>Sai's Infosys explainability module already combines SHAP and LIME for tabular models with prompt-based token importance and Chain-of-Thought style explanations for LLM answers. The recommendation keeps SHAP as-is, replaces the bespoke prompt-based explainer with DeepEval's G-Eval so the rubric is versioned and CI-runnable, and treats the reasoning-template approaches as optional demo material because each one multiplies model calls per request.</a:t>
            </a:r>
          </a:p>
          <a:p/>
          <a:p>
            <a:r>
              <a:t>RECONCILIATION</a:t>
            </a:r>
          </a:p>
          <a:p>
            <a:r>
              <a:t>Both earlier slides agreed. Three different questions need three different tools: SHAP explains the model, the Verdict schema explains the guardrail, a rubric explains a policy call.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COMBINATION</a:t>
            </a:r>
          </a:p>
          <a:p>
            <a:r>
              <a:t>Three repos: one cheap local classifier, one policy-model router, one offline attack corpus. LLM Guard runs a local transformer toxicity classifier plus zero-shot BanTopics and deterministic BanSubstrings, all on-premise with no per-call cost, which is what makes always-on content safety affordable at AFNI's likely traffic volumes. NeMo Guardrails is the router: its content_safety rail can call Llama Guard 3, ShieldGemma, Nemotron Content Safety or Azure AI Content Safety through the same config, returning safe/unsafe plus violated policy categories, and it adds localised refusal messages in nine languages. This is where the benchmark nuance matters most and drives the design: independent evaluations show cloud content filters are noticeably weaker on adversarial and out-of-distribution input than specialised open-source guards, so AFNI must not rely on a single cloud filter. The recommended posture is local classifier first (cheap, catches the bulk), a dedicated guard model second for anything the first tier scores near the threshold, and Azure AI Content Safety as a third opinion on high-risk categories and for the audit trail a client reviewer wants to see, with a custom blocklist for AFNI-specific and client-specific terms. Third, promptfoo supplies the offline proof: 25-plus harm categories mapped to MLCommons and HarmBench taxonomies, plus dataset plugins pulling BeaverTails, HarmBench, DoNotAnswer, ToxicChat, Aegis and XSTest, so the deployed stack is measured against published corpora rather than an internal wordlist. A hard calibration warning belongs in the plan: garak's own published evaluation shows a shipped toxicity classifier at 0.69 accuracy but only 0.375 recall, so default thresholds must be re-tuned on AFNI traffic before anyone claims a coverage number.</a:t>
            </a:r>
          </a:p>
          <a:p/>
          <a:p>
            <a:r>
              <a:t>FULL CLOUD / PAID OPTIONS</a:t>
            </a:r>
          </a:p>
          <a:p>
            <a:r>
              <a:t>- Azure AI Content Safety (hate, sexual, violence, self-harm with severity levels, plus custom blocklists)</a:t>
            </a:r>
          </a:p>
          <a:p>
            <a:r>
              <a:t>- OpenAI Moderation API (omni-moderation)</a:t>
            </a:r>
          </a:p>
          <a:p>
            <a:r>
              <a:t>- AWS Bedrock Guardrails content filters</a:t>
            </a:r>
          </a:p>
          <a:p>
            <a:r>
              <a:t>- Google Perspective API</a:t>
            </a:r>
          </a:p>
          <a:p>
            <a:r>
              <a:t>- Llama Guard 3 / ShieldGemma / Nemotron Content Safety (self-hostable guard models, already wired into NeMo and PyRIT)</a:t>
            </a:r>
          </a:p>
          <a:p/>
          <a:p>
            <a:r>
              <a:t>SAI'S PRIOR EXPERIENCE</a:t>
            </a:r>
          </a:p>
          <a:p>
            <a:r>
              <a:t>The Infosys toolkit's safety module (a seven-way fine-tuned toxicity model plus Detoxify plus better_profanity offset censoring plus NudeNet for images) is the closest thing in the set to a finished content-safety service, and Sai's threshold and category conventions carry over. Its NSFW image and video detection is the only implementation in the 23 repos and should be vendored directly if AFNI ships any image generation or user upload feature.</a:t>
            </a:r>
          </a:p>
          <a:p/>
          <a:p>
            <a:r>
              <a:t>RECONCILIATION</a:t>
            </a:r>
          </a:p>
          <a:p>
            <a:r>
              <a:t>The cheat sheet named only LLM Guard + Azure; the recommendation slide named LLM Guard + NeMo + Promptfoo. The union is correct - NeMo does the routing, Promptfoo does the CI corpus.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COMBINATION</a:t>
            </a:r>
          </a:p>
          <a:p>
            <a:r>
              <a:t>Two repos only, and this is the clearest case in the whole synthesis for refusing to force a third layer. At runtime, LLM Guard's FactualConsistency scanner uses a cross-encoder NLI model to score entailment between the retrieved source and the model's answer. It runs locally, needs no judge LLM, produces a stable numeric score, and is therefore the only groundedness check that is affordable to run on every single response. Offline, DeepEval carries the full measurement suite that actually diagnoses why a hallucination happened: Faithfulness, Hallucination, Contextual Precision, Contextual Recall, Contextual Relevancy and Answer Relevancy, plus non-LLM local alternatives via SummaC and the Vectara hallucination model for teams that want to avoid judge cost entirely. It is Low integration effort, pytest-native, and already needed for the Explainability rubric work, so the marginal cost of adopting it is close to zero. Adding a third layer here would mean either self-consistency sampling from NeMo (which multiplies model calls by three or more per request and is hard to justify economically) or another LLM-judge groundedness check duplicating what DeepEval already does. Neither adds accuracy proportional to its cost. The one supplement worth planning is not a third repo but a cloud service: route Azure AI Content Safety groundedness detection in as a NeMo rail for regulated or client-facing RAG flows where a Microsoft-supported service in the evidence pack is worth more than the marginal accuracy. Two narrow additions are also worth pulling in as single checks rather than full adoptions: garak's package-hallucination detector if AFNI builds coding assistants, and Deepchecks' drift metrics in a scheduled job if a model runs long enough to decay.</a:t>
            </a:r>
          </a:p>
          <a:p/>
          <a:p>
            <a:r>
              <a:t>FULL CLOUD / PAID OPTIONS</a:t>
            </a:r>
          </a:p>
          <a:p>
            <a:r>
              <a:t>- Azure AI Content Safety groundedness detection</a:t>
            </a:r>
          </a:p>
          <a:p>
            <a:r>
              <a:t>- Patronus AI Lynx hallucination model (available as a NeMo rail)</a:t>
            </a:r>
          </a:p>
          <a:p>
            <a:r>
              <a:t>- Cleanlab trustworthiness score (available as a NeMo rail)</a:t>
            </a:r>
          </a:p>
          <a:p>
            <a:r>
              <a:t>- Fiddler AI faithfulness monitoring</a:t>
            </a:r>
          </a:p>
          <a:p>
            <a:r>
              <a:t>- Vectara hallucination evaluation model (self-hostable, wired into DeepEval)</a:t>
            </a:r>
          </a:p>
          <a:p/>
          <a:p>
            <a:r>
              <a:t>SAI'S PRIOR EXPERIENCE</a:t>
            </a:r>
          </a:p>
          <a:p>
            <a:r>
              <a:t>The Infosys hallucination module blends embedding similarity across input, output and source with a four-criterion G-Eval judge covering faithfulness, relevance, adherence and correctness. That criteria set is good and should be carried forward as the DeepEval G-Eval rubric, but the embedding-similarity blend should be replaced by the NLI entailment scorer, because high embedding similarity does not actually prove factual support and produced a soft signal rather than a decision.</a:t>
            </a:r>
          </a:p>
          <a:p/>
          <a:p>
            <a:r>
              <a:t>RECONCILIATION</a:t>
            </a:r>
          </a:p>
          <a:p>
            <a:r>
              <a:t>The cheat sheet added Giskard to the runtime picture. Giskard v3 is LLM-judge based and needs a paid API, so it belongs in CI only - keep it, but never inline.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THIS COMBINATION</a:t>
            </a:r>
          </a:p>
          <a:p>
            <a:r>
              <a:t>Three repos covering the three things accountability actually requires: a contract, evidence that the checks work, and evidence that the system was tested. OpenGuardrails contributes no detectors at all, and that is precisely why it belongs here: its GuardEvent and Verdict JSON schemas, the safety/security/privacy taxonomy, the span-based redaction contract, the deny-wins composition rules and the fail-open versus fail-closed degraded-mode specification with an explicit unjudged field give AFNI a stable interface that every detector reports into. That means AFNI can swap LLM Guard for a cloud service, or add a vendor, without touching a single application, and the audit record stays comparable across years. Adopt the schema and taxonomy; ignore its toy reference detectors and its tiny 8-to-14-example benchmark suites. PyRIT is the second pick for a reason most tool comparisons miss: it is the only repo in the set with real machinery for measuring whether a detector is any good, computing Krippendorff's alpha and comparing scorer output against human-labelled ground truth, and it ships 17 harm-definition taxonomy files including AI governance failure and AI supply chain that map onto a corporate risk register. Its SQLAlchemy memory layer also persists every prompt, response and score. Third, promptfoo produces the artefact that gets AFNI through a client review: scan results mapped to OWASP LLM Top 10, NIST AI RMF, MITRE ATLAS, EU AI Act, ISO 42001 and GDPR, exportable from CI. We deliberately did not pick Guardrails AI here despite it having the most detailed per-call history object in the set, because it ships no detectors, is mid-migration, and carries a documented supply-chain compromise, which is a poor look for governance infrastructure; its history and error-span design should be copied into the OpenGuardrails schema instead. Two patterns should be reimplemented rather than adopted: safe-zone-main's SIEM SecurityEvent record shape (action, category, confidence, threshold, request ID, timestamp) and Infosys's per-tenant threshold configuration service, because different AFNI projects need different strictness and hard-coded thresholds will not survive reuse.</a:t>
            </a:r>
          </a:p>
          <a:p/>
          <a:p>
            <a:r>
              <a:t>FULL CLOUD / PAID OPTIONS</a:t>
            </a:r>
          </a:p>
          <a:p>
            <a:r>
              <a:t>- Monitaur (AI governance and model audit records)</a:t>
            </a:r>
          </a:p>
          <a:p>
            <a:r>
              <a:t>- Fiddler AI / Arthur AI (production monitoring and drift alerting)</a:t>
            </a:r>
          </a:p>
          <a:p>
            <a:r>
              <a:t>- DataRobot governance and model registry</a:t>
            </a:r>
          </a:p>
          <a:p>
            <a:r>
              <a:t>- Azure Monitor plus Application Insights for guardrail telemetry</a:t>
            </a:r>
          </a:p>
          <a:p>
            <a:r>
              <a:t>- Microsoft Purview for data-governance lineage</a:t>
            </a:r>
          </a:p>
          <a:p/>
          <a:p>
            <a:r>
              <a:t>SAI'S PRIOR EXPERIENCE</a:t>
            </a:r>
          </a:p>
          <a:p>
            <a:r>
              <a:t>The Infosys toolkit's admin service, per-account and per-portfolio threshold configuration and Elasticsearch telemetry pipeline are directly relevant prior art, and the per-tenant configuration model should be rebuilt on the new stack. One lesson to carry forward as a negative: the Infosys moderation dispatcher wraps checks in broad try/except blocks that log and return None, so a single misconfigured threshold or model timeout can silently drop a check. AFNI's version must fail loudly and report unjudged, which is exactly what the OpenGuardrails contract enforces.</a:t>
            </a:r>
          </a:p>
          <a:p/>
          <a:p>
            <a:r>
              <a:t>RECONCILIATION</a:t>
            </a:r>
          </a:p>
          <a:p>
            <a:r>
              <a:t>REAL DISAGREEMENT, now settled: the cheat sheet named DeepTeam, the recommendation slide named Promptfoo. Promptfoo wins - it maps 6 frameworks (OWASP LLM, NIST AI RMF, MITRE ATLAS, EU AI Act, ISO 42001, GDPR) against DeepTeam's 5, and PyRIT ships no report generator at all. DeepTeam stays as a secondary source of agentic findings.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331720"/>
            <a:ext cx="12191695" cy="41148"/>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417320"/>
            <a:ext cx="10515600" cy="457200"/>
          </a:xfrm>
          <a:prstGeom prst="rect">
            <a:avLst/>
          </a:prstGeom>
          <a:noFill/>
        </p:spPr>
        <p:txBody>
          <a:bodyPr wrap="square" anchor="t" lIns="0" rIns="0" tIns="0" bIns="0">
            <a:spAutoFit/>
          </a:bodyPr>
          <a:lstStyle/>
          <a:p>
            <a:pPr algn="l">
              <a:lnSpc>
                <a:spcPct val="100000"/>
              </a:lnSpc>
            </a:pPr>
            <a:r>
              <a:rPr sz="1600" b="1" i="0">
                <a:solidFill>
                  <a:srgbClr val="1B9AAA"/>
                </a:solidFill>
                <a:latin typeface="Calibri"/>
              </a:rPr>
              <a:t>RESPONSIBLE AI GOVERNANCE</a:t>
            </a:r>
          </a:p>
        </p:txBody>
      </p:sp>
      <p:sp>
        <p:nvSpPr>
          <p:cNvPr id="6" name="TextBox 5"/>
          <p:cNvSpPr txBox="1"/>
          <p:nvPr/>
        </p:nvSpPr>
        <p:spPr>
          <a:xfrm>
            <a:off x="777240" y="1874519"/>
            <a:ext cx="10607040" cy="1371600"/>
          </a:xfrm>
          <a:prstGeom prst="rect">
            <a:avLst/>
          </a:prstGeom>
          <a:noFill/>
        </p:spPr>
        <p:txBody>
          <a:bodyPr wrap="square" anchor="t" lIns="0" rIns="0" tIns="0" bIns="0">
            <a:spAutoFit/>
          </a:bodyPr>
          <a:lstStyle/>
          <a:p>
            <a:pPr algn="l">
              <a:lnSpc>
                <a:spcPct val="100000"/>
              </a:lnSpc>
            </a:pPr>
            <a:r>
              <a:rPr sz="4000" b="1" i="0">
                <a:solidFill>
                  <a:srgbClr val="FFFFFF"/>
                </a:solidFill>
                <a:latin typeface="Calibri"/>
              </a:rPr>
              <a:t>A Responsible AI Framework for AFNI</a:t>
            </a:r>
          </a:p>
        </p:txBody>
      </p:sp>
      <p:sp>
        <p:nvSpPr>
          <p:cNvPr id="7" name="TextBox 6"/>
          <p:cNvSpPr txBox="1"/>
          <p:nvPr/>
        </p:nvSpPr>
        <p:spPr>
          <a:xfrm>
            <a:off x="822960" y="2697480"/>
            <a:ext cx="10424160" cy="640080"/>
          </a:xfrm>
          <a:prstGeom prst="rect">
            <a:avLst/>
          </a:prstGeom>
          <a:noFill/>
        </p:spPr>
        <p:txBody>
          <a:bodyPr wrap="square" anchor="t" lIns="0" rIns="0" tIns="0" bIns="0">
            <a:spAutoFit/>
          </a:bodyPr>
          <a:lstStyle/>
          <a:p>
            <a:pPr algn="l">
              <a:lnSpc>
                <a:spcPct val="130000"/>
              </a:lnSpc>
            </a:pPr>
            <a:r>
              <a:rPr sz="1500" b="0" i="0">
                <a:solidFill>
                  <a:srgbClr val="CFDAE6"/>
                </a:solidFill>
                <a:latin typeface="Calibri"/>
              </a:rPr>
              <a:t>Reviewing 23 open-source tools and designing one unified toolkit,</a:t>
            </a:r>
          </a:p>
          <a:p>
            <a:pPr algn="l">
              <a:lnSpc>
                <a:spcPct val="130000"/>
              </a:lnSpc>
            </a:pPr>
            <a:r>
              <a:rPr sz="1500" b="0" i="0">
                <a:solidFill>
                  <a:srgbClr val="CFDAE6"/>
                </a:solidFill>
                <a:latin typeface="Calibri"/>
              </a:rPr>
              <a:t>tenet by tenet, for every AI application AFNI builds.</a:t>
            </a:r>
          </a:p>
        </p:txBody>
      </p:sp>
      <p:sp>
        <p:nvSpPr>
          <p:cNvPr id="8" name="Rectangle 7"/>
          <p:cNvSpPr/>
          <p:nvPr/>
        </p:nvSpPr>
        <p:spPr>
          <a:xfrm>
            <a:off x="822960" y="5806440"/>
            <a:ext cx="457200" cy="3657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22960" y="5943600"/>
            <a:ext cx="5486400" cy="320040"/>
          </a:xfrm>
          <a:prstGeom prst="rect">
            <a:avLst/>
          </a:prstGeom>
          <a:noFill/>
        </p:spPr>
        <p:txBody>
          <a:bodyPr wrap="square" anchor="t" lIns="0" rIns="0" tIns="0" bIns="0">
            <a:spAutoFit/>
          </a:bodyPr>
          <a:lstStyle/>
          <a:p>
            <a:pPr algn="l">
              <a:lnSpc>
                <a:spcPct val="100000"/>
              </a:lnSpc>
            </a:pPr>
            <a:r>
              <a:rPr sz="1300" b="1" i="0">
                <a:solidFill>
                  <a:srgbClr val="FFFFFF"/>
                </a:solidFill>
                <a:latin typeface="Calibri"/>
              </a:rPr>
              <a:t>Prepared by Sai Muthiki</a:t>
            </a:r>
          </a:p>
        </p:txBody>
      </p:sp>
      <p:sp>
        <p:nvSpPr>
          <p:cNvPr id="10" name="TextBox 9"/>
          <p:cNvSpPr txBox="1"/>
          <p:nvPr/>
        </p:nvSpPr>
        <p:spPr>
          <a:xfrm>
            <a:off x="822960" y="6236208"/>
            <a:ext cx="7315200" cy="320040"/>
          </a:xfrm>
          <a:prstGeom prst="rect">
            <a:avLst/>
          </a:prstGeom>
          <a:noFill/>
        </p:spPr>
        <p:txBody>
          <a:bodyPr wrap="square" anchor="t" lIns="0" rIns="0" tIns="0" bIns="0">
            <a:spAutoFit/>
          </a:bodyPr>
          <a:lstStyle/>
          <a:p>
            <a:pPr algn="l">
              <a:lnSpc>
                <a:spcPct val="100000"/>
              </a:lnSpc>
            </a:pPr>
            <a:r>
              <a:rPr sz="1200" b="0" i="0">
                <a:solidFill>
                  <a:srgbClr val="CFDAE6"/>
                </a:solidFill>
                <a:latin typeface="Calibri"/>
              </a:rPr>
              <a:t>For Kiran Devkar &amp; AFNI AI Governance</a:t>
            </a:r>
          </a:p>
        </p:txBody>
      </p:sp>
      <p:sp>
        <p:nvSpPr>
          <p:cNvPr id="11" name="TextBox 10"/>
          <p:cNvSpPr txBox="1"/>
          <p:nvPr/>
        </p:nvSpPr>
        <p:spPr>
          <a:xfrm>
            <a:off x="9692640" y="5943600"/>
            <a:ext cx="2011680" cy="548640"/>
          </a:xfrm>
          <a:prstGeom prst="rect">
            <a:avLst/>
          </a:prstGeom>
          <a:noFill/>
        </p:spPr>
        <p:txBody>
          <a:bodyPr wrap="square" anchor="t" lIns="0" rIns="0" tIns="0" bIns="0">
            <a:spAutoFit/>
          </a:bodyPr>
          <a:lstStyle/>
          <a:p>
            <a:pPr algn="r">
              <a:lnSpc>
                <a:spcPct val="100000"/>
              </a:lnSpc>
            </a:pPr>
            <a:r>
              <a:rPr sz="2200" b="1" i="0">
                <a:solidFill>
                  <a:srgbClr val="FFFFFF"/>
                </a:solidFill>
                <a:latin typeface="Calibri"/>
              </a:rPr>
              <a:t>AFNI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AGENDA</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What This Deck Covers</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508760"/>
            <a:ext cx="822960" cy="457200"/>
          </a:xfrm>
          <a:prstGeom prst="rect">
            <a:avLst/>
          </a:prstGeom>
          <a:noFill/>
        </p:spPr>
        <p:txBody>
          <a:bodyPr wrap="square" anchor="t" lIns="0" rIns="0" tIns="0" bIns="0">
            <a:spAutoFit/>
          </a:bodyPr>
          <a:lstStyle/>
          <a:p>
            <a:pPr algn="l">
              <a:lnSpc>
                <a:spcPct val="100000"/>
              </a:lnSpc>
            </a:pPr>
            <a:r>
              <a:rPr sz="2200" b="1" i="0">
                <a:solidFill>
                  <a:srgbClr val="1B9AAA"/>
                </a:solidFill>
                <a:latin typeface="Calibri"/>
              </a:rPr>
              <a:t>01</a:t>
            </a:r>
          </a:p>
        </p:txBody>
      </p:sp>
      <p:sp>
        <p:nvSpPr>
          <p:cNvPr id="8" name="TextBox 7"/>
          <p:cNvSpPr txBox="1"/>
          <p:nvPr/>
        </p:nvSpPr>
        <p:spPr>
          <a:xfrm>
            <a:off x="1417320" y="1527048"/>
            <a:ext cx="4023360" cy="365760"/>
          </a:xfrm>
          <a:prstGeom prst="rect">
            <a:avLst/>
          </a:prstGeom>
          <a:noFill/>
        </p:spPr>
        <p:txBody>
          <a:bodyPr wrap="square" anchor="t" lIns="0" rIns="0" tIns="0" bIns="0">
            <a:spAutoFit/>
          </a:bodyPr>
          <a:lstStyle/>
          <a:p>
            <a:pPr algn="l">
              <a:lnSpc>
                <a:spcPct val="100000"/>
              </a:lnSpc>
            </a:pPr>
            <a:r>
              <a:rPr sz="1500" b="1" i="0">
                <a:solidFill>
                  <a:srgbClr val="10243E"/>
                </a:solidFill>
                <a:latin typeface="Calibri"/>
              </a:rPr>
              <a:t>Why This Matters</a:t>
            </a:r>
          </a:p>
        </p:txBody>
      </p:sp>
      <p:sp>
        <p:nvSpPr>
          <p:cNvPr id="9" name="TextBox 8"/>
          <p:cNvSpPr txBox="1"/>
          <p:nvPr/>
        </p:nvSpPr>
        <p:spPr>
          <a:xfrm>
            <a:off x="5394960" y="1527048"/>
            <a:ext cx="6035040" cy="457200"/>
          </a:xfrm>
          <a:prstGeom prst="rect">
            <a:avLst/>
          </a:prstGeom>
          <a:noFill/>
        </p:spPr>
        <p:txBody>
          <a:bodyPr wrap="square" anchor="t" lIns="0" rIns="0" tIns="0" bIns="0">
            <a:spAutoFit/>
          </a:bodyPr>
          <a:lstStyle/>
          <a:p>
            <a:pPr algn="l">
              <a:lnSpc>
                <a:spcPct val="100000"/>
              </a:lnSpc>
            </a:pPr>
            <a:r>
              <a:rPr sz="1200" b="0" i="0">
                <a:solidFill>
                  <a:srgbClr val="5B6B7D"/>
                </a:solidFill>
                <a:latin typeface="Calibri"/>
              </a:rPr>
              <a:t>The business case and the regulatory backdrop driving this work</a:t>
            </a:r>
          </a:p>
        </p:txBody>
      </p:sp>
      <p:sp>
        <p:nvSpPr>
          <p:cNvPr id="10" name="Rectangle 9"/>
          <p:cNvSpPr/>
          <p:nvPr/>
        </p:nvSpPr>
        <p:spPr>
          <a:xfrm>
            <a:off x="640080" y="2075688"/>
            <a:ext cx="10972800" cy="10972"/>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176272"/>
            <a:ext cx="822960" cy="457200"/>
          </a:xfrm>
          <a:prstGeom prst="rect">
            <a:avLst/>
          </a:prstGeom>
          <a:noFill/>
        </p:spPr>
        <p:txBody>
          <a:bodyPr wrap="square" anchor="t" lIns="0" rIns="0" tIns="0" bIns="0">
            <a:spAutoFit/>
          </a:bodyPr>
          <a:lstStyle/>
          <a:p>
            <a:pPr algn="l">
              <a:lnSpc>
                <a:spcPct val="100000"/>
              </a:lnSpc>
            </a:pPr>
            <a:r>
              <a:rPr sz="2200" b="1" i="0">
                <a:solidFill>
                  <a:srgbClr val="1B9AAA"/>
                </a:solidFill>
                <a:latin typeface="Calibri"/>
              </a:rPr>
              <a:t>02</a:t>
            </a:r>
          </a:p>
        </p:txBody>
      </p:sp>
      <p:sp>
        <p:nvSpPr>
          <p:cNvPr id="12" name="TextBox 11"/>
          <p:cNvSpPr txBox="1"/>
          <p:nvPr/>
        </p:nvSpPr>
        <p:spPr>
          <a:xfrm>
            <a:off x="1417320" y="2194560"/>
            <a:ext cx="4023360" cy="365760"/>
          </a:xfrm>
          <a:prstGeom prst="rect">
            <a:avLst/>
          </a:prstGeom>
          <a:noFill/>
        </p:spPr>
        <p:txBody>
          <a:bodyPr wrap="square" anchor="t" lIns="0" rIns="0" tIns="0" bIns="0">
            <a:spAutoFit/>
          </a:bodyPr>
          <a:lstStyle/>
          <a:p>
            <a:pPr algn="l">
              <a:lnSpc>
                <a:spcPct val="100000"/>
              </a:lnSpc>
            </a:pPr>
            <a:r>
              <a:rPr sz="1500" b="1" i="0">
                <a:solidFill>
                  <a:srgbClr val="10243E"/>
                </a:solidFill>
                <a:latin typeface="Calibri"/>
              </a:rPr>
              <a:t>The 7 Tenets</a:t>
            </a:r>
          </a:p>
        </p:txBody>
      </p:sp>
      <p:sp>
        <p:nvSpPr>
          <p:cNvPr id="13" name="TextBox 12"/>
          <p:cNvSpPr txBox="1"/>
          <p:nvPr/>
        </p:nvSpPr>
        <p:spPr>
          <a:xfrm>
            <a:off x="5394960" y="2194560"/>
            <a:ext cx="6035040" cy="457200"/>
          </a:xfrm>
          <a:prstGeom prst="rect">
            <a:avLst/>
          </a:prstGeom>
          <a:noFill/>
        </p:spPr>
        <p:txBody>
          <a:bodyPr wrap="square" anchor="t" lIns="0" rIns="0" tIns="0" bIns="0">
            <a:spAutoFit/>
          </a:bodyPr>
          <a:lstStyle/>
          <a:p>
            <a:pPr algn="l">
              <a:lnSpc>
                <a:spcPct val="100000"/>
              </a:lnSpc>
            </a:pPr>
            <a:r>
              <a:rPr sz="1200" b="0" i="0">
                <a:solidFill>
                  <a:srgbClr val="5B6B7D"/>
                </a:solidFill>
                <a:latin typeface="Calibri"/>
              </a:rPr>
              <a:t>What “Responsible AI” means in practical terms at AFNI</a:t>
            </a:r>
          </a:p>
        </p:txBody>
      </p:sp>
      <p:sp>
        <p:nvSpPr>
          <p:cNvPr id="14" name="Rectangle 13"/>
          <p:cNvSpPr/>
          <p:nvPr/>
        </p:nvSpPr>
        <p:spPr>
          <a:xfrm>
            <a:off x="640080" y="2743200"/>
            <a:ext cx="10972800" cy="10972"/>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2843784"/>
            <a:ext cx="822960" cy="457200"/>
          </a:xfrm>
          <a:prstGeom prst="rect">
            <a:avLst/>
          </a:prstGeom>
          <a:noFill/>
        </p:spPr>
        <p:txBody>
          <a:bodyPr wrap="square" anchor="t" lIns="0" rIns="0" tIns="0" bIns="0">
            <a:spAutoFit/>
          </a:bodyPr>
          <a:lstStyle/>
          <a:p>
            <a:pPr algn="l">
              <a:lnSpc>
                <a:spcPct val="100000"/>
              </a:lnSpc>
            </a:pPr>
            <a:r>
              <a:rPr sz="2200" b="1" i="0">
                <a:solidFill>
                  <a:srgbClr val="1B9AAA"/>
                </a:solidFill>
                <a:latin typeface="Calibri"/>
              </a:rPr>
              <a:t>03</a:t>
            </a:r>
          </a:p>
        </p:txBody>
      </p:sp>
      <p:sp>
        <p:nvSpPr>
          <p:cNvPr id="16" name="TextBox 15"/>
          <p:cNvSpPr txBox="1"/>
          <p:nvPr/>
        </p:nvSpPr>
        <p:spPr>
          <a:xfrm>
            <a:off x="1417320" y="2862072"/>
            <a:ext cx="4023360" cy="365760"/>
          </a:xfrm>
          <a:prstGeom prst="rect">
            <a:avLst/>
          </a:prstGeom>
          <a:noFill/>
        </p:spPr>
        <p:txBody>
          <a:bodyPr wrap="square" anchor="t" lIns="0" rIns="0" tIns="0" bIns="0">
            <a:spAutoFit/>
          </a:bodyPr>
          <a:lstStyle/>
          <a:p>
            <a:pPr algn="l">
              <a:lnSpc>
                <a:spcPct val="100000"/>
              </a:lnSpc>
            </a:pPr>
            <a:r>
              <a:rPr sz="1500" b="1" i="0">
                <a:solidFill>
                  <a:srgbClr val="10243E"/>
                </a:solidFill>
                <a:latin typeface="Calibri"/>
              </a:rPr>
              <a:t>Framework Architecture</a:t>
            </a:r>
          </a:p>
        </p:txBody>
      </p:sp>
      <p:sp>
        <p:nvSpPr>
          <p:cNvPr id="17" name="TextBox 16"/>
          <p:cNvSpPr txBox="1"/>
          <p:nvPr/>
        </p:nvSpPr>
        <p:spPr>
          <a:xfrm>
            <a:off x="5394960" y="2862072"/>
            <a:ext cx="6035040" cy="457200"/>
          </a:xfrm>
          <a:prstGeom prst="rect">
            <a:avLst/>
          </a:prstGeom>
          <a:noFill/>
        </p:spPr>
        <p:txBody>
          <a:bodyPr wrap="square" anchor="t" lIns="0" rIns="0" tIns="0" bIns="0">
            <a:spAutoFit/>
          </a:bodyPr>
          <a:lstStyle/>
          <a:p>
            <a:pPr algn="l">
              <a:lnSpc>
                <a:spcPct val="100000"/>
              </a:lnSpc>
            </a:pPr>
            <a:r>
              <a:rPr sz="1200" b="0" i="0">
                <a:solidFill>
                  <a:srgbClr val="5B6B7D"/>
                </a:solidFill>
                <a:latin typeface="Calibri"/>
              </a:rPr>
              <a:t>Where guardrail checks live, and development vs. testing</a:t>
            </a:r>
          </a:p>
        </p:txBody>
      </p:sp>
      <p:sp>
        <p:nvSpPr>
          <p:cNvPr id="18" name="Rectangle 17"/>
          <p:cNvSpPr/>
          <p:nvPr/>
        </p:nvSpPr>
        <p:spPr>
          <a:xfrm>
            <a:off x="640080" y="3410712"/>
            <a:ext cx="10972800" cy="10972"/>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3511296"/>
            <a:ext cx="822960" cy="457200"/>
          </a:xfrm>
          <a:prstGeom prst="rect">
            <a:avLst/>
          </a:prstGeom>
          <a:noFill/>
        </p:spPr>
        <p:txBody>
          <a:bodyPr wrap="square" anchor="t" lIns="0" rIns="0" tIns="0" bIns="0">
            <a:spAutoFit/>
          </a:bodyPr>
          <a:lstStyle/>
          <a:p>
            <a:pPr algn="l">
              <a:lnSpc>
                <a:spcPct val="100000"/>
              </a:lnSpc>
            </a:pPr>
            <a:r>
              <a:rPr sz="2200" b="1" i="0">
                <a:solidFill>
                  <a:srgbClr val="1B9AAA"/>
                </a:solidFill>
                <a:latin typeface="Calibri"/>
              </a:rPr>
              <a:t>04</a:t>
            </a:r>
          </a:p>
        </p:txBody>
      </p:sp>
      <p:sp>
        <p:nvSpPr>
          <p:cNvPr id="20" name="TextBox 19"/>
          <p:cNvSpPr txBox="1"/>
          <p:nvPr/>
        </p:nvSpPr>
        <p:spPr>
          <a:xfrm>
            <a:off x="1417320" y="3529584"/>
            <a:ext cx="4023360" cy="365760"/>
          </a:xfrm>
          <a:prstGeom prst="rect">
            <a:avLst/>
          </a:prstGeom>
          <a:noFill/>
        </p:spPr>
        <p:txBody>
          <a:bodyPr wrap="square" anchor="t" lIns="0" rIns="0" tIns="0" bIns="0">
            <a:spAutoFit/>
          </a:bodyPr>
          <a:lstStyle/>
          <a:p>
            <a:pPr algn="l">
              <a:lnSpc>
                <a:spcPct val="100000"/>
              </a:lnSpc>
            </a:pPr>
            <a:r>
              <a:rPr sz="1500" b="1" i="0">
                <a:solidFill>
                  <a:srgbClr val="10243E"/>
                </a:solidFill>
                <a:latin typeface="Calibri"/>
              </a:rPr>
              <a:t>23 Repository Deep-Dives</a:t>
            </a:r>
          </a:p>
        </p:txBody>
      </p:sp>
      <p:sp>
        <p:nvSpPr>
          <p:cNvPr id="21" name="TextBox 20"/>
          <p:cNvSpPr txBox="1"/>
          <p:nvPr/>
        </p:nvSpPr>
        <p:spPr>
          <a:xfrm>
            <a:off x="5394960" y="3529584"/>
            <a:ext cx="6035040" cy="457200"/>
          </a:xfrm>
          <a:prstGeom prst="rect">
            <a:avLst/>
          </a:prstGeom>
          <a:noFill/>
        </p:spPr>
        <p:txBody>
          <a:bodyPr wrap="square" anchor="t" lIns="0" rIns="0" tIns="0" bIns="0">
            <a:spAutoFit/>
          </a:bodyPr>
          <a:lstStyle/>
          <a:p>
            <a:pPr algn="l">
              <a:lnSpc>
                <a:spcPct val="100000"/>
              </a:lnSpc>
            </a:pPr>
            <a:r>
              <a:rPr sz="1200" b="0" i="0">
                <a:solidFill>
                  <a:srgbClr val="5B6B7D"/>
                </a:solidFill>
                <a:latin typeface="Calibri"/>
              </a:rPr>
              <a:t>One slide per tool - features, limits, cost, and fit</a:t>
            </a:r>
          </a:p>
        </p:txBody>
      </p:sp>
      <p:sp>
        <p:nvSpPr>
          <p:cNvPr id="22" name="Rectangle 21"/>
          <p:cNvSpPr/>
          <p:nvPr/>
        </p:nvSpPr>
        <p:spPr>
          <a:xfrm>
            <a:off x="640080" y="4078224"/>
            <a:ext cx="10972800" cy="10972"/>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0080" y="4178808"/>
            <a:ext cx="822960" cy="457200"/>
          </a:xfrm>
          <a:prstGeom prst="rect">
            <a:avLst/>
          </a:prstGeom>
          <a:noFill/>
        </p:spPr>
        <p:txBody>
          <a:bodyPr wrap="square" anchor="t" lIns="0" rIns="0" tIns="0" bIns="0">
            <a:spAutoFit/>
          </a:bodyPr>
          <a:lstStyle/>
          <a:p>
            <a:pPr algn="l">
              <a:lnSpc>
                <a:spcPct val="100000"/>
              </a:lnSpc>
            </a:pPr>
            <a:r>
              <a:rPr sz="2200" b="1" i="0">
                <a:solidFill>
                  <a:srgbClr val="1B9AAA"/>
                </a:solidFill>
                <a:latin typeface="Calibri"/>
              </a:rPr>
              <a:t>05</a:t>
            </a:r>
          </a:p>
        </p:txBody>
      </p:sp>
      <p:sp>
        <p:nvSpPr>
          <p:cNvPr id="24" name="TextBox 23"/>
          <p:cNvSpPr txBox="1"/>
          <p:nvPr/>
        </p:nvSpPr>
        <p:spPr>
          <a:xfrm>
            <a:off x="1417320" y="4197096"/>
            <a:ext cx="4023360" cy="365760"/>
          </a:xfrm>
          <a:prstGeom prst="rect">
            <a:avLst/>
          </a:prstGeom>
          <a:noFill/>
        </p:spPr>
        <p:txBody>
          <a:bodyPr wrap="square" anchor="t" lIns="0" rIns="0" tIns="0" bIns="0">
            <a:spAutoFit/>
          </a:bodyPr>
          <a:lstStyle/>
          <a:p>
            <a:pPr algn="l">
              <a:lnSpc>
                <a:spcPct val="100000"/>
              </a:lnSpc>
            </a:pPr>
            <a:r>
              <a:rPr sz="1500" b="1" i="0">
                <a:solidFill>
                  <a:srgbClr val="10243E"/>
                </a:solidFill>
                <a:latin typeface="Calibri"/>
              </a:rPr>
              <a:t>Master Checklist</a:t>
            </a:r>
          </a:p>
        </p:txBody>
      </p:sp>
      <p:sp>
        <p:nvSpPr>
          <p:cNvPr id="25" name="TextBox 24"/>
          <p:cNvSpPr txBox="1"/>
          <p:nvPr/>
        </p:nvSpPr>
        <p:spPr>
          <a:xfrm>
            <a:off x="5394960" y="4197096"/>
            <a:ext cx="6035040" cy="457200"/>
          </a:xfrm>
          <a:prstGeom prst="rect">
            <a:avLst/>
          </a:prstGeom>
          <a:noFill/>
        </p:spPr>
        <p:txBody>
          <a:bodyPr wrap="square" anchor="t" lIns="0" rIns="0" tIns="0" bIns="0">
            <a:spAutoFit/>
          </a:bodyPr>
          <a:lstStyle/>
          <a:p>
            <a:pPr algn="l">
              <a:lnSpc>
                <a:spcPct val="100000"/>
              </a:lnSpc>
            </a:pPr>
            <a:r>
              <a:rPr sz="1200" b="0" i="0">
                <a:solidFill>
                  <a:srgbClr val="5B6B7D"/>
                </a:solidFill>
                <a:latin typeface="Calibri"/>
              </a:rPr>
              <a:t>Every concrete check found, tagged to a tenet</a:t>
            </a:r>
          </a:p>
        </p:txBody>
      </p:sp>
      <p:sp>
        <p:nvSpPr>
          <p:cNvPr id="26" name="Rectangle 25"/>
          <p:cNvSpPr/>
          <p:nvPr/>
        </p:nvSpPr>
        <p:spPr>
          <a:xfrm>
            <a:off x="640080" y="4745736"/>
            <a:ext cx="10972800" cy="10972"/>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0080" y="4846320"/>
            <a:ext cx="822960" cy="457200"/>
          </a:xfrm>
          <a:prstGeom prst="rect">
            <a:avLst/>
          </a:prstGeom>
          <a:noFill/>
        </p:spPr>
        <p:txBody>
          <a:bodyPr wrap="square" anchor="t" lIns="0" rIns="0" tIns="0" bIns="0">
            <a:spAutoFit/>
          </a:bodyPr>
          <a:lstStyle/>
          <a:p>
            <a:pPr algn="l">
              <a:lnSpc>
                <a:spcPct val="100000"/>
              </a:lnSpc>
            </a:pPr>
            <a:r>
              <a:rPr sz="2200" b="1" i="0">
                <a:solidFill>
                  <a:srgbClr val="1B9AAA"/>
                </a:solidFill>
                <a:latin typeface="Calibri"/>
              </a:rPr>
              <a:t>06</a:t>
            </a:r>
          </a:p>
        </p:txBody>
      </p:sp>
      <p:sp>
        <p:nvSpPr>
          <p:cNvPr id="28" name="TextBox 27"/>
          <p:cNvSpPr txBox="1"/>
          <p:nvPr/>
        </p:nvSpPr>
        <p:spPr>
          <a:xfrm>
            <a:off x="1417320" y="4864608"/>
            <a:ext cx="4023360" cy="365760"/>
          </a:xfrm>
          <a:prstGeom prst="rect">
            <a:avLst/>
          </a:prstGeom>
          <a:noFill/>
        </p:spPr>
        <p:txBody>
          <a:bodyPr wrap="square" anchor="t" lIns="0" rIns="0" tIns="0" bIns="0">
            <a:spAutoFit/>
          </a:bodyPr>
          <a:lstStyle/>
          <a:p>
            <a:pPr algn="l">
              <a:lnSpc>
                <a:spcPct val="100000"/>
              </a:lnSpc>
            </a:pPr>
            <a:r>
              <a:rPr sz="1500" b="1" i="0">
                <a:solidFill>
                  <a:srgbClr val="10243E"/>
                </a:solidFill>
                <a:latin typeface="Calibri"/>
              </a:rPr>
              <a:t>Tenet-by-Tenet Recommendations</a:t>
            </a:r>
          </a:p>
        </p:txBody>
      </p:sp>
      <p:sp>
        <p:nvSpPr>
          <p:cNvPr id="29" name="TextBox 28"/>
          <p:cNvSpPr txBox="1"/>
          <p:nvPr/>
        </p:nvSpPr>
        <p:spPr>
          <a:xfrm>
            <a:off x="5394960" y="4864608"/>
            <a:ext cx="6035040" cy="457200"/>
          </a:xfrm>
          <a:prstGeom prst="rect">
            <a:avLst/>
          </a:prstGeom>
          <a:noFill/>
        </p:spPr>
        <p:txBody>
          <a:bodyPr wrap="square" anchor="t" lIns="0" rIns="0" tIns="0" bIns="0">
            <a:spAutoFit/>
          </a:bodyPr>
          <a:lstStyle/>
          <a:p>
            <a:pPr algn="l">
              <a:lnSpc>
                <a:spcPct val="100000"/>
              </a:lnSpc>
            </a:pPr>
            <a:r>
              <a:rPr sz="1200" b="0" i="0">
                <a:solidFill>
                  <a:srgbClr val="5B6B7D"/>
                </a:solidFill>
                <a:latin typeface="Calibri"/>
              </a:rPr>
              <a:t>The best combination of tools per tenet</a:t>
            </a:r>
          </a:p>
        </p:txBody>
      </p:sp>
      <p:sp>
        <p:nvSpPr>
          <p:cNvPr id="30" name="Rectangle 29"/>
          <p:cNvSpPr/>
          <p:nvPr/>
        </p:nvSpPr>
        <p:spPr>
          <a:xfrm>
            <a:off x="640080" y="5413248"/>
            <a:ext cx="10972800" cy="10972"/>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5513832"/>
            <a:ext cx="822960" cy="457200"/>
          </a:xfrm>
          <a:prstGeom prst="rect">
            <a:avLst/>
          </a:prstGeom>
          <a:noFill/>
        </p:spPr>
        <p:txBody>
          <a:bodyPr wrap="square" anchor="t" lIns="0" rIns="0" tIns="0" bIns="0">
            <a:spAutoFit/>
          </a:bodyPr>
          <a:lstStyle/>
          <a:p>
            <a:pPr algn="l">
              <a:lnSpc>
                <a:spcPct val="100000"/>
              </a:lnSpc>
            </a:pPr>
            <a:r>
              <a:rPr sz="2200" b="1" i="0">
                <a:solidFill>
                  <a:srgbClr val="1B9AAA"/>
                </a:solidFill>
                <a:latin typeface="Calibri"/>
              </a:rPr>
              <a:t>07</a:t>
            </a:r>
          </a:p>
        </p:txBody>
      </p:sp>
      <p:sp>
        <p:nvSpPr>
          <p:cNvPr id="32" name="TextBox 31"/>
          <p:cNvSpPr txBox="1"/>
          <p:nvPr/>
        </p:nvSpPr>
        <p:spPr>
          <a:xfrm>
            <a:off x="1417320" y="5532120"/>
            <a:ext cx="4023360" cy="365760"/>
          </a:xfrm>
          <a:prstGeom prst="rect">
            <a:avLst/>
          </a:prstGeom>
          <a:noFill/>
        </p:spPr>
        <p:txBody>
          <a:bodyPr wrap="square" anchor="t" lIns="0" rIns="0" tIns="0" bIns="0">
            <a:spAutoFit/>
          </a:bodyPr>
          <a:lstStyle/>
          <a:p>
            <a:pPr algn="l">
              <a:lnSpc>
                <a:spcPct val="100000"/>
              </a:lnSpc>
            </a:pPr>
            <a:r>
              <a:rPr sz="1500" b="1" i="0">
                <a:solidFill>
                  <a:srgbClr val="10243E"/>
                </a:solidFill>
                <a:latin typeface="Calibri"/>
              </a:rPr>
              <a:t>Feasibility &amp; Roadmap</a:t>
            </a:r>
          </a:p>
        </p:txBody>
      </p:sp>
      <p:sp>
        <p:nvSpPr>
          <p:cNvPr id="33" name="TextBox 32"/>
          <p:cNvSpPr txBox="1"/>
          <p:nvPr/>
        </p:nvSpPr>
        <p:spPr>
          <a:xfrm>
            <a:off x="5394960" y="5532120"/>
            <a:ext cx="6035040" cy="457200"/>
          </a:xfrm>
          <a:prstGeom prst="rect">
            <a:avLst/>
          </a:prstGeom>
          <a:noFill/>
        </p:spPr>
        <p:txBody>
          <a:bodyPr wrap="square" anchor="t" lIns="0" rIns="0" tIns="0" bIns="0">
            <a:spAutoFit/>
          </a:bodyPr>
          <a:lstStyle/>
          <a:p>
            <a:pPr algn="l">
              <a:lnSpc>
                <a:spcPct val="100000"/>
              </a:lnSpc>
            </a:pPr>
            <a:r>
              <a:rPr sz="1200" b="0" i="0">
                <a:solidFill>
                  <a:srgbClr val="5B6B7D"/>
                </a:solidFill>
                <a:latin typeface="Calibri"/>
              </a:rPr>
              <a:t>What to adopt, when, and in what order</a:t>
            </a:r>
          </a:p>
        </p:txBody>
      </p:sp>
      <p:sp>
        <p:nvSpPr>
          <p:cNvPr id="34" name="Rectangle 33"/>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6" name="TextBox 35"/>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Agenda</a:t>
            </a:r>
          </a:p>
        </p:txBody>
      </p:sp>
      <p:sp>
        <p:nvSpPr>
          <p:cNvPr id="37" name="TextBox 36"/>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BUSINESS CONTEXT</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Why This Matters to AFNI</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08760"/>
            <a:ext cx="6035040" cy="4754880"/>
          </a:xfrm>
          <a:prstGeom prst="rect">
            <a:avLst/>
          </a:prstGeom>
          <a:noFill/>
        </p:spPr>
        <p:txBody>
          <a:bodyPr wrap="square" lIns="0" rIns="0" tIns="0" bIns="0">
            <a:spAutoFit/>
          </a:bodyPr>
          <a:lstStyle/>
          <a:p>
            <a:pPr>
              <a:lnSpc>
                <a:spcPct val="115000"/>
              </a:lnSpc>
              <a:spcAft>
                <a:spcPts val="1400"/>
              </a:spcAft>
            </a:pPr>
            <a:r>
              <a:rPr sz="1450" b="1">
                <a:solidFill>
                  <a:srgbClr val="1B9AAA"/>
                </a:solidFill>
                <a:latin typeface="Calibri"/>
              </a:rPr>
              <a:t>▪  </a:t>
            </a:r>
            <a:r>
              <a:rPr sz="1450">
                <a:solidFill>
                  <a:srgbClr val="1A1A2E"/>
                </a:solidFill>
                <a:latin typeface="Calibri"/>
              </a:rPr>
              <a:t>AFNI is moving to AI-native development. Every new AI app should follow one shared safety standard, not a different approach each time.</a:t>
            </a:r>
          </a:p>
          <a:p>
            <a:pPr>
              <a:lnSpc>
                <a:spcPct val="115000"/>
              </a:lnSpc>
              <a:spcAft>
                <a:spcPts val="1400"/>
              </a:spcAft>
            </a:pPr>
            <a:r>
              <a:rPr sz="1450" b="1">
                <a:solidFill>
                  <a:srgbClr val="1B9AAA"/>
                </a:solidFill>
                <a:latin typeface="Calibri"/>
              </a:rPr>
              <a:t>▪  </a:t>
            </a:r>
            <a:r>
              <a:rPr sz="1450">
                <a:solidFill>
                  <a:srgbClr val="1A1A2E"/>
                </a:solidFill>
                <a:latin typeface="Calibri"/>
              </a:rPr>
              <a:t>Two reasons this pays off: (1) it builds AI that AFNI and its people can actually trust, and (2) it helps AFNI pass client security reviews before demoing or shipping AI products.</a:t>
            </a:r>
          </a:p>
          <a:p>
            <a:pPr>
              <a:lnSpc>
                <a:spcPct val="115000"/>
              </a:lnSpc>
              <a:spcAft>
                <a:spcPts val="1400"/>
              </a:spcAft>
            </a:pPr>
            <a:r>
              <a:rPr sz="1450" b="1">
                <a:solidFill>
                  <a:srgbClr val="1B9AAA"/>
                </a:solidFill>
                <a:latin typeface="Calibri"/>
              </a:rPr>
              <a:t>▪  </a:t>
            </a:r>
            <a:r>
              <a:rPr sz="1450">
                <a:solidFill>
                  <a:srgbClr val="1A1A2E"/>
                </a:solidFill>
                <a:latin typeface="Calibri"/>
              </a:rPr>
              <a:t>Regulators are catching up fast. The EU AI Act's toughest rules apply from August 2026. The US NIST AI framework and ISO 42001 are becoming the standard questions clients ask vendors.</a:t>
            </a:r>
          </a:p>
          <a:p>
            <a:pPr>
              <a:lnSpc>
                <a:spcPct val="115000"/>
              </a:lnSpc>
              <a:spcAft>
                <a:spcPts val="1400"/>
              </a:spcAft>
            </a:pPr>
            <a:r>
              <a:rPr sz="1450" b="1">
                <a:solidFill>
                  <a:srgbClr val="1B9AAA"/>
                </a:solidFill>
                <a:latin typeface="Calibri"/>
              </a:rPr>
              <a:t>▪  </a:t>
            </a:r>
            <a:r>
              <a:rPr sz="1450">
                <a:solidFill>
                  <a:srgbClr val="1A1A2E"/>
                </a:solidFill>
                <a:latin typeface="Calibri"/>
              </a:rPr>
              <a:t>AFNI's cloud is Azure-first, but not locked in. The goal is to pick the best tool for each job, whether it's open-source or a paid cloud service.</a:t>
            </a:r>
          </a:p>
          <a:p>
            <a:pPr>
              <a:lnSpc>
                <a:spcPct val="115000"/>
              </a:lnSpc>
              <a:spcAft>
                <a:spcPts val="1400"/>
              </a:spcAft>
            </a:pPr>
            <a:r>
              <a:rPr sz="1450" b="1">
                <a:solidFill>
                  <a:srgbClr val="1B9AAA"/>
                </a:solidFill>
                <a:latin typeface="Calibri"/>
              </a:rPr>
              <a:t>▪  </a:t>
            </a:r>
            <a:r>
              <a:rPr sz="1450">
                <a:solidFill>
                  <a:srgbClr val="1A1A2E"/>
                </a:solidFill>
                <a:latin typeface="Calibri"/>
              </a:rPr>
              <a:t>This deck reviews 23 real, hands-on tools - not just theory - to turn “we should be responsible” into a concrete, buildable plan.</a:t>
            </a:r>
          </a:p>
        </p:txBody>
      </p:sp>
      <p:sp>
        <p:nvSpPr>
          <p:cNvPr id="8" name="Rounded Rectangle 7"/>
          <p:cNvSpPr/>
          <p:nvPr/>
        </p:nvSpPr>
        <p:spPr>
          <a:xfrm>
            <a:off x="6949440" y="1508760"/>
            <a:ext cx="4754880" cy="4709160"/>
          </a:xfrm>
          <a:prstGeom prst="roundRect">
            <a:avLst>
              <a:gd name="adj" fmla="val 5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23760" y="1783080"/>
            <a:ext cx="4206240" cy="36576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KEY DATES</a:t>
            </a:r>
          </a:p>
        </p:txBody>
      </p:sp>
      <p:sp>
        <p:nvSpPr>
          <p:cNvPr id="10" name="TextBox 9"/>
          <p:cNvSpPr txBox="1"/>
          <p:nvPr/>
        </p:nvSpPr>
        <p:spPr>
          <a:xfrm>
            <a:off x="7223760" y="2286000"/>
            <a:ext cx="4206240" cy="274320"/>
          </a:xfrm>
          <a:prstGeom prst="rect">
            <a:avLst/>
          </a:prstGeom>
          <a:noFill/>
        </p:spPr>
        <p:txBody>
          <a:bodyPr wrap="square" anchor="t" lIns="0" rIns="0" tIns="0" bIns="0">
            <a:spAutoFit/>
          </a:bodyPr>
          <a:lstStyle/>
          <a:p>
            <a:pPr algn="l">
              <a:lnSpc>
                <a:spcPct val="100000"/>
              </a:lnSpc>
            </a:pPr>
            <a:r>
              <a:rPr sz="1300" b="1" i="0">
                <a:solidFill>
                  <a:srgbClr val="FFFFFF"/>
                </a:solidFill>
                <a:latin typeface="Calibri"/>
              </a:rPr>
              <a:t>Aug 2026</a:t>
            </a:r>
          </a:p>
        </p:txBody>
      </p:sp>
      <p:sp>
        <p:nvSpPr>
          <p:cNvPr id="11" name="TextBox 10"/>
          <p:cNvSpPr txBox="1"/>
          <p:nvPr/>
        </p:nvSpPr>
        <p:spPr>
          <a:xfrm>
            <a:off x="7223760" y="2578608"/>
            <a:ext cx="4206240" cy="502920"/>
          </a:xfrm>
          <a:prstGeom prst="rect">
            <a:avLst/>
          </a:prstGeom>
          <a:noFill/>
        </p:spPr>
        <p:txBody>
          <a:bodyPr wrap="square" anchor="t" lIns="0" rIns="0" tIns="0" bIns="0">
            <a:spAutoFit/>
          </a:bodyPr>
          <a:lstStyle/>
          <a:p>
            <a:pPr algn="l">
              <a:lnSpc>
                <a:spcPct val="110000"/>
              </a:lnSpc>
            </a:pPr>
            <a:r>
              <a:rPr sz="1150" b="0" i="0">
                <a:solidFill>
                  <a:srgbClr val="CFDAE6"/>
                </a:solidFill>
                <a:latin typeface="Calibri"/>
              </a:rPr>
              <a:t>EU AI Act high-risk obligations take effect</a:t>
            </a:r>
          </a:p>
        </p:txBody>
      </p:sp>
      <p:sp>
        <p:nvSpPr>
          <p:cNvPr id="12" name="TextBox 11"/>
          <p:cNvSpPr txBox="1"/>
          <p:nvPr/>
        </p:nvSpPr>
        <p:spPr>
          <a:xfrm>
            <a:off x="7223760" y="3246120"/>
            <a:ext cx="4206240" cy="274320"/>
          </a:xfrm>
          <a:prstGeom prst="rect">
            <a:avLst/>
          </a:prstGeom>
          <a:noFill/>
        </p:spPr>
        <p:txBody>
          <a:bodyPr wrap="square" anchor="t" lIns="0" rIns="0" tIns="0" bIns="0">
            <a:spAutoFit/>
          </a:bodyPr>
          <a:lstStyle/>
          <a:p>
            <a:pPr algn="l">
              <a:lnSpc>
                <a:spcPct val="100000"/>
              </a:lnSpc>
            </a:pPr>
            <a:r>
              <a:rPr sz="1300" b="1" i="0">
                <a:solidFill>
                  <a:srgbClr val="FFFFFF"/>
                </a:solidFill>
                <a:latin typeface="Calibri"/>
              </a:rPr>
              <a:t>Ongoing</a:t>
            </a:r>
          </a:p>
        </p:txBody>
      </p:sp>
      <p:sp>
        <p:nvSpPr>
          <p:cNvPr id="13" name="TextBox 12"/>
          <p:cNvSpPr txBox="1"/>
          <p:nvPr/>
        </p:nvSpPr>
        <p:spPr>
          <a:xfrm>
            <a:off x="7223760" y="3538727"/>
            <a:ext cx="4206240" cy="502920"/>
          </a:xfrm>
          <a:prstGeom prst="rect">
            <a:avLst/>
          </a:prstGeom>
          <a:noFill/>
        </p:spPr>
        <p:txBody>
          <a:bodyPr wrap="square" anchor="t" lIns="0" rIns="0" tIns="0" bIns="0">
            <a:spAutoFit/>
          </a:bodyPr>
          <a:lstStyle/>
          <a:p>
            <a:pPr algn="l">
              <a:lnSpc>
                <a:spcPct val="110000"/>
              </a:lnSpc>
            </a:pPr>
            <a:r>
              <a:rPr sz="1150" b="0" i="0">
                <a:solidFill>
                  <a:srgbClr val="CFDAE6"/>
                </a:solidFill>
                <a:latin typeface="Calibri"/>
              </a:rPr>
              <a:t>NIST AI RMF used as the de-facto US reference</a:t>
            </a:r>
          </a:p>
        </p:txBody>
      </p:sp>
      <p:sp>
        <p:nvSpPr>
          <p:cNvPr id="14" name="TextBox 13"/>
          <p:cNvSpPr txBox="1"/>
          <p:nvPr/>
        </p:nvSpPr>
        <p:spPr>
          <a:xfrm>
            <a:off x="7223760" y="4206240"/>
            <a:ext cx="4206240" cy="274320"/>
          </a:xfrm>
          <a:prstGeom prst="rect">
            <a:avLst/>
          </a:prstGeom>
          <a:noFill/>
        </p:spPr>
        <p:txBody>
          <a:bodyPr wrap="square" anchor="t" lIns="0" rIns="0" tIns="0" bIns="0">
            <a:spAutoFit/>
          </a:bodyPr>
          <a:lstStyle/>
          <a:p>
            <a:pPr algn="l">
              <a:lnSpc>
                <a:spcPct val="100000"/>
              </a:lnSpc>
            </a:pPr>
            <a:r>
              <a:rPr sz="1300" b="1" i="0">
                <a:solidFill>
                  <a:srgbClr val="FFFFFF"/>
                </a:solidFill>
                <a:latin typeface="Calibri"/>
              </a:rPr>
              <a:t>Ongoing</a:t>
            </a:r>
          </a:p>
        </p:txBody>
      </p:sp>
      <p:sp>
        <p:nvSpPr>
          <p:cNvPr id="15" name="TextBox 14"/>
          <p:cNvSpPr txBox="1"/>
          <p:nvPr/>
        </p:nvSpPr>
        <p:spPr>
          <a:xfrm>
            <a:off x="7223760" y="4498848"/>
            <a:ext cx="4206240" cy="502920"/>
          </a:xfrm>
          <a:prstGeom prst="rect">
            <a:avLst/>
          </a:prstGeom>
          <a:noFill/>
        </p:spPr>
        <p:txBody>
          <a:bodyPr wrap="square" anchor="t" lIns="0" rIns="0" tIns="0" bIns="0">
            <a:spAutoFit/>
          </a:bodyPr>
          <a:lstStyle/>
          <a:p>
            <a:pPr algn="l">
              <a:lnSpc>
                <a:spcPct val="110000"/>
              </a:lnSpc>
            </a:pPr>
            <a:r>
              <a:rPr sz="1150" b="0" i="0">
                <a:solidFill>
                  <a:srgbClr val="CFDAE6"/>
                </a:solidFill>
                <a:latin typeface="Calibri"/>
              </a:rPr>
              <a:t>ISO/IEC 42001 turns AI ethics into a certifiable standard</a:t>
            </a:r>
          </a:p>
        </p:txBody>
      </p:sp>
      <p:sp>
        <p:nvSpPr>
          <p:cNvPr id="16" name="TextBox 15"/>
          <p:cNvSpPr txBox="1"/>
          <p:nvPr/>
        </p:nvSpPr>
        <p:spPr>
          <a:xfrm>
            <a:off x="7223760" y="5166359"/>
            <a:ext cx="4206240" cy="274320"/>
          </a:xfrm>
          <a:prstGeom prst="rect">
            <a:avLst/>
          </a:prstGeom>
          <a:noFill/>
        </p:spPr>
        <p:txBody>
          <a:bodyPr wrap="square" anchor="t" lIns="0" rIns="0" tIns="0" bIns="0">
            <a:spAutoFit/>
          </a:bodyPr>
          <a:lstStyle/>
          <a:p>
            <a:pPr algn="l">
              <a:lnSpc>
                <a:spcPct val="100000"/>
              </a:lnSpc>
            </a:pPr>
            <a:r>
              <a:rPr sz="1300" b="1" i="0">
                <a:solidFill>
                  <a:srgbClr val="FFFFFF"/>
                </a:solidFill>
                <a:latin typeface="Calibri"/>
              </a:rPr>
              <a:t>Client asks</a:t>
            </a:r>
          </a:p>
        </p:txBody>
      </p:sp>
      <p:sp>
        <p:nvSpPr>
          <p:cNvPr id="17" name="TextBox 16"/>
          <p:cNvSpPr txBox="1"/>
          <p:nvPr/>
        </p:nvSpPr>
        <p:spPr>
          <a:xfrm>
            <a:off x="7223760" y="5458968"/>
            <a:ext cx="4206240" cy="502920"/>
          </a:xfrm>
          <a:prstGeom prst="rect">
            <a:avLst/>
          </a:prstGeom>
          <a:noFill/>
        </p:spPr>
        <p:txBody>
          <a:bodyPr wrap="square" anchor="t" lIns="0" rIns="0" tIns="0" bIns="0">
            <a:spAutoFit/>
          </a:bodyPr>
          <a:lstStyle/>
          <a:p>
            <a:pPr algn="l">
              <a:lnSpc>
                <a:spcPct val="110000"/>
              </a:lnSpc>
            </a:pPr>
            <a:r>
              <a:rPr sz="1150" b="0" i="0">
                <a:solidFill>
                  <a:srgbClr val="CFDAE6"/>
                </a:solidFill>
                <a:latin typeface="Calibri"/>
              </a:rPr>
              <a:t>“Which framework do you follow?” is now a standard question</a:t>
            </a:r>
          </a:p>
        </p:txBody>
      </p:sp>
      <p:sp>
        <p:nvSpPr>
          <p:cNvPr id="18" name="Rectangle 1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20" name="TextBox 1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Why This Matters</a:t>
            </a:r>
          </a:p>
        </p:txBody>
      </p:sp>
      <p:sp>
        <p:nvSpPr>
          <p:cNvPr id="21" name="TextBox 2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THE FOUNDATION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What “Responsible AI” Means at AFNI</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365760"/>
          </a:xfrm>
          <a:prstGeom prst="rect">
            <a:avLst/>
          </a:prstGeom>
          <a:noFill/>
        </p:spPr>
        <p:txBody>
          <a:bodyPr wrap="square" anchor="t" lIns="0" rIns="0" tIns="0" bIns="0">
            <a:spAutoFit/>
          </a:bodyPr>
          <a:lstStyle/>
          <a:p>
            <a:pPr algn="l">
              <a:lnSpc>
                <a:spcPct val="100000"/>
              </a:lnSpc>
            </a:pPr>
            <a:r>
              <a:rPr sz="1300" b="0" i="0">
                <a:solidFill>
                  <a:srgbClr val="5B6B7D"/>
                </a:solidFill>
                <a:latin typeface="Calibri"/>
              </a:rPr>
              <a:t>Different frameworks use different names, but they converge on the same seven ideas:</a:t>
            </a:r>
          </a:p>
        </p:txBody>
      </p:sp>
      <p:sp>
        <p:nvSpPr>
          <p:cNvPr id="8" name="Rounded Rectangle 7"/>
          <p:cNvSpPr/>
          <p:nvPr/>
        </p:nvSpPr>
        <p:spPr>
          <a:xfrm>
            <a:off x="502920" y="1783080"/>
            <a:ext cx="2651760" cy="1874519"/>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02920" y="1783080"/>
            <a:ext cx="2651760"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67512" y="1984248"/>
            <a:ext cx="2322576" cy="457200"/>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Privacy</a:t>
            </a:r>
          </a:p>
        </p:txBody>
      </p:sp>
      <p:sp>
        <p:nvSpPr>
          <p:cNvPr id="11" name="TextBox 10"/>
          <p:cNvSpPr txBox="1"/>
          <p:nvPr/>
        </p:nvSpPr>
        <p:spPr>
          <a:xfrm>
            <a:off x="667512" y="2560320"/>
            <a:ext cx="2322576" cy="960119"/>
          </a:xfrm>
          <a:prstGeom prst="rect">
            <a:avLst/>
          </a:prstGeom>
          <a:noFill/>
        </p:spPr>
        <p:txBody>
          <a:bodyPr wrap="square" anchor="t" lIns="0" rIns="0" tIns="0" bIns="0">
            <a:spAutoFit/>
          </a:bodyPr>
          <a:lstStyle/>
          <a:p>
            <a:pPr algn="l">
              <a:lnSpc>
                <a:spcPct val="112000"/>
              </a:lnSpc>
            </a:pPr>
            <a:r>
              <a:rPr sz="1050" b="0" i="0">
                <a:solidFill>
                  <a:srgbClr val="5B6B7D"/>
                </a:solidFill>
                <a:latin typeface="Calibri"/>
              </a:rPr>
              <a:t>Protecting personal data - names, SSNs, medical records - so it never leaks into an AI answer.</a:t>
            </a:r>
          </a:p>
        </p:txBody>
      </p:sp>
      <p:sp>
        <p:nvSpPr>
          <p:cNvPr id="12" name="Rounded Rectangle 11"/>
          <p:cNvSpPr/>
          <p:nvPr/>
        </p:nvSpPr>
        <p:spPr>
          <a:xfrm>
            <a:off x="3319272" y="1783080"/>
            <a:ext cx="2651760" cy="1874519"/>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319272" y="1783080"/>
            <a:ext cx="2651760"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83864" y="1984248"/>
            <a:ext cx="2322576" cy="457200"/>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Security</a:t>
            </a:r>
          </a:p>
        </p:txBody>
      </p:sp>
      <p:sp>
        <p:nvSpPr>
          <p:cNvPr id="15" name="TextBox 14"/>
          <p:cNvSpPr txBox="1"/>
          <p:nvPr/>
        </p:nvSpPr>
        <p:spPr>
          <a:xfrm>
            <a:off x="3483864" y="2560320"/>
            <a:ext cx="2322576" cy="960119"/>
          </a:xfrm>
          <a:prstGeom prst="rect">
            <a:avLst/>
          </a:prstGeom>
          <a:noFill/>
        </p:spPr>
        <p:txBody>
          <a:bodyPr wrap="square" anchor="t" lIns="0" rIns="0" tIns="0" bIns="0">
            <a:spAutoFit/>
          </a:bodyPr>
          <a:lstStyle/>
          <a:p>
            <a:pPr algn="l">
              <a:lnSpc>
                <a:spcPct val="112000"/>
              </a:lnSpc>
            </a:pPr>
            <a:r>
              <a:rPr sz="1050" b="0" i="0">
                <a:solidFill>
                  <a:srgbClr val="5B6B7D"/>
                </a:solidFill>
                <a:latin typeface="Calibri"/>
              </a:rPr>
              <a:t>Defending against jailbreaks, prompt injection, and other attacks that trick an AI into misbehaving.</a:t>
            </a:r>
          </a:p>
        </p:txBody>
      </p:sp>
      <p:sp>
        <p:nvSpPr>
          <p:cNvPr id="16" name="Rounded Rectangle 15"/>
          <p:cNvSpPr/>
          <p:nvPr/>
        </p:nvSpPr>
        <p:spPr>
          <a:xfrm>
            <a:off x="6135624" y="1783080"/>
            <a:ext cx="2651760" cy="1874519"/>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35624" y="1783080"/>
            <a:ext cx="2651760"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00216" y="1984248"/>
            <a:ext cx="2322576" cy="457200"/>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Fairness &amp; Bias</a:t>
            </a:r>
          </a:p>
        </p:txBody>
      </p:sp>
      <p:sp>
        <p:nvSpPr>
          <p:cNvPr id="19" name="TextBox 18"/>
          <p:cNvSpPr txBox="1"/>
          <p:nvPr/>
        </p:nvSpPr>
        <p:spPr>
          <a:xfrm>
            <a:off x="6300216" y="2560320"/>
            <a:ext cx="2322576" cy="960119"/>
          </a:xfrm>
          <a:prstGeom prst="rect">
            <a:avLst/>
          </a:prstGeom>
          <a:noFill/>
        </p:spPr>
        <p:txBody>
          <a:bodyPr wrap="square" anchor="t" lIns="0" rIns="0" tIns="0" bIns="0">
            <a:spAutoFit/>
          </a:bodyPr>
          <a:lstStyle/>
          <a:p>
            <a:pPr algn="l">
              <a:lnSpc>
                <a:spcPct val="112000"/>
              </a:lnSpc>
            </a:pPr>
            <a:r>
              <a:rPr sz="1050" b="0" i="0">
                <a:solidFill>
                  <a:srgbClr val="5B6B7D"/>
                </a:solidFill>
                <a:latin typeface="Calibri"/>
              </a:rPr>
              <a:t>Making sure AI decisions treat every group of people fairly, with no hidden discrimination.</a:t>
            </a:r>
          </a:p>
        </p:txBody>
      </p:sp>
      <p:sp>
        <p:nvSpPr>
          <p:cNvPr id="20" name="Rounded Rectangle 19"/>
          <p:cNvSpPr/>
          <p:nvPr/>
        </p:nvSpPr>
        <p:spPr>
          <a:xfrm>
            <a:off x="8951976" y="1783080"/>
            <a:ext cx="2651760" cy="1874519"/>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51976" y="1783080"/>
            <a:ext cx="2651760"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16568" y="1984248"/>
            <a:ext cx="2322576" cy="457200"/>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Explainability &amp; Transparency</a:t>
            </a:r>
          </a:p>
        </p:txBody>
      </p:sp>
      <p:sp>
        <p:nvSpPr>
          <p:cNvPr id="23" name="TextBox 22"/>
          <p:cNvSpPr txBox="1"/>
          <p:nvPr/>
        </p:nvSpPr>
        <p:spPr>
          <a:xfrm>
            <a:off x="9116568" y="2560320"/>
            <a:ext cx="2322576" cy="960119"/>
          </a:xfrm>
          <a:prstGeom prst="rect">
            <a:avLst/>
          </a:prstGeom>
          <a:noFill/>
        </p:spPr>
        <p:txBody>
          <a:bodyPr wrap="square" anchor="t" lIns="0" rIns="0" tIns="0" bIns="0">
            <a:spAutoFit/>
          </a:bodyPr>
          <a:lstStyle/>
          <a:p>
            <a:pPr algn="l">
              <a:lnSpc>
                <a:spcPct val="112000"/>
              </a:lnSpc>
            </a:pPr>
            <a:r>
              <a:rPr sz="1050" b="0" i="0">
                <a:solidFill>
                  <a:srgbClr val="5B6B7D"/>
                </a:solidFill>
                <a:latin typeface="Calibri"/>
              </a:rPr>
              <a:t>Being able to show why an AI made a decision, in plain language.</a:t>
            </a:r>
          </a:p>
        </p:txBody>
      </p:sp>
      <p:sp>
        <p:nvSpPr>
          <p:cNvPr id="24" name="Rounded Rectangle 23"/>
          <p:cNvSpPr/>
          <p:nvPr/>
        </p:nvSpPr>
        <p:spPr>
          <a:xfrm>
            <a:off x="502920" y="3840480"/>
            <a:ext cx="2651760" cy="1874519"/>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02920" y="3840480"/>
            <a:ext cx="2651760"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67512" y="4041648"/>
            <a:ext cx="2322576" cy="457200"/>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Profanity / Content Safety</a:t>
            </a:r>
          </a:p>
        </p:txBody>
      </p:sp>
      <p:sp>
        <p:nvSpPr>
          <p:cNvPr id="27" name="TextBox 26"/>
          <p:cNvSpPr txBox="1"/>
          <p:nvPr/>
        </p:nvSpPr>
        <p:spPr>
          <a:xfrm>
            <a:off x="667512" y="4617720"/>
            <a:ext cx="2322576" cy="960119"/>
          </a:xfrm>
          <a:prstGeom prst="rect">
            <a:avLst/>
          </a:prstGeom>
          <a:noFill/>
        </p:spPr>
        <p:txBody>
          <a:bodyPr wrap="square" anchor="t" lIns="0" rIns="0" tIns="0" bIns="0">
            <a:spAutoFit/>
          </a:bodyPr>
          <a:lstStyle/>
          <a:p>
            <a:pPr algn="l">
              <a:lnSpc>
                <a:spcPct val="112000"/>
              </a:lnSpc>
            </a:pPr>
            <a:r>
              <a:rPr sz="1050" b="0" i="0">
                <a:solidFill>
                  <a:srgbClr val="5B6B7D"/>
                </a:solidFill>
                <a:latin typeface="Calibri"/>
              </a:rPr>
              <a:t>Blocking toxic, hateful, or otherwise unsafe language in and out of the AI.</a:t>
            </a:r>
          </a:p>
        </p:txBody>
      </p:sp>
      <p:sp>
        <p:nvSpPr>
          <p:cNvPr id="28" name="Rounded Rectangle 27"/>
          <p:cNvSpPr/>
          <p:nvPr/>
        </p:nvSpPr>
        <p:spPr>
          <a:xfrm>
            <a:off x="3319272" y="3840480"/>
            <a:ext cx="2651760" cy="1874519"/>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3319272" y="3840480"/>
            <a:ext cx="2651760"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83864" y="4041648"/>
            <a:ext cx="2322576" cy="457200"/>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Hallucination / Reliability</a:t>
            </a:r>
          </a:p>
        </p:txBody>
      </p:sp>
      <p:sp>
        <p:nvSpPr>
          <p:cNvPr id="31" name="TextBox 30"/>
          <p:cNvSpPr txBox="1"/>
          <p:nvPr/>
        </p:nvSpPr>
        <p:spPr>
          <a:xfrm>
            <a:off x="3483864" y="4617720"/>
            <a:ext cx="2322576" cy="960119"/>
          </a:xfrm>
          <a:prstGeom prst="rect">
            <a:avLst/>
          </a:prstGeom>
          <a:noFill/>
        </p:spPr>
        <p:txBody>
          <a:bodyPr wrap="square" anchor="t" lIns="0" rIns="0" tIns="0" bIns="0">
            <a:spAutoFit/>
          </a:bodyPr>
          <a:lstStyle/>
          <a:p>
            <a:pPr algn="l">
              <a:lnSpc>
                <a:spcPct val="112000"/>
              </a:lnSpc>
            </a:pPr>
            <a:r>
              <a:rPr sz="1050" b="0" i="0">
                <a:solidFill>
                  <a:srgbClr val="5B6B7D"/>
                </a:solidFill>
                <a:latin typeface="Calibri"/>
              </a:rPr>
              <a:t>Catching made-up facts and making sure answers are grounded in real information.</a:t>
            </a:r>
          </a:p>
        </p:txBody>
      </p:sp>
      <p:sp>
        <p:nvSpPr>
          <p:cNvPr id="32" name="Rounded Rectangle 31"/>
          <p:cNvSpPr/>
          <p:nvPr/>
        </p:nvSpPr>
        <p:spPr>
          <a:xfrm>
            <a:off x="6135624" y="3840480"/>
            <a:ext cx="2651760" cy="1874519"/>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135624" y="3840480"/>
            <a:ext cx="2651760"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00216" y="4041648"/>
            <a:ext cx="2322576" cy="457200"/>
          </a:xfrm>
          <a:prstGeom prst="rect">
            <a:avLst/>
          </a:prstGeom>
          <a:noFill/>
        </p:spPr>
        <p:txBody>
          <a:bodyPr wrap="square" anchor="t" lIns="0" rIns="0" tIns="0" bIns="0">
            <a:spAutoFit/>
          </a:bodyPr>
          <a:lstStyle/>
          <a:p>
            <a:pPr algn="l">
              <a:lnSpc>
                <a:spcPct val="100000"/>
              </a:lnSpc>
            </a:pPr>
            <a:r>
              <a:rPr sz="1300" b="1" i="0">
                <a:solidFill>
                  <a:srgbClr val="10243E"/>
                </a:solidFill>
                <a:latin typeface="Calibri"/>
              </a:rPr>
              <a:t>Accountability</a:t>
            </a:r>
          </a:p>
        </p:txBody>
      </p:sp>
      <p:sp>
        <p:nvSpPr>
          <p:cNvPr id="35" name="TextBox 34"/>
          <p:cNvSpPr txBox="1"/>
          <p:nvPr/>
        </p:nvSpPr>
        <p:spPr>
          <a:xfrm>
            <a:off x="6300216" y="4617720"/>
            <a:ext cx="2322576" cy="960119"/>
          </a:xfrm>
          <a:prstGeom prst="rect">
            <a:avLst/>
          </a:prstGeom>
          <a:noFill/>
        </p:spPr>
        <p:txBody>
          <a:bodyPr wrap="square" anchor="t" lIns="0" rIns="0" tIns="0" bIns="0">
            <a:spAutoFit/>
          </a:bodyPr>
          <a:lstStyle/>
          <a:p>
            <a:pPr algn="l">
              <a:lnSpc>
                <a:spcPct val="112000"/>
              </a:lnSpc>
            </a:pPr>
            <a:r>
              <a:rPr sz="1050" b="0" i="0">
                <a:solidFill>
                  <a:srgbClr val="5B6B7D"/>
                </a:solidFill>
                <a:latin typeface="Calibri"/>
              </a:rPr>
              <a:t>Clear ownership, audit trails, and logging for every AI decision and system change.</a:t>
            </a:r>
          </a:p>
        </p:txBody>
      </p:sp>
      <p:sp>
        <p:nvSpPr>
          <p:cNvPr id="36" name="TextBox 35"/>
          <p:cNvSpPr txBox="1"/>
          <p:nvPr/>
        </p:nvSpPr>
        <p:spPr>
          <a:xfrm>
            <a:off x="502920" y="5989320"/>
            <a:ext cx="10789920" cy="457200"/>
          </a:xfrm>
          <a:prstGeom prst="rect">
            <a:avLst/>
          </a:prstGeom>
          <a:noFill/>
        </p:spPr>
        <p:txBody>
          <a:bodyPr wrap="square" anchor="t" lIns="0" rIns="0" tIns="0" bIns="0">
            <a:spAutoFit/>
          </a:bodyPr>
          <a:lstStyle/>
          <a:p>
            <a:pPr algn="l">
              <a:lnSpc>
                <a:spcPct val="100000"/>
              </a:lnSpc>
            </a:pPr>
            <a:r>
              <a:rPr sz="1150" b="0" i="1">
                <a:solidFill>
                  <a:srgbClr val="5B6B7D"/>
                </a:solidFill>
                <a:latin typeface="Calibri"/>
              </a:rPr>
              <a:t>NIST calls this “trustworthy AI”: valid, reliable, safe, secure, accountable, transparent, explainable, private, and fair.</a:t>
            </a:r>
          </a:p>
        </p:txBody>
      </p:sp>
      <p:sp>
        <p:nvSpPr>
          <p:cNvPr id="37" name="Rectangle 36"/>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9" name="TextBox 38"/>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The 7 Tenets</a:t>
            </a:r>
          </a:p>
        </p:txBody>
      </p:sp>
      <p:sp>
        <p:nvSpPr>
          <p:cNvPr id="40" name="TextBox 39"/>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FRAMEWORK DESIGN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Two Layers: Build the Guardrail, Test the Guardrail</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502920"/>
          </a:xfrm>
          <a:prstGeom prst="rect">
            <a:avLst/>
          </a:prstGeom>
          <a:noFill/>
        </p:spPr>
        <p:txBody>
          <a:bodyPr wrap="square" anchor="t" lIns="0" rIns="0" tIns="0" bIns="0">
            <a:spAutoFit/>
          </a:bodyPr>
          <a:lstStyle/>
          <a:p>
            <a:pPr algn="l">
              <a:lnSpc>
                <a:spcPct val="115000"/>
              </a:lnSpc>
            </a:pPr>
            <a:r>
              <a:rPr sz="1300" b="0" i="0">
                <a:solidFill>
                  <a:srgbClr val="5B6B7D"/>
                </a:solidFill>
                <a:latin typeface="Calibri"/>
              </a:rPr>
              <a:t>A responsible AI toolkit needs both halves working together - tools that enforce safety live, and tools that attack/grade it before and after launch.</a:t>
            </a:r>
          </a:p>
        </p:txBody>
      </p:sp>
      <p:sp>
        <p:nvSpPr>
          <p:cNvPr id="8" name="Rounded Rectangle 7"/>
          <p:cNvSpPr/>
          <p:nvPr/>
        </p:nvSpPr>
        <p:spPr>
          <a:xfrm>
            <a:off x="548640" y="1965960"/>
            <a:ext cx="5394960" cy="502920"/>
          </a:xfrm>
          <a:prstGeom prst="roundRect">
            <a:avLst>
              <a:gd name="adj" fmla="val 15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1965960"/>
            <a:ext cx="5394960" cy="502920"/>
          </a:xfrm>
          <a:prstGeom prst="rect">
            <a:avLst/>
          </a:prstGeom>
          <a:noFill/>
        </p:spPr>
        <p:txBody>
          <a:bodyPr wrap="square" anchor="ctr" lIns="0" rIns="0" tIns="0" bIns="0">
            <a:spAutoFit/>
          </a:bodyPr>
          <a:lstStyle/>
          <a:p>
            <a:pPr algn="ctr">
              <a:lnSpc>
                <a:spcPct val="100000"/>
              </a:lnSpc>
            </a:pPr>
            <a:r>
              <a:rPr sz="1300" b="1" i="0">
                <a:solidFill>
                  <a:srgbClr val="FFFFFF"/>
                </a:solidFill>
                <a:latin typeface="Calibri"/>
              </a:rPr>
              <a:t>GUARDRAIL DEVELOPMENT  (build the defense)</a:t>
            </a:r>
          </a:p>
        </p:txBody>
      </p:sp>
      <p:sp>
        <p:nvSpPr>
          <p:cNvPr id="10" name="TextBox 9"/>
          <p:cNvSpPr txBox="1"/>
          <p:nvPr/>
        </p:nvSpPr>
        <p:spPr>
          <a:xfrm>
            <a:off x="548640" y="2651760"/>
            <a:ext cx="5394960" cy="3291840"/>
          </a:xfrm>
          <a:prstGeom prst="rect">
            <a:avLst/>
          </a:prstGeom>
          <a:noFill/>
        </p:spPr>
        <p:txBody>
          <a:bodyPr wrap="square" lIns="0" rIns="0" tIns="0" bIns="0">
            <a:spAutoFit/>
          </a:bodyPr>
          <a:lstStyle/>
          <a:p>
            <a:pPr>
              <a:lnSpc>
                <a:spcPct val="105000"/>
              </a:lnSpc>
              <a:spcAft>
                <a:spcPts val="1000"/>
              </a:spcAft>
            </a:pPr>
            <a:r>
              <a:rPr sz="1250" b="1">
                <a:solidFill>
                  <a:srgbClr val="1B9AAA"/>
                </a:solidFill>
                <a:latin typeface="Calibri"/>
              </a:rPr>
              <a:t>▪  </a:t>
            </a:r>
            <a:r>
              <a:rPr sz="1250">
                <a:solidFill>
                  <a:srgbClr val="1A1A2E"/>
                </a:solidFill>
                <a:latin typeface="Calibri"/>
              </a:rPr>
              <a:t>Runs live, in front of and behind every AI call</a:t>
            </a:r>
          </a:p>
          <a:p>
            <a:pPr>
              <a:lnSpc>
                <a:spcPct val="105000"/>
              </a:lnSpc>
              <a:spcAft>
                <a:spcPts val="1000"/>
              </a:spcAft>
            </a:pPr>
            <a:r>
              <a:rPr sz="1250" b="1">
                <a:solidFill>
                  <a:srgbClr val="1B9AAA"/>
                </a:solidFill>
                <a:latin typeface="Calibri"/>
              </a:rPr>
              <a:t>▪  </a:t>
            </a:r>
            <a:r>
              <a:rPr sz="1250">
                <a:solidFill>
                  <a:srgbClr val="1A1A2E"/>
                </a:solidFill>
                <a:latin typeface="Calibri"/>
              </a:rPr>
              <a:t>Examples: PII redaction, jailbreak filters, content-safety checks</a:t>
            </a:r>
          </a:p>
          <a:p>
            <a:pPr>
              <a:lnSpc>
                <a:spcPct val="105000"/>
              </a:lnSpc>
              <a:spcAft>
                <a:spcPts val="1000"/>
              </a:spcAft>
            </a:pPr>
            <a:r>
              <a:rPr sz="1250" b="1">
                <a:solidFill>
                  <a:srgbClr val="1B9AAA"/>
                </a:solidFill>
                <a:latin typeface="Calibri"/>
              </a:rPr>
              <a:t>▪  </a:t>
            </a:r>
            <a:r>
              <a:rPr sz="1250">
                <a:solidFill>
                  <a:srgbClr val="1A1A2E"/>
                </a:solidFill>
                <a:latin typeface="Calibri"/>
              </a:rPr>
              <a:t>Tools: NeMo Guardrails, Guardrails AI, LLM Guard, Infosys Toolkit, Presidio-style checks, SHAP, Fairlearn/AIF360</a:t>
            </a:r>
          </a:p>
        </p:txBody>
      </p:sp>
      <p:sp>
        <p:nvSpPr>
          <p:cNvPr id="11" name="Rounded Rectangle 10"/>
          <p:cNvSpPr/>
          <p:nvPr/>
        </p:nvSpPr>
        <p:spPr>
          <a:xfrm>
            <a:off x="6172200" y="1965960"/>
            <a:ext cx="5394960" cy="502920"/>
          </a:xfrm>
          <a:prstGeom prst="roundRect">
            <a:avLst>
              <a:gd name="adj" fmla="val 15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172200" y="1965960"/>
            <a:ext cx="5394960" cy="502920"/>
          </a:xfrm>
          <a:prstGeom prst="rect">
            <a:avLst/>
          </a:prstGeom>
          <a:noFill/>
        </p:spPr>
        <p:txBody>
          <a:bodyPr wrap="square" anchor="ctr" lIns="0" rIns="0" tIns="0" bIns="0">
            <a:spAutoFit/>
          </a:bodyPr>
          <a:lstStyle/>
          <a:p>
            <a:pPr algn="ctr">
              <a:lnSpc>
                <a:spcPct val="100000"/>
              </a:lnSpc>
            </a:pPr>
            <a:r>
              <a:rPr sz="1300" b="1" i="0">
                <a:solidFill>
                  <a:srgbClr val="FFFFFF"/>
                </a:solidFill>
                <a:latin typeface="Calibri"/>
              </a:rPr>
              <a:t>VULNERABILITY / RED-TEAM TESTING  (attack the defense)</a:t>
            </a:r>
          </a:p>
        </p:txBody>
      </p:sp>
      <p:sp>
        <p:nvSpPr>
          <p:cNvPr id="13" name="TextBox 12"/>
          <p:cNvSpPr txBox="1"/>
          <p:nvPr/>
        </p:nvSpPr>
        <p:spPr>
          <a:xfrm>
            <a:off x="6172200" y="2651760"/>
            <a:ext cx="5394960" cy="3291840"/>
          </a:xfrm>
          <a:prstGeom prst="rect">
            <a:avLst/>
          </a:prstGeom>
          <a:noFill/>
        </p:spPr>
        <p:txBody>
          <a:bodyPr wrap="square" lIns="0" rIns="0" tIns="0" bIns="0">
            <a:spAutoFit/>
          </a:bodyPr>
          <a:lstStyle/>
          <a:p>
            <a:pPr>
              <a:lnSpc>
                <a:spcPct val="105000"/>
              </a:lnSpc>
              <a:spcAft>
                <a:spcPts val="1000"/>
              </a:spcAft>
            </a:pPr>
            <a:r>
              <a:rPr sz="1250" b="1">
                <a:solidFill>
                  <a:srgbClr val="C0392B"/>
                </a:solidFill>
                <a:latin typeface="Calibri"/>
              </a:rPr>
              <a:t>▪  </a:t>
            </a:r>
            <a:r>
              <a:rPr sz="1250">
                <a:solidFill>
                  <a:srgbClr val="1A1A2E"/>
                </a:solidFill>
                <a:latin typeface="Calibri"/>
              </a:rPr>
              <a:t>Runs offline, before release and on a schedule, in CI/CD</a:t>
            </a:r>
          </a:p>
          <a:p>
            <a:pPr>
              <a:lnSpc>
                <a:spcPct val="105000"/>
              </a:lnSpc>
              <a:spcAft>
                <a:spcPts val="1000"/>
              </a:spcAft>
            </a:pPr>
            <a:r>
              <a:rPr sz="1250" b="1">
                <a:solidFill>
                  <a:srgbClr val="C0392B"/>
                </a:solidFill>
                <a:latin typeface="Calibri"/>
              </a:rPr>
              <a:t>▪  </a:t>
            </a:r>
            <a:r>
              <a:rPr sz="1250">
                <a:solidFill>
                  <a:srgbClr val="1A1A2E"/>
                </a:solidFill>
                <a:latin typeface="Calibri"/>
              </a:rPr>
              <a:t>Examples: jailbreak fuzzing, red-team attacks, benchmark scoring</a:t>
            </a:r>
          </a:p>
          <a:p>
            <a:pPr>
              <a:lnSpc>
                <a:spcPct val="105000"/>
              </a:lnSpc>
              <a:spcAft>
                <a:spcPts val="1000"/>
              </a:spcAft>
            </a:pPr>
            <a:r>
              <a:rPr sz="1250" b="1">
                <a:solidFill>
                  <a:srgbClr val="C0392B"/>
                </a:solidFill>
                <a:latin typeface="Calibri"/>
              </a:rPr>
              <a:t>▪  </a:t>
            </a:r>
            <a:r>
              <a:rPr sz="1250">
                <a:solidFill>
                  <a:srgbClr val="1A1A2E"/>
                </a:solidFill>
                <a:latin typeface="Calibri"/>
              </a:rPr>
              <a:t>Tools: PyRIT, garak, FuzzyAI, LLMFuzzer, JCB, DeepTeam, promptfoo, giskard, deepeval, evals</a:t>
            </a:r>
          </a:p>
        </p:txBody>
      </p:sp>
      <p:sp>
        <p:nvSpPr>
          <p:cNvPr id="14" name="Rectangle 13"/>
          <p:cNvSpPr/>
          <p:nvPr/>
        </p:nvSpPr>
        <p:spPr>
          <a:xfrm>
            <a:off x="548640" y="5532120"/>
            <a:ext cx="11064240" cy="18288"/>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8640" y="5669280"/>
            <a:ext cx="11064240" cy="777240"/>
          </a:xfrm>
          <a:prstGeom prst="rect">
            <a:avLst/>
          </a:prstGeom>
          <a:noFill/>
        </p:spPr>
        <p:txBody>
          <a:bodyPr wrap="square" anchor="t" lIns="0" rIns="0" tIns="0" bIns="0">
            <a:spAutoFit/>
          </a:bodyPr>
          <a:lstStyle/>
          <a:p>
            <a:pPr algn="l">
              <a:lnSpc>
                <a:spcPct val="120000"/>
              </a:lnSpc>
            </a:pPr>
            <a:r>
              <a:rPr sz="1250" b="0" i="0">
                <a:solidFill>
                  <a:srgbClr val="1A1A2E"/>
                </a:solidFill>
                <a:latin typeface="Calibri"/>
              </a:rPr>
              <a:t>How they connect: red-team and evaluation findings become the pass/fail gate in CI/CD. A guardrail change only ships once it survives the attack suite - so testing tools continuously sharpen the development-layer tools, not the other way around.</a:t>
            </a:r>
          </a:p>
        </p:txBody>
      </p:sp>
      <p:sp>
        <p:nvSpPr>
          <p:cNvPr id="16" name="Rectangle 15"/>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8" name="TextBox 17"/>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Framework Architecture</a:t>
            </a:r>
          </a:p>
        </p:txBody>
      </p:sp>
      <p:sp>
        <p:nvSpPr>
          <p:cNvPr id="19" name="TextBox 18"/>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880360"/>
            <a:ext cx="5486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058400" cy="365760"/>
          </a:xfrm>
          <a:prstGeom prst="rect">
            <a:avLst/>
          </a:prstGeom>
          <a:noFill/>
        </p:spPr>
        <p:txBody>
          <a:bodyPr wrap="square" anchor="t" lIns="0" rIns="0" tIns="0" bIns="0">
            <a:spAutoFit/>
          </a:bodyPr>
          <a:lstStyle/>
          <a:p>
            <a:pPr algn="l">
              <a:lnSpc>
                <a:spcPct val="100000"/>
              </a:lnSpc>
            </a:pPr>
            <a:r>
              <a:rPr sz="1400" b="1" i="0">
                <a:solidFill>
                  <a:srgbClr val="1B9AAA"/>
                </a:solidFill>
                <a:latin typeface="Calibri"/>
              </a:rPr>
              <a:t>SECTION</a:t>
            </a:r>
          </a:p>
        </p:txBody>
      </p:sp>
      <p:sp>
        <p:nvSpPr>
          <p:cNvPr id="6" name="TextBox 5"/>
          <p:cNvSpPr txBox="1"/>
          <p:nvPr/>
        </p:nvSpPr>
        <p:spPr>
          <a:xfrm>
            <a:off x="777240" y="3017520"/>
            <a:ext cx="10607040" cy="1005840"/>
          </a:xfrm>
          <a:prstGeom prst="rect">
            <a:avLst/>
          </a:prstGeom>
          <a:noFill/>
        </p:spPr>
        <p:txBody>
          <a:bodyPr wrap="square" anchor="t" lIns="0" rIns="0" tIns="0" bIns="0">
            <a:spAutoFit/>
          </a:bodyPr>
          <a:lstStyle/>
          <a:p>
            <a:pPr algn="l">
              <a:lnSpc>
                <a:spcPct val="100000"/>
              </a:lnSpc>
            </a:pPr>
            <a:r>
              <a:rPr sz="3400" b="1" i="0">
                <a:solidFill>
                  <a:srgbClr val="FFFFFF"/>
                </a:solidFill>
                <a:latin typeface="Calibri"/>
              </a:rPr>
              <a:t>23 Repository Deep-Dives</a:t>
            </a:r>
          </a:p>
        </p:txBody>
      </p:sp>
      <p:sp>
        <p:nvSpPr>
          <p:cNvPr id="7" name="TextBox 6"/>
          <p:cNvSpPr txBox="1"/>
          <p:nvPr/>
        </p:nvSpPr>
        <p:spPr>
          <a:xfrm>
            <a:off x="822960" y="3977639"/>
            <a:ext cx="9875520" cy="731520"/>
          </a:xfrm>
          <a:prstGeom prst="rect">
            <a:avLst/>
          </a:prstGeom>
          <a:noFill/>
        </p:spPr>
        <p:txBody>
          <a:bodyPr wrap="square" anchor="t" lIns="0" rIns="0" tIns="0" bIns="0">
            <a:spAutoFit/>
          </a:bodyPr>
          <a:lstStyle/>
          <a:p>
            <a:pPr algn="l">
              <a:lnSpc>
                <a:spcPct val="125000"/>
              </a:lnSpc>
            </a:pPr>
            <a:r>
              <a:rPr sz="1400" b="0" i="0">
                <a:solidFill>
                  <a:srgbClr val="CFDAE6"/>
                </a:solidFill>
                <a:latin typeface="Calibri"/>
              </a:rPr>
              <a:t>One slide per tool: what it does, its real features and limits, cost, effort to integrate, and where it fits into AFNI's toolkit.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Agentic Security</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web tool that attacks your own chatbot with thousands of known jailbreak prompts (including hidden-in-image and hidden-in-audio tricks) and reports which ones got through. It grades each response using simple word-lists, a small trained model, and optionally another AI model as a judge.</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About 25 ready-made jailbreak and prompt-injection prompt collections, plus your own CSV or Google Sheet</a:t>
            </a:r>
          </a:p>
          <a:p>
            <a:pPr>
              <a:lnSpc>
                <a:spcPct val="100000"/>
              </a:lnSpc>
              <a:spcAft>
                <a:spcPts val="500"/>
              </a:spcAft>
            </a:pPr>
            <a:r>
              <a:rPr sz="1019" b="1">
                <a:solidFill>
                  <a:srgbClr val="1B9AAA"/>
                </a:solidFill>
                <a:latin typeface="Calibri"/>
              </a:rPr>
              <a:t>▪  </a:t>
            </a:r>
            <a:r>
              <a:rPr sz="1019">
                <a:solidFill>
                  <a:srgbClr val="1A1A2E"/>
                </a:solidFill>
                <a:latin typeface="Calibri"/>
              </a:rPr>
              <a:t>Can turn attacks into images or spoken audio to test picture- and voice-enabled bots</a:t>
            </a:r>
          </a:p>
          <a:p>
            <a:pPr>
              <a:lnSpc>
                <a:spcPct val="100000"/>
              </a:lnSpc>
              <a:spcAft>
                <a:spcPts val="500"/>
              </a:spcAft>
            </a:pPr>
            <a:r>
              <a:rPr sz="1019" b="1">
                <a:solidFill>
                  <a:srgbClr val="1B9AAA"/>
                </a:solidFill>
                <a:latin typeface="Calibri"/>
              </a:rPr>
              <a:t>▪  </a:t>
            </a:r>
            <a:r>
              <a:rPr sz="1019">
                <a:solidFill>
                  <a:srgbClr val="1A1A2E"/>
                </a:solidFill>
                <a:latin typeface="Calibri"/>
              </a:rPr>
              <a:t>Scrambles or encodes attacks (like Base64 or Caesar cipher) to see if disguising them still works</a:t>
            </a:r>
          </a:p>
          <a:p>
            <a:pPr>
              <a:lnSpc>
                <a:spcPct val="100000"/>
              </a:lnSpc>
              <a:spcAft>
                <a:spcPts val="500"/>
              </a:spcAft>
            </a:pPr>
            <a:r>
              <a:rPr sz="1019" b="1">
                <a:solidFill>
                  <a:srgbClr val="1B9AAA"/>
                </a:solidFill>
                <a:latin typeface="Calibri"/>
              </a:rPr>
              <a:t>▪  </a:t>
            </a:r>
            <a:r>
              <a:rPr sz="1019">
                <a:solidFill>
                  <a:srgbClr val="1A1A2E"/>
                </a:solidFill>
                <a:latin typeface="Calibri"/>
              </a:rPr>
              <a:t>Several ways to judge a response: keyword list, a small trained model, or an AI judge</a:t>
            </a:r>
          </a:p>
          <a:p>
            <a:pPr>
              <a:lnSpc>
                <a:spcPct val="100000"/>
              </a:lnSpc>
              <a:spcAft>
                <a:spcPts val="500"/>
              </a:spcAft>
            </a:pPr>
            <a:r>
              <a:rPr sz="1019" b="1">
                <a:solidFill>
                  <a:srgbClr val="1B9AAA"/>
                </a:solidFill>
                <a:latin typeface="Calibri"/>
              </a:rPr>
              <a:t>▪  </a:t>
            </a:r>
            <a:r>
              <a:rPr sz="1019">
                <a:solidFill>
                  <a:srgbClr val="1A1A2E"/>
                </a:solidFill>
                <a:latin typeface="Calibri"/>
              </a:rPr>
              <a:t>Stops testing early once it finds a bot is clearly failing, to save time and cost</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Its own detectors are simple word/pattern checks with no published accuracy numbers</a:t>
            </a:r>
          </a:p>
          <a:p>
            <a:pPr>
              <a:lnSpc>
                <a:spcPct val="100000"/>
              </a:lnSpc>
              <a:spcAft>
                <a:spcPts val="400"/>
              </a:spcAft>
            </a:pPr>
            <a:r>
              <a:rPr sz="980" b="1">
                <a:solidFill>
                  <a:srgbClr val="E88C00"/>
                </a:solidFill>
                <a:latin typeface="Calibri"/>
              </a:rPr>
              <a:t>▪  </a:t>
            </a:r>
            <a:r>
              <a:rPr sz="980">
                <a:solidFill>
                  <a:srgbClr val="1A1A2E"/>
                </a:solidFill>
                <a:latin typeface="Calibri"/>
              </a:rPr>
              <a:t>One optional add-on quietly connects to an outside company's server using a built-in password</a:t>
            </a:r>
          </a:p>
          <a:p>
            <a:pPr>
              <a:lnSpc>
                <a:spcPct val="100000"/>
              </a:lnSpc>
              <a:spcAft>
                <a:spcPts val="400"/>
              </a:spcAft>
            </a:pPr>
            <a:r>
              <a:rPr sz="980" b="1">
                <a:solidFill>
                  <a:srgbClr val="E88C00"/>
                </a:solidFill>
                <a:latin typeface="Calibri"/>
              </a:rPr>
              <a:t>▪  </a:t>
            </a:r>
            <a:r>
              <a:rPr sz="980">
                <a:solidFill>
                  <a:srgbClr val="1A1A2E"/>
                </a:solidFill>
                <a:latin typeface="Calibri"/>
              </a:rPr>
              <a:t>Needs a decent Python setup; the AI-judge and cloud add-ons cost money</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6" name="Rounded Rectangle 15"/>
          <p:cNvSpPr/>
          <p:nvPr/>
        </p:nvSpPr>
        <p:spPr>
          <a:xfrm>
            <a:off x="9262872"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2872"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8" name="Rounded Rectangle 17"/>
          <p:cNvSpPr/>
          <p:nvPr/>
        </p:nvSpPr>
        <p:spPr>
          <a:xfrm>
            <a:off x="7315200" y="1773936"/>
            <a:ext cx="4343400" cy="292608"/>
          </a:xfrm>
          <a:prstGeom prst="roundRect">
            <a:avLst>
              <a:gd name="adj" fmla="val 22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 + TESTING</a:t>
            </a:r>
          </a:p>
        </p:txBody>
      </p:sp>
      <p:sp>
        <p:nvSpPr>
          <p:cNvPr id="20" name="Rounded Rectangle 19"/>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2" name="TextBox 21"/>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 Library / Model</a:t>
            </a:r>
          </a:p>
        </p:txBody>
      </p:sp>
      <p:sp>
        <p:nvSpPr>
          <p:cNvPr id="23" name="TextBox 22"/>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4" name="TextBox 23"/>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5" name="TextBox 24"/>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6" name="TextBox 25"/>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7" name="TextBox 26"/>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8" name="TextBox 27"/>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Independent (Alexander Miasoiedov)</a:t>
            </a:r>
          </a:p>
        </p:txBody>
      </p:sp>
      <p:sp>
        <p:nvSpPr>
          <p:cNvPr id="29" name="TextBox 28"/>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0" name="TextBox 29"/>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1" name="TextBox 30"/>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2" name="TextBox 31"/>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3" name="Rounded Rectangle 32"/>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5" name="TextBox 34"/>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Use as an attack simulator to test AFNI's guardrails before launch, not as the guardrail itself.</a:t>
            </a:r>
          </a:p>
        </p:txBody>
      </p:sp>
      <p:sp>
        <p:nvSpPr>
          <p:cNvPr id="36" name="TextBox 35"/>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7" name="TextBox 36"/>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the attack/scoring pipeline is easy to script, but the hidden cloud-calling module (hard-coded token) must be stripped out first</a:t>
            </a:r>
          </a:p>
        </p:txBody>
      </p:sp>
      <p:sp>
        <p:nvSpPr>
          <p:cNvPr id="38" name="Rectangle 3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0" name="TextBox 3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Agentic Security</a:t>
            </a:r>
          </a:p>
        </p:txBody>
      </p:sp>
      <p:sp>
        <p:nvSpPr>
          <p:cNvPr id="41" name="TextBox 4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6A4C93"/>
                </a:solidFill>
                <a:latin typeface="Calibri"/>
              </a:rPr>
              <a:t>REPOSITORY 2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AI Fairness 360 (AIF360)</a:t>
            </a:r>
          </a:p>
        </p:txBody>
      </p:sp>
      <p:sp>
        <p:nvSpPr>
          <p:cNvPr id="6" name="Rectangle 5"/>
          <p:cNvSpPr/>
          <p:nvPr/>
        </p:nvSpPr>
        <p:spPr>
          <a:xfrm>
            <a:off x="502920" y="1207008"/>
            <a:ext cx="2011680" cy="32004"/>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IBM's toolkit for checking whether a traditional prediction model (like a credit or hiring model) treats different groups of people fairly, and for fixing it if it doesn't. It measures over 50 fairness numbers and includes about 15 different fixes.</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50+ fairness metrics (e.g., are approval rates equal across groups?)</a:t>
            </a:r>
          </a:p>
          <a:p>
            <a:pPr>
              <a:lnSpc>
                <a:spcPct val="100000"/>
              </a:lnSpc>
              <a:spcAft>
                <a:spcPts val="500"/>
              </a:spcAft>
            </a:pPr>
            <a:r>
              <a:rPr sz="1019" b="1">
                <a:solidFill>
                  <a:srgbClr val="1B9AAA"/>
                </a:solidFill>
                <a:latin typeface="Calibri"/>
              </a:rPr>
              <a:t>▪  </a:t>
            </a:r>
            <a:r>
              <a:rPr sz="1019">
                <a:solidFill>
                  <a:srgbClr val="1A1A2E"/>
                </a:solidFill>
                <a:latin typeface="Calibri"/>
              </a:rPr>
              <a:t>Smart search tools that find the exact group of people being treated worst, without you guessing which group to check</a:t>
            </a:r>
          </a:p>
          <a:p>
            <a:pPr>
              <a:lnSpc>
                <a:spcPct val="100000"/>
              </a:lnSpc>
              <a:spcAft>
                <a:spcPts val="500"/>
              </a:spcAft>
            </a:pPr>
            <a:r>
              <a:rPr sz="1019" b="1">
                <a:solidFill>
                  <a:srgbClr val="1B9AAA"/>
                </a:solidFill>
                <a:latin typeface="Calibri"/>
              </a:rPr>
              <a:t>▪  </a:t>
            </a:r>
            <a:r>
              <a:rPr sz="1019">
                <a:solidFill>
                  <a:srgbClr val="1A1A2E"/>
                </a:solidFill>
                <a:latin typeface="Calibri"/>
              </a:rPr>
              <a:t>15 fixes you can apply before, during, or after training a model</a:t>
            </a:r>
          </a:p>
          <a:p>
            <a:pPr>
              <a:lnSpc>
                <a:spcPct val="100000"/>
              </a:lnSpc>
              <a:spcAft>
                <a:spcPts val="500"/>
              </a:spcAft>
            </a:pPr>
            <a:r>
              <a:rPr sz="1019" b="1">
                <a:solidFill>
                  <a:srgbClr val="1B9AAA"/>
                </a:solidFill>
                <a:latin typeface="Calibri"/>
              </a:rPr>
              <a:t>▪  </a:t>
            </a:r>
            <a:r>
              <a:rPr sz="1019">
                <a:solidFill>
                  <a:srgbClr val="1A1A2E"/>
                </a:solidFill>
                <a:latin typeface="Calibri"/>
              </a:rPr>
              <a:t>Plain-English explanations of what each fairness number means</a:t>
            </a:r>
          </a:p>
          <a:p>
            <a:pPr>
              <a:lnSpc>
                <a:spcPct val="100000"/>
              </a:lnSpc>
              <a:spcAft>
                <a:spcPts val="500"/>
              </a:spcAft>
            </a:pPr>
            <a:r>
              <a:rPr sz="1019" b="1">
                <a:solidFill>
                  <a:srgbClr val="1B9AAA"/>
                </a:solidFill>
                <a:latin typeface="Calibri"/>
              </a:rPr>
              <a:t>▪  </a:t>
            </a:r>
            <a:r>
              <a:rPr sz="1019">
                <a:solidFill>
                  <a:srgbClr val="1A1A2E"/>
                </a:solidFill>
                <a:latin typeface="Calibri"/>
              </a:rPr>
              <a:t>Works with standard data-science tools (scikit-learn)</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Only works on structured data (spreadsheets), not on chatbot text</a:t>
            </a:r>
          </a:p>
          <a:p>
            <a:pPr>
              <a:lnSpc>
                <a:spcPct val="100000"/>
              </a:lnSpc>
              <a:spcAft>
                <a:spcPts val="400"/>
              </a:spcAft>
            </a:pPr>
            <a:r>
              <a:rPr sz="980" b="1">
                <a:solidFill>
                  <a:srgbClr val="E88C00"/>
                </a:solidFill>
                <a:latin typeface="Calibri"/>
              </a:rPr>
              <a:t>▪  </a:t>
            </a:r>
            <a:r>
              <a:rPr sz="980">
                <a:solidFill>
                  <a:srgbClr val="1A1A2E"/>
                </a:solidFill>
                <a:latin typeface="Calibri"/>
              </a:rPr>
              <a:t>Some fixes need extra, sometimes older, software installed (TensorFlow 1.x, R, etc.)</a:t>
            </a:r>
          </a:p>
          <a:p>
            <a:pPr>
              <a:lnSpc>
                <a:spcPct val="100000"/>
              </a:lnSpc>
              <a:spcAft>
                <a:spcPts val="400"/>
              </a:spcAft>
            </a:pPr>
            <a:r>
              <a:rPr sz="980" b="1">
                <a:solidFill>
                  <a:srgbClr val="E88C00"/>
                </a:solidFill>
                <a:latin typeface="Calibri"/>
              </a:rPr>
              <a:t>▪  </a:t>
            </a:r>
            <a:r>
              <a:rPr sz="980">
                <a:solidFill>
                  <a:srgbClr val="1A1A2E"/>
                </a:solidFill>
                <a:latin typeface="Calibri"/>
              </a:rPr>
              <a:t>You must decide which groups and outcomes count as 'fair' - the tool won't decide that for you</a:t>
            </a:r>
          </a:p>
        </p:txBody>
      </p:sp>
      <p:sp>
        <p:nvSpPr>
          <p:cNvPr id="12" name="Rounded Rectangle 11"/>
          <p:cNvSpPr/>
          <p:nvPr/>
        </p:nvSpPr>
        <p:spPr>
          <a:xfrm>
            <a:off x="7315200"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14" name="Rounded Rectangle 13"/>
          <p:cNvSpPr/>
          <p:nvPr/>
        </p:nvSpPr>
        <p:spPr>
          <a:xfrm>
            <a:off x="8324697" y="1371600"/>
            <a:ext cx="1327708"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Explainability</a:t>
            </a:r>
          </a:p>
        </p:txBody>
      </p:sp>
      <p:sp>
        <p:nvSpPr>
          <p:cNvPr id="16" name="Rounded Rectangle 15"/>
          <p:cNvSpPr/>
          <p:nvPr/>
        </p:nvSpPr>
        <p:spPr>
          <a:xfrm>
            <a:off x="9762134" y="1371600"/>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62134"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18" name="Rounded Rectangle 17"/>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0" name="Rounded Rectangle 19"/>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2" name="TextBox 21"/>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Library-based</a:t>
            </a:r>
          </a:p>
        </p:txBody>
      </p:sp>
      <p:sp>
        <p:nvSpPr>
          <p:cNvPr id="23" name="TextBox 22"/>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4" name="TextBox 23"/>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5" name="TextBox 24"/>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6" name="TextBox 25"/>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Free / open-source</a:t>
            </a:r>
          </a:p>
        </p:txBody>
      </p:sp>
      <p:sp>
        <p:nvSpPr>
          <p:cNvPr id="27" name="TextBox 26"/>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8" name="TextBox 27"/>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IBM</a:t>
            </a:r>
          </a:p>
        </p:txBody>
      </p:sp>
      <p:sp>
        <p:nvSpPr>
          <p:cNvPr id="29" name="TextBox 28"/>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0" name="TextBox 29"/>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1" name="TextBox 30"/>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2" name="TextBox 31"/>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3" name="Rounded Rectangle 32"/>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5" name="TextBox 34"/>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The go-to option for fairness checks on any traditional scoring model AFNI builds, not for chatbot output.</a:t>
            </a:r>
          </a:p>
        </p:txBody>
      </p:sp>
      <p:sp>
        <p:nvSpPr>
          <p:cNvPr id="36" name="TextBox 35"/>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7" name="TextBox 36"/>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N/A, consume as-is - mature, peer-reviewed algorithms; re-implementing them would waste effort better spent integrating</a:t>
            </a:r>
          </a:p>
        </p:txBody>
      </p:sp>
      <p:sp>
        <p:nvSpPr>
          <p:cNvPr id="38" name="Rectangle 3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0" name="TextBox 3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AI Fairness 360 (AIF360)</a:t>
            </a:r>
          </a:p>
        </p:txBody>
      </p:sp>
      <p:sp>
        <p:nvSpPr>
          <p:cNvPr id="41" name="TextBox 4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18A7E"/>
                </a:solidFill>
                <a:latin typeface="Calibri"/>
              </a:rPr>
              <a:t>REPOSITORY 3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Deepchecks</a:t>
            </a:r>
          </a:p>
        </p:txBody>
      </p:sp>
      <p:sp>
        <p:nvSpPr>
          <p:cNvPr id="6" name="Rectangle 5"/>
          <p:cNvSpPr/>
          <p:nvPr/>
        </p:nvSpPr>
        <p:spPr>
          <a:xfrm>
            <a:off x="502920" y="1207008"/>
            <a:ext cx="2011680" cy="32004"/>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testing toolkit that runs dozens of automatic quality checks on your data and models - for tables, text, and images - to catch problems like bad data, model drift, or weak performance on certain groups before they cause trouble.</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Ready-made check bundles ('suites') for text, tables, and images</a:t>
            </a:r>
          </a:p>
          <a:p>
            <a:pPr>
              <a:lnSpc>
                <a:spcPct val="100000"/>
              </a:lnSpc>
              <a:spcAft>
                <a:spcPts val="500"/>
              </a:spcAft>
            </a:pPr>
            <a:r>
              <a:rPr sz="1019" b="1">
                <a:solidFill>
                  <a:srgbClr val="1B9AAA"/>
                </a:solidFill>
                <a:latin typeface="Calibri"/>
              </a:rPr>
              <a:t>▪  </a:t>
            </a:r>
            <a:r>
              <a:rPr sz="1019">
                <a:solidFill>
                  <a:srgbClr val="1A1A2E"/>
                </a:solidFill>
                <a:latin typeface="Calibri"/>
              </a:rPr>
              <a:t>Flags toxic, low-quality, or gibberish text using built-in AI models</a:t>
            </a:r>
          </a:p>
          <a:p>
            <a:pPr>
              <a:lnSpc>
                <a:spcPct val="100000"/>
              </a:lnSpc>
              <a:spcAft>
                <a:spcPts val="500"/>
              </a:spcAft>
            </a:pPr>
            <a:r>
              <a:rPr sz="1019" b="1">
                <a:solidFill>
                  <a:srgbClr val="1B9AAA"/>
                </a:solidFill>
                <a:latin typeface="Calibri"/>
              </a:rPr>
              <a:t>▪  </a:t>
            </a:r>
            <a:r>
              <a:rPr sz="1019">
                <a:solidFill>
                  <a:srgbClr val="1A1A2E"/>
                </a:solidFill>
                <a:latin typeface="Calibri"/>
              </a:rPr>
              <a:t>Finds groups of records where the model performs worse than average</a:t>
            </a:r>
          </a:p>
          <a:p>
            <a:pPr>
              <a:lnSpc>
                <a:spcPct val="100000"/>
              </a:lnSpc>
              <a:spcAft>
                <a:spcPts val="500"/>
              </a:spcAft>
            </a:pPr>
            <a:r>
              <a:rPr sz="1019" b="1">
                <a:solidFill>
                  <a:srgbClr val="1B9AAA"/>
                </a:solidFill>
                <a:latin typeface="Calibri"/>
              </a:rPr>
              <a:t>▪  </a:t>
            </a:r>
            <a:r>
              <a:rPr sz="1019">
                <a:solidFill>
                  <a:srgbClr val="1A1A2E"/>
                </a:solidFill>
                <a:latin typeface="Calibri"/>
              </a:rPr>
              <a:t>Detects when live data has 'drifted' away from the data the model was trained on</a:t>
            </a:r>
          </a:p>
          <a:p>
            <a:pPr>
              <a:lnSpc>
                <a:spcPct val="100000"/>
              </a:lnSpc>
              <a:spcAft>
                <a:spcPts val="500"/>
              </a:spcAft>
            </a:pPr>
            <a:r>
              <a:rPr sz="1019" b="1">
                <a:solidFill>
                  <a:srgbClr val="1B9AAA"/>
                </a:solidFill>
                <a:latin typeface="Calibri"/>
              </a:rPr>
              <a:t>▪  </a:t>
            </a:r>
            <a:r>
              <a:rPr sz="1019">
                <a:solidFill>
                  <a:srgbClr val="1A1A2E"/>
                </a:solidFill>
                <a:latin typeface="Calibri"/>
              </a:rPr>
              <a:t>Every result can gate a build pipeline (pass/fail), like a unit test</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No jailbreak, PII, or hallucination-in-generation checks - this is a data/quality tool, not a safety filter</a:t>
            </a:r>
          </a:p>
          <a:p>
            <a:pPr>
              <a:lnSpc>
                <a:spcPct val="100000"/>
              </a:lnSpc>
              <a:spcAft>
                <a:spcPts val="400"/>
              </a:spcAft>
            </a:pPr>
            <a:r>
              <a:rPr sz="980" b="1">
                <a:solidFill>
                  <a:srgbClr val="E88C00"/>
                </a:solidFill>
                <a:latin typeface="Calibri"/>
              </a:rPr>
              <a:t>▪  </a:t>
            </a:r>
            <a:r>
              <a:rPr sz="980">
                <a:solidFill>
                  <a:srgbClr val="1A1A2E"/>
                </a:solidFill>
                <a:latin typeface="Calibri"/>
              </a:rPr>
              <a:t>Uses a license (AGPL) that needs legal review before embedding in a product</a:t>
            </a:r>
          </a:p>
          <a:p>
            <a:pPr>
              <a:lnSpc>
                <a:spcPct val="100000"/>
              </a:lnSpc>
              <a:spcAft>
                <a:spcPts val="400"/>
              </a:spcAft>
            </a:pPr>
            <a:r>
              <a:rPr sz="980" b="1">
                <a:solidFill>
                  <a:srgbClr val="E88C00"/>
                </a:solidFill>
                <a:latin typeface="Calibri"/>
              </a:rPr>
              <a:t>▪  </a:t>
            </a:r>
            <a:r>
              <a:rPr sz="980">
                <a:solidFill>
                  <a:srgbClr val="1A1A2E"/>
                </a:solidFill>
                <a:latin typeface="Calibri"/>
              </a:rPr>
              <a:t>Some text-quality models need a GPU to run at speed</a:t>
            </a:r>
          </a:p>
        </p:txBody>
      </p:sp>
      <p:sp>
        <p:nvSpPr>
          <p:cNvPr id="12" name="Rounded Rectangle 11"/>
          <p:cNvSpPr/>
          <p:nvPr/>
        </p:nvSpPr>
        <p:spPr>
          <a:xfrm>
            <a:off x="7315200"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4" name="Rounded Rectangle 13"/>
          <p:cNvSpPr/>
          <p:nvPr/>
        </p:nvSpPr>
        <p:spPr>
          <a:xfrm>
            <a:off x="8681313"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1313"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16" name="Rounded Rectangle 15"/>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18" name="Rounded Rectangle 17"/>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0" name="TextBox 19"/>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Evaluation/Testing, Library, Model</a:t>
            </a:r>
          </a:p>
        </p:txBody>
      </p:sp>
      <p:sp>
        <p:nvSpPr>
          <p:cNvPr id="21" name="TextBox 20"/>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2" name="TextBox 21"/>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3" name="TextBox 22"/>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4" name="TextBox 23"/>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Free / open-source</a:t>
            </a:r>
          </a:p>
        </p:txBody>
      </p:sp>
      <p:sp>
        <p:nvSpPr>
          <p:cNvPr id="25" name="TextBox 24"/>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6" name="TextBox 25"/>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Deepchecks</a:t>
            </a:r>
          </a:p>
        </p:txBody>
      </p:sp>
      <p:sp>
        <p:nvSpPr>
          <p:cNvPr id="27" name="TextBox 26"/>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28" name="TextBox 27"/>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29" name="TextBox 28"/>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0" name="TextBox 29"/>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AGPL-3.0</a:t>
            </a:r>
          </a:p>
        </p:txBody>
      </p:sp>
      <p:sp>
        <p:nvSpPr>
          <p:cNvPr id="31" name="Rounded Rectangle 30"/>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3" name="TextBox 32"/>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Good as an offline data-quality and drift-detection gate in CI/CD, feeding the governance dashboard.</a:t>
            </a:r>
          </a:p>
        </p:txBody>
      </p:sp>
      <p:sp>
        <p:nvSpPr>
          <p:cNvPr id="34" name="TextBox 33"/>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5" name="TextBox 34"/>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clean API, but AGPL-3.0 licensing needs legal clearance before embedding in a client deliverable</a:t>
            </a:r>
          </a:p>
        </p:txBody>
      </p:sp>
      <p:sp>
        <p:nvSpPr>
          <p:cNvPr id="36" name="Rectangle 35"/>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8" name="TextBox 37"/>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Deepchecks</a:t>
            </a:r>
          </a:p>
        </p:txBody>
      </p:sp>
      <p:sp>
        <p:nvSpPr>
          <p:cNvPr id="39" name="TextBox 38"/>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18A7E"/>
                </a:solidFill>
                <a:latin typeface="Calibri"/>
              </a:rPr>
              <a:t>REPOSITORY 4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DeepEval</a:t>
            </a:r>
          </a:p>
        </p:txBody>
      </p:sp>
      <p:sp>
        <p:nvSpPr>
          <p:cNvPr id="6" name="Rectangle 5"/>
          <p:cNvSpPr/>
          <p:nvPr/>
        </p:nvSpPr>
        <p:spPr>
          <a:xfrm>
            <a:off x="502920" y="1207008"/>
            <a:ext cx="2011680" cy="32004"/>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pytest-style testing framework with about 50 ready-made ways to grade an AI answer - did it make things up, was it biased, was it toxic, did it leak private information - plus 17 standard exam-style benchmarks. Most checks ask another AI model to be the judge.</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Hallucination, faithfulness, and relevancy checks for chatbot and RAG answers</a:t>
            </a:r>
          </a:p>
          <a:p>
            <a:pPr>
              <a:lnSpc>
                <a:spcPct val="100000"/>
              </a:lnSpc>
              <a:spcAft>
                <a:spcPts val="500"/>
              </a:spcAft>
            </a:pPr>
            <a:r>
              <a:rPr sz="1019" b="1">
                <a:solidFill>
                  <a:srgbClr val="1B9AAA"/>
                </a:solidFill>
                <a:latin typeface="Calibri"/>
              </a:rPr>
              <a:t>▪  </a:t>
            </a:r>
            <a:r>
              <a:rPr sz="1019">
                <a:solidFill>
                  <a:srgbClr val="1A1A2E"/>
                </a:solidFill>
                <a:latin typeface="Calibri"/>
              </a:rPr>
              <a:t>Bias, toxicity, and PII-leak scoring built in</a:t>
            </a:r>
          </a:p>
          <a:p>
            <a:pPr>
              <a:lnSpc>
                <a:spcPct val="100000"/>
              </a:lnSpc>
              <a:spcAft>
                <a:spcPts val="500"/>
              </a:spcAft>
            </a:pPr>
            <a:r>
              <a:rPr sz="1019" b="1">
                <a:solidFill>
                  <a:srgbClr val="1B9AAA"/>
                </a:solidFill>
                <a:latin typeface="Calibri"/>
              </a:rPr>
              <a:t>▪  </a:t>
            </a:r>
            <a:r>
              <a:rPr sz="1019">
                <a:solidFill>
                  <a:srgbClr val="1A1A2E"/>
                </a:solidFill>
                <a:latin typeface="Calibri"/>
              </a:rPr>
              <a:t>Some checks are simple and free (exact match, regex) with no AI cost</a:t>
            </a:r>
          </a:p>
          <a:p>
            <a:pPr>
              <a:lnSpc>
                <a:spcPct val="100000"/>
              </a:lnSpc>
              <a:spcAft>
                <a:spcPts val="500"/>
              </a:spcAft>
            </a:pPr>
            <a:r>
              <a:rPr sz="1019" b="1">
                <a:solidFill>
                  <a:srgbClr val="1B9AAA"/>
                </a:solidFill>
                <a:latin typeface="Calibri"/>
              </a:rPr>
              <a:t>▪  </a:t>
            </a:r>
            <a:r>
              <a:rPr sz="1019">
                <a:solidFill>
                  <a:srgbClr val="1A1A2E"/>
                </a:solidFill>
                <a:latin typeface="Calibri"/>
              </a:rPr>
              <a:t>17 academic exam benchmarks (like MMLU) to test overall model quality</a:t>
            </a:r>
          </a:p>
          <a:p>
            <a:pPr>
              <a:lnSpc>
                <a:spcPct val="100000"/>
              </a:lnSpc>
              <a:spcAft>
                <a:spcPts val="500"/>
              </a:spcAft>
            </a:pPr>
            <a:r>
              <a:rPr sz="1019" b="1">
                <a:solidFill>
                  <a:srgbClr val="1B9AAA"/>
                </a:solidFill>
                <a:latin typeface="Calibri"/>
              </a:rPr>
              <a:t>▪  </a:t>
            </a:r>
            <a:r>
              <a:rPr sz="1019">
                <a:solidFill>
                  <a:srgbClr val="1A1A2E"/>
                </a:solidFill>
                <a:latin typeface="Calibri"/>
              </a:rPr>
              <a:t>Plugs into your CI pipeline like a normal test suite</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Most safety checks call a paid AI model as the judge</a:t>
            </a:r>
          </a:p>
          <a:p>
            <a:pPr>
              <a:lnSpc>
                <a:spcPct val="100000"/>
              </a:lnSpc>
              <a:spcAft>
                <a:spcPts val="400"/>
              </a:spcAft>
            </a:pPr>
            <a:r>
              <a:rPr sz="980" b="1">
                <a:solidFill>
                  <a:srgbClr val="E88C00"/>
                </a:solidFill>
                <a:latin typeface="Calibri"/>
              </a:rPr>
              <a:t>▪  </a:t>
            </a:r>
            <a:r>
              <a:rPr sz="980">
                <a:solidFill>
                  <a:srgbClr val="1A1A2E"/>
                </a:solidFill>
                <a:latin typeface="Calibri"/>
              </a:rPr>
              <a:t>The jailbreak/attack side of this project was moved to a sister project called DeepTeam</a:t>
            </a:r>
          </a:p>
          <a:p>
            <a:pPr>
              <a:lnSpc>
                <a:spcPct val="100000"/>
              </a:lnSpc>
              <a:spcAft>
                <a:spcPts val="400"/>
              </a:spcAft>
            </a:pPr>
            <a:r>
              <a:rPr sz="980" b="1">
                <a:solidFill>
                  <a:srgbClr val="E88C00"/>
                </a:solidFill>
                <a:latin typeface="Calibri"/>
              </a:rPr>
              <a:t>▪  </a:t>
            </a:r>
            <a:r>
              <a:rPr sz="980">
                <a:solidFill>
                  <a:srgbClr val="1A1A2E"/>
                </a:solidFill>
                <a:latin typeface="Calibri"/>
              </a:rPr>
              <a:t>No published accuracy numbers for its own judging - quality depends on the judge model</a:t>
            </a:r>
          </a:p>
        </p:txBody>
      </p:sp>
      <p:sp>
        <p:nvSpPr>
          <p:cNvPr id="12" name="Rounded Rectangle 11"/>
          <p:cNvSpPr/>
          <p:nvPr/>
        </p:nvSpPr>
        <p:spPr>
          <a:xfrm>
            <a:off x="7315200"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4" name="Rounded Rectangle 13"/>
          <p:cNvSpPr/>
          <p:nvPr/>
        </p:nvSpPr>
        <p:spPr>
          <a:xfrm>
            <a:off x="8681313"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1313"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16" name="Rounded Rectangle 15"/>
          <p:cNvSpPr/>
          <p:nvPr/>
        </p:nvSpPr>
        <p:spPr>
          <a:xfrm>
            <a:off x="9690811"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0811"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8" name="Rounded Rectangle 17"/>
          <p:cNvSpPr/>
          <p:nvPr/>
        </p:nvSpPr>
        <p:spPr>
          <a:xfrm>
            <a:off x="10771632"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71632"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20" name="Rounded Rectangle 19"/>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Prompt/Template, Model, Library</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Confident AI</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Low</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Strong choice as AFNI's main scoring engine for hallucination, bias, and content checks in CI/CD.</a:t>
            </a:r>
          </a:p>
        </p:txBody>
      </p:sp>
      <p:sp>
        <p:nvSpPr>
          <p:cNvPr id="38" name="TextBox 37"/>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Easy - drop-in pytest plugin; the work is authoring golden test cases, not building the tool</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DeepEval</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5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DeepTeam</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The red-teaming sister of DeepEval. It automatically generates over 50 kinds of attacks (PII extraction, jailbreaks, SQL injection, bias baiting, and more) against your chatbot, and also ships 7 ready-to-use runtime guardrails you can turn on immediately.</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50+ vulnerability tests across privacy, security, safety, fairness, and business risk</a:t>
            </a:r>
          </a:p>
          <a:p>
            <a:pPr>
              <a:lnSpc>
                <a:spcPct val="100000"/>
              </a:lnSpc>
              <a:spcAft>
                <a:spcPts val="500"/>
              </a:spcAft>
            </a:pPr>
            <a:r>
              <a:rPr sz="1019" b="1">
                <a:solidFill>
                  <a:srgbClr val="1B9AAA"/>
                </a:solidFill>
                <a:latin typeface="Calibri"/>
              </a:rPr>
              <a:t>▪  </a:t>
            </a:r>
            <a:r>
              <a:rPr sz="1019">
                <a:solidFill>
                  <a:srgbClr val="1A1A2E"/>
                </a:solidFill>
                <a:latin typeface="Calibri"/>
              </a:rPr>
              <a:t>20+ jailbreak attack styles, including multi-turn 'slow escalation' attacks</a:t>
            </a:r>
          </a:p>
          <a:p>
            <a:pPr>
              <a:lnSpc>
                <a:spcPct val="100000"/>
              </a:lnSpc>
              <a:spcAft>
                <a:spcPts val="500"/>
              </a:spcAft>
            </a:pPr>
            <a:r>
              <a:rPr sz="1019" b="1">
                <a:solidFill>
                  <a:srgbClr val="1B9AAA"/>
                </a:solidFill>
                <a:latin typeface="Calibri"/>
              </a:rPr>
              <a:t>▪  </a:t>
            </a:r>
            <a:r>
              <a:rPr sz="1019">
                <a:solidFill>
                  <a:srgbClr val="1A1A2E"/>
                </a:solidFill>
                <a:latin typeface="Calibri"/>
              </a:rPr>
              <a:t>7 ready runtime guardrails (privacy, toxicity, prompt-injection, hallucination, and more)</a:t>
            </a:r>
          </a:p>
          <a:p>
            <a:pPr>
              <a:lnSpc>
                <a:spcPct val="100000"/>
              </a:lnSpc>
              <a:spcAft>
                <a:spcPts val="500"/>
              </a:spcAft>
            </a:pPr>
            <a:r>
              <a:rPr sz="1019" b="1">
                <a:solidFill>
                  <a:srgbClr val="1B9AAA"/>
                </a:solidFill>
                <a:latin typeface="Calibri"/>
              </a:rPr>
              <a:t>▪  </a:t>
            </a:r>
            <a:r>
              <a:rPr sz="1019">
                <a:solidFill>
                  <a:srgbClr val="1A1A2E"/>
                </a:solidFill>
                <a:latin typeface="Calibri"/>
              </a:rPr>
              <a:t>Automatically maps its tests to OWASP, NIST, and MITRE security standards</a:t>
            </a:r>
          </a:p>
          <a:p>
            <a:pPr>
              <a:lnSpc>
                <a:spcPct val="100000"/>
              </a:lnSpc>
              <a:spcAft>
                <a:spcPts val="500"/>
              </a:spcAft>
            </a:pPr>
            <a:r>
              <a:rPr sz="1019" b="1">
                <a:solidFill>
                  <a:srgbClr val="1B9AAA"/>
                </a:solidFill>
                <a:latin typeface="Calibri"/>
              </a:rPr>
              <a:t>▪  </a:t>
            </a:r>
            <a:r>
              <a:rPr sz="1019">
                <a:solidFill>
                  <a:srgbClr val="1A1A2E"/>
                </a:solidFill>
                <a:latin typeface="Calibri"/>
              </a:rPr>
              <a:t>Special test set for AI 'agents' that use tools (checks for abuse of tool access)</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Every single check calls a paid AI model as the judge - nothing runs for free</a:t>
            </a:r>
          </a:p>
          <a:p>
            <a:pPr>
              <a:lnSpc>
                <a:spcPct val="100000"/>
              </a:lnSpc>
              <a:spcAft>
                <a:spcPts val="400"/>
              </a:spcAft>
            </a:pPr>
            <a:r>
              <a:rPr sz="980" b="1">
                <a:solidFill>
                  <a:srgbClr val="E88C00"/>
                </a:solidFill>
                <a:latin typeface="Calibri"/>
              </a:rPr>
              <a:t>▪  </a:t>
            </a:r>
            <a:r>
              <a:rPr sz="980">
                <a:solidFill>
                  <a:srgbClr val="1A1A2E"/>
                </a:solidFill>
                <a:latin typeface="Calibri"/>
              </a:rPr>
              <a:t>No simple keyword or regex checks at all - 100% AI-judged</a:t>
            </a:r>
          </a:p>
          <a:p>
            <a:pPr>
              <a:lnSpc>
                <a:spcPct val="100000"/>
              </a:lnSpc>
              <a:spcAft>
                <a:spcPts val="400"/>
              </a:spcAft>
            </a:pPr>
            <a:r>
              <a:rPr sz="980" b="1">
                <a:solidFill>
                  <a:srgbClr val="E88C00"/>
                </a:solidFill>
                <a:latin typeface="Calibri"/>
              </a:rPr>
              <a:t>▪  </a:t>
            </a:r>
            <a:r>
              <a:rPr sz="980">
                <a:solidFill>
                  <a:srgbClr val="1A1A2E"/>
                </a:solidFill>
                <a:latin typeface="Calibri"/>
              </a:rPr>
              <a:t>Python only, so a non-Python app needs a small bridge service</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6" name="Rounded Rectangle 15"/>
          <p:cNvSpPr/>
          <p:nvPr/>
        </p:nvSpPr>
        <p:spPr>
          <a:xfrm>
            <a:off x="9690811"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0811"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18" name="Rounded Rectangle 17"/>
          <p:cNvSpPr/>
          <p:nvPr/>
        </p:nvSpPr>
        <p:spPr>
          <a:xfrm>
            <a:off x="10700308"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00308"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20" name="Rounded Rectangle 19"/>
          <p:cNvSpPr/>
          <p:nvPr/>
        </p:nvSpPr>
        <p:spPr>
          <a:xfrm>
            <a:off x="7315200" y="1773936"/>
            <a:ext cx="4343400" cy="292608"/>
          </a:xfrm>
          <a:prstGeom prst="roundRect">
            <a:avLst>
              <a:gd name="adj" fmla="val 22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 + TESTING</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Prompt/Template, Model, Orchestration</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Requires paid API or hosted model</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Confident AI</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Excellent pre-launch red-team suite; pair with a free regex/PII layer since it has none of its own.</a:t>
            </a:r>
          </a:p>
        </p:txBody>
      </p:sp>
      <p:sp>
        <p:nvSpPr>
          <p:cNvPr id="38" name="TextBox 37"/>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Easy - one-line red_team() call once the target is wrapped; the attack taxonomy is already built</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DeepTeam</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4A6380"/>
                </a:solidFill>
                <a:latin typeface="Calibri"/>
              </a:rPr>
              <a:t>REPOSITORY 6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OpenAI Evals</a:t>
            </a:r>
          </a:p>
        </p:txBody>
      </p:sp>
      <p:sp>
        <p:nvSpPr>
          <p:cNvPr id="6" name="Rectangle 5"/>
          <p:cNvSpPr/>
          <p:nvPr/>
        </p:nvSpPr>
        <p:spPr>
          <a:xfrm>
            <a:off x="502920" y="1207008"/>
            <a:ext cx="2011680" cy="32004"/>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OpenAI's own testing framework, with about 463 ready-made test tasks plus some unusual 'can this AI deceive another AI' games (bluffing, secret-codeword persuasion, hiding its own abilities). Useful for measuring trustworthiness, not for blocking bad output live.</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Simple free checks (exact match, contains, JSON validity) with no AI cost</a:t>
            </a:r>
          </a:p>
          <a:p>
            <a:pPr>
              <a:lnSpc>
                <a:spcPct val="100000"/>
              </a:lnSpc>
              <a:spcAft>
                <a:spcPts val="500"/>
              </a:spcAft>
            </a:pPr>
            <a:r>
              <a:rPr sz="1019" b="1">
                <a:solidFill>
                  <a:srgbClr val="1B9AAA"/>
                </a:solidFill>
                <a:latin typeface="Calibri"/>
              </a:rPr>
              <a:t>▪  </a:t>
            </a:r>
            <a:r>
              <a:rPr sz="1019">
                <a:solidFill>
                  <a:srgbClr val="1A1A2E"/>
                </a:solidFill>
                <a:latin typeface="Calibri"/>
              </a:rPr>
              <a:t>A generic 'ask an AI to grade this' engine for custom rubrics</a:t>
            </a:r>
          </a:p>
          <a:p>
            <a:pPr>
              <a:lnSpc>
                <a:spcPct val="100000"/>
              </a:lnSpc>
              <a:spcAft>
                <a:spcPts val="500"/>
              </a:spcAft>
            </a:pPr>
            <a:r>
              <a:rPr sz="1019" b="1">
                <a:solidFill>
                  <a:srgbClr val="1B9AAA"/>
                </a:solidFill>
                <a:latin typeface="Calibri"/>
              </a:rPr>
              <a:t>▪  </a:t>
            </a:r>
            <a:r>
              <a:rPr sz="1019">
                <a:solidFill>
                  <a:srgbClr val="1A1A2E"/>
                </a:solidFill>
                <a:latin typeface="Calibri"/>
              </a:rPr>
              <a:t>Unusual deception-testing games: can one AI secretly manipulate or con another?</a:t>
            </a:r>
          </a:p>
          <a:p>
            <a:pPr>
              <a:lnSpc>
                <a:spcPct val="100000"/>
              </a:lnSpc>
              <a:spcAft>
                <a:spcPts val="500"/>
              </a:spcAft>
            </a:pPr>
            <a:r>
              <a:rPr sz="1019" b="1">
                <a:solidFill>
                  <a:srgbClr val="1B9AAA"/>
                </a:solidFill>
                <a:latin typeface="Calibri"/>
              </a:rPr>
              <a:t>▪  </a:t>
            </a:r>
            <a:r>
              <a:rPr sz="1019">
                <a:solidFill>
                  <a:srgbClr val="1A1A2E"/>
                </a:solidFill>
                <a:latin typeface="Calibri"/>
              </a:rPr>
              <a:t>463 pre-built benchmark tasks covering many topics</a:t>
            </a:r>
          </a:p>
          <a:p>
            <a:pPr>
              <a:lnSpc>
                <a:spcPct val="100000"/>
              </a:lnSpc>
              <a:spcAft>
                <a:spcPts val="500"/>
              </a:spcAft>
            </a:pPr>
            <a:r>
              <a:rPr sz="1019" b="1">
                <a:solidFill>
                  <a:srgbClr val="1B9AAA"/>
                </a:solidFill>
                <a:latin typeface="Calibri"/>
              </a:rPr>
              <a:t>▪  </a:t>
            </a:r>
            <a:r>
              <a:rPr sz="1019">
                <a:solidFill>
                  <a:srgbClr val="1A1A2E"/>
                </a:solidFill>
                <a:latin typeface="Calibri"/>
              </a:rPr>
              <a:t>Works with OpenAI, Anthropic, Google, and other providers</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Command-line/batch tool only - no live 'check this text now' function</a:t>
            </a:r>
          </a:p>
          <a:p>
            <a:pPr>
              <a:lnSpc>
                <a:spcPct val="100000"/>
              </a:lnSpc>
              <a:spcAft>
                <a:spcPts val="400"/>
              </a:spcAft>
            </a:pPr>
            <a:r>
              <a:rPr sz="980" b="1">
                <a:solidFill>
                  <a:srgbClr val="E88C00"/>
                </a:solidFill>
                <a:latin typeface="Calibri"/>
              </a:rPr>
              <a:t>▪  </a:t>
            </a:r>
            <a:r>
              <a:rPr sz="980">
                <a:solidFill>
                  <a:srgbClr val="1A1A2E"/>
                </a:solidFill>
                <a:latin typeface="Calibri"/>
              </a:rPr>
              <a:t>No PII, bias, or toxicity detectors of its own</a:t>
            </a:r>
          </a:p>
          <a:p>
            <a:pPr>
              <a:lnSpc>
                <a:spcPct val="100000"/>
              </a:lnSpc>
              <a:spcAft>
                <a:spcPts val="400"/>
              </a:spcAft>
            </a:pPr>
            <a:r>
              <a:rPr sz="980" b="1">
                <a:solidFill>
                  <a:srgbClr val="E88C00"/>
                </a:solidFill>
                <a:latin typeface="Calibri"/>
              </a:rPr>
              <a:t>▪  </a:t>
            </a:r>
            <a:r>
              <a:rPr sz="980">
                <a:solidFill>
                  <a:srgbClr val="1A1A2E"/>
                </a:solidFill>
                <a:latin typeface="Calibri"/>
              </a:rPr>
              <a:t>Most checks need a paid AI API call</a:t>
            </a:r>
          </a:p>
        </p:txBody>
      </p:sp>
      <p:sp>
        <p:nvSpPr>
          <p:cNvPr id="12" name="Rounded Rectangle 11"/>
          <p:cNvSpPr/>
          <p:nvPr/>
        </p:nvSpPr>
        <p:spPr>
          <a:xfrm>
            <a:off x="7315200" y="1371600"/>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14" name="Rounded Rectangle 13"/>
          <p:cNvSpPr/>
          <p:nvPr/>
        </p:nvSpPr>
        <p:spPr>
          <a:xfrm>
            <a:off x="8752636"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52636"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6" name="Rounded Rectangle 15"/>
          <p:cNvSpPr/>
          <p:nvPr/>
        </p:nvSpPr>
        <p:spPr>
          <a:xfrm>
            <a:off x="1011875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1875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8" name="Rounded Rectangle 17"/>
          <p:cNvSpPr/>
          <p:nvPr/>
        </p:nvSpPr>
        <p:spPr>
          <a:xfrm>
            <a:off x="7315200" y="1682496"/>
            <a:ext cx="1327708"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682496"/>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Explainability</a:t>
            </a:r>
          </a:p>
        </p:txBody>
      </p:sp>
      <p:sp>
        <p:nvSpPr>
          <p:cNvPr id="20" name="Rounded Rectangle 19"/>
          <p:cNvSpPr/>
          <p:nvPr/>
        </p:nvSpPr>
        <p:spPr>
          <a:xfrm>
            <a:off x="7315200" y="2084832"/>
            <a:ext cx="4343400" cy="292608"/>
          </a:xfrm>
          <a:prstGeom prst="roundRect">
            <a:avLst>
              <a:gd name="adj" fmla="val 22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2084832"/>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 + TESTING</a:t>
            </a:r>
          </a:p>
        </p:txBody>
      </p:sp>
      <p:sp>
        <p:nvSpPr>
          <p:cNvPr id="22" name="Rounded Rectangle 21"/>
          <p:cNvSpPr/>
          <p:nvPr/>
        </p:nvSpPr>
        <p:spPr>
          <a:xfrm>
            <a:off x="7315200" y="2523744"/>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Evaluation/Testing, Orchestration, Prompt/Template</a:t>
            </a:r>
          </a:p>
        </p:txBody>
      </p:sp>
      <p:sp>
        <p:nvSpPr>
          <p:cNvPr id="25" name="TextBox 24"/>
          <p:cNvSpPr txBox="1"/>
          <p:nvPr/>
        </p:nvSpPr>
        <p:spPr>
          <a:xfrm>
            <a:off x="9532620"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7" name="TextBox 26"/>
          <p:cNvSpPr txBox="1"/>
          <p:nvPr/>
        </p:nvSpPr>
        <p:spPr>
          <a:xfrm>
            <a:off x="7461504"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OpenAI</a:t>
            </a:r>
          </a:p>
        </p:txBody>
      </p:sp>
      <p:sp>
        <p:nvSpPr>
          <p:cNvPr id="31" name="TextBox 30"/>
          <p:cNvSpPr txBox="1"/>
          <p:nvPr/>
        </p:nvSpPr>
        <p:spPr>
          <a:xfrm>
            <a:off x="7461504"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High</a:t>
            </a:r>
          </a:p>
        </p:txBody>
      </p:sp>
      <p:sp>
        <p:nvSpPr>
          <p:cNvPr id="33" name="TextBox 32"/>
          <p:cNvSpPr txBox="1"/>
          <p:nvPr/>
        </p:nvSpPr>
        <p:spPr>
          <a:xfrm>
            <a:off x="9532620"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5" name="Rounded Rectangle 34"/>
          <p:cNvSpPr/>
          <p:nvPr/>
        </p:nvSpPr>
        <p:spPr>
          <a:xfrm>
            <a:off x="7315200" y="4398264"/>
            <a:ext cx="4343400" cy="2029967"/>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480560"/>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690872"/>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Niche value: its deception/manipulation games are a good addition to a pre-release trust audit.</a:t>
            </a:r>
          </a:p>
        </p:txBody>
      </p:sp>
      <p:sp>
        <p:nvSpPr>
          <p:cNvPr id="38" name="TextBox 37"/>
          <p:cNvSpPr txBox="1"/>
          <p:nvPr/>
        </p:nvSpPr>
        <p:spPr>
          <a:xfrm>
            <a:off x="7452360" y="5111496"/>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321808"/>
            <a:ext cx="4069080" cy="1106423"/>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CLI/registry workflow needs a custom adapter before it can be called from a live backend</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OpenAI Evals</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6A4C93"/>
                </a:solidFill>
                <a:latin typeface="Calibri"/>
              </a:rPr>
              <a:t>REPOSITORY 7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Fairlearn</a:t>
            </a:r>
          </a:p>
        </p:txBody>
      </p:sp>
      <p:sp>
        <p:nvSpPr>
          <p:cNvPr id="6" name="Rectangle 5"/>
          <p:cNvSpPr/>
          <p:nvPr/>
        </p:nvSpPr>
        <p:spPr>
          <a:xfrm>
            <a:off x="502920" y="1207008"/>
            <a:ext cx="2011680" cy="32004"/>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Microsoft's fairness toolkit, similar in spirit to AIF360 but tightly built around standard data-science tools. It measures group fairness (e.g., equal approval rates) and can retrain or adjust a model so its decisions are fairer across groups.</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Easy-to-read fairness report across any grouping (age, gender, region, etc.)</a:t>
            </a:r>
          </a:p>
          <a:p>
            <a:pPr>
              <a:lnSpc>
                <a:spcPct val="100000"/>
              </a:lnSpc>
              <a:spcAft>
                <a:spcPts val="500"/>
              </a:spcAft>
            </a:pPr>
            <a:r>
              <a:rPr sz="1019" b="1">
                <a:solidFill>
                  <a:srgbClr val="1B9AAA"/>
                </a:solidFill>
                <a:latin typeface="Calibri"/>
              </a:rPr>
              <a:t>▪  </a:t>
            </a:r>
            <a:r>
              <a:rPr sz="1019">
                <a:solidFill>
                  <a:srgbClr val="1A1A2E"/>
                </a:solidFill>
                <a:latin typeface="Calibri"/>
              </a:rPr>
              <a:t>Automatic versions of common accuracy metrics split out by group</a:t>
            </a:r>
          </a:p>
          <a:p>
            <a:pPr>
              <a:lnSpc>
                <a:spcPct val="100000"/>
              </a:lnSpc>
              <a:spcAft>
                <a:spcPts val="500"/>
              </a:spcAft>
            </a:pPr>
            <a:r>
              <a:rPr sz="1019" b="1">
                <a:solidFill>
                  <a:srgbClr val="1B9AAA"/>
                </a:solidFill>
                <a:latin typeface="Calibri"/>
              </a:rPr>
              <a:t>▪  </a:t>
            </a:r>
            <a:r>
              <a:rPr sz="1019">
                <a:solidFill>
                  <a:srgbClr val="1A1A2E"/>
                </a:solidFill>
                <a:latin typeface="Calibri"/>
              </a:rPr>
              <a:t>Algorithms that adjust model training or decision thresholds to close fairness gaps</a:t>
            </a:r>
          </a:p>
          <a:p>
            <a:pPr>
              <a:lnSpc>
                <a:spcPct val="100000"/>
              </a:lnSpc>
              <a:spcAft>
                <a:spcPts val="500"/>
              </a:spcAft>
            </a:pPr>
            <a:r>
              <a:rPr sz="1019" b="1">
                <a:solidFill>
                  <a:srgbClr val="1B9AAA"/>
                </a:solidFill>
                <a:latin typeface="Calibri"/>
              </a:rPr>
              <a:t>▪  </a:t>
            </a:r>
            <a:r>
              <a:rPr sz="1019">
                <a:solidFill>
                  <a:srgbClr val="1A1A2E"/>
                </a:solidFill>
                <a:latin typeface="Calibri"/>
              </a:rPr>
              <a:t>Works cleanly with scikit-learn pipelines</a:t>
            </a:r>
          </a:p>
          <a:p>
            <a:pPr>
              <a:lnSpc>
                <a:spcPct val="100000"/>
              </a:lnSpc>
              <a:spcAft>
                <a:spcPts val="500"/>
              </a:spcAft>
            </a:pPr>
            <a:r>
              <a:rPr sz="1019" b="1">
                <a:solidFill>
                  <a:srgbClr val="1B9AAA"/>
                </a:solidFill>
                <a:latin typeface="Calibri"/>
              </a:rPr>
              <a:t>▪  </a:t>
            </a:r>
            <a:r>
              <a:rPr sz="1019">
                <a:solidFill>
                  <a:srgbClr val="1A1A2E"/>
                </a:solidFill>
                <a:latin typeface="Calibri"/>
              </a:rPr>
              <a:t>Can check more than one sensitive attribute at once (e.g., age AND gender together)</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Only for traditional prediction models with clear right/wrong labels, not chatbot text</a:t>
            </a:r>
          </a:p>
          <a:p>
            <a:pPr>
              <a:lnSpc>
                <a:spcPct val="100000"/>
              </a:lnSpc>
              <a:spcAft>
                <a:spcPts val="400"/>
              </a:spcAft>
            </a:pPr>
            <a:r>
              <a:rPr sz="980" b="1">
                <a:solidFill>
                  <a:srgbClr val="E88C00"/>
                </a:solidFill>
                <a:latin typeface="Calibri"/>
              </a:rPr>
              <a:t>▪  </a:t>
            </a:r>
            <a:r>
              <a:rPr sz="980">
                <a:solidFill>
                  <a:srgbClr val="1A1A2E"/>
                </a:solidFill>
                <a:latin typeface="Calibri"/>
              </a:rPr>
              <a:t>You must already have the true outcomes and the sensitive group labels ready</a:t>
            </a:r>
          </a:p>
          <a:p>
            <a:pPr>
              <a:lnSpc>
                <a:spcPct val="100000"/>
              </a:lnSpc>
              <a:spcAft>
                <a:spcPts val="400"/>
              </a:spcAft>
            </a:pPr>
            <a:r>
              <a:rPr sz="980" b="1">
                <a:solidFill>
                  <a:srgbClr val="E88C00"/>
                </a:solidFill>
                <a:latin typeface="Calibri"/>
              </a:rPr>
              <a:t>▪  </a:t>
            </a:r>
            <a:r>
              <a:rPr sz="980">
                <a:solidFill>
                  <a:srgbClr val="1A1A2E"/>
                </a:solidFill>
                <a:latin typeface="Calibri"/>
              </a:rPr>
              <a:t>The project itself says fairness metrics can conflict and don't cover every ethical concern</a:t>
            </a:r>
          </a:p>
        </p:txBody>
      </p:sp>
      <p:sp>
        <p:nvSpPr>
          <p:cNvPr id="12" name="Rounded Rectangle 11"/>
          <p:cNvSpPr/>
          <p:nvPr/>
        </p:nvSpPr>
        <p:spPr>
          <a:xfrm>
            <a:off x="7315200"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14" name="Rounded Rectangle 13"/>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16" name="Rounded Rectangle 15"/>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18" name="TextBox 17"/>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Library, Model-based</a:t>
            </a:r>
          </a:p>
        </p:txBody>
      </p:sp>
      <p:sp>
        <p:nvSpPr>
          <p:cNvPr id="19" name="TextBox 18"/>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0" name="TextBox 19"/>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1" name="TextBox 20"/>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2" name="TextBox 21"/>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Free / open-source</a:t>
            </a:r>
          </a:p>
        </p:txBody>
      </p:sp>
      <p:sp>
        <p:nvSpPr>
          <p:cNvPr id="23" name="TextBox 22"/>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4" name="TextBox 23"/>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Microsoft</a:t>
            </a:r>
          </a:p>
        </p:txBody>
      </p:sp>
      <p:sp>
        <p:nvSpPr>
          <p:cNvPr id="25" name="TextBox 24"/>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26" name="TextBox 25"/>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27" name="TextBox 26"/>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28" name="TextBox 27"/>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29" name="Rounded Rectangle 28"/>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1" name="TextBox 30"/>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Microsoft's own answer to AIF360 - a strong, Azure-aligned pick for structured-model fairness checks.</a:t>
            </a:r>
          </a:p>
        </p:txBody>
      </p:sp>
      <p:sp>
        <p:nvSpPr>
          <p:cNvPr id="32" name="TextBox 31"/>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3" name="TextBox 32"/>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N/A, consume as-is - Azure-aligned and peer-reviewed; adopt directly rather than rebuild</a:t>
            </a:r>
          </a:p>
        </p:txBody>
      </p:sp>
      <p:sp>
        <p:nvSpPr>
          <p:cNvPr id="34" name="Rectangle 33"/>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6" name="TextBox 35"/>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Fairlearn</a:t>
            </a:r>
          </a:p>
        </p:txBody>
      </p:sp>
      <p:sp>
        <p:nvSpPr>
          <p:cNvPr id="37" name="TextBox 36"/>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8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FuzzyAI</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red-teaming tool from CyberArk with 20+ jailbreak attack styles (including genetic-algorithm-evolved attacks) and 14 ways to judge whether an attack worked, including calling Azure, AWS, and OpenAI's own safety filters to compare results.</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20+ jailbreak techniques, from simple role-play tricks to AI-evolved attack prompts</a:t>
            </a:r>
          </a:p>
          <a:p>
            <a:pPr>
              <a:lnSpc>
                <a:spcPct val="100000"/>
              </a:lnSpc>
              <a:spcAft>
                <a:spcPts val="500"/>
              </a:spcAft>
            </a:pPr>
            <a:r>
              <a:rPr sz="1019" b="1">
                <a:solidFill>
                  <a:srgbClr val="1B9AAA"/>
                </a:solidFill>
                <a:latin typeface="Calibri"/>
              </a:rPr>
              <a:t>▪  </a:t>
            </a:r>
            <a:r>
              <a:rPr sz="1019">
                <a:solidFill>
                  <a:srgbClr val="1A1A2E"/>
                </a:solidFill>
                <a:latin typeface="Calibri"/>
              </a:rPr>
              <a:t>Can call Azure Content Safety, AWS Bedrock Guardrails, or OpenAI Moderation as judges - handy for comparing cloud filters side by side</a:t>
            </a:r>
          </a:p>
          <a:p>
            <a:pPr>
              <a:lnSpc>
                <a:spcPct val="100000"/>
              </a:lnSpc>
              <a:spcAft>
                <a:spcPts val="500"/>
              </a:spcAft>
            </a:pPr>
            <a:r>
              <a:rPr sz="1019" b="1">
                <a:solidFill>
                  <a:srgbClr val="1B9AAA"/>
                </a:solidFill>
                <a:latin typeface="Calibri"/>
              </a:rPr>
              <a:t>▪  </a:t>
            </a:r>
            <a:r>
              <a:rPr sz="1019">
                <a:solidFill>
                  <a:srgbClr val="1A1A2E"/>
                </a:solidFill>
                <a:latin typeface="Calibri"/>
              </a:rPr>
              <a:t>Multi-turn 'slow escalation' style attacks (Crescendo)</a:t>
            </a:r>
          </a:p>
          <a:p>
            <a:pPr>
              <a:lnSpc>
                <a:spcPct val="100000"/>
              </a:lnSpc>
              <a:spcAft>
                <a:spcPts val="500"/>
              </a:spcAft>
            </a:pPr>
            <a:r>
              <a:rPr sz="1019" b="1">
                <a:solidFill>
                  <a:srgbClr val="1B9AAA"/>
                </a:solidFill>
                <a:latin typeface="Calibri"/>
              </a:rPr>
              <a:t>▪  </a:t>
            </a:r>
            <a:r>
              <a:rPr sz="1019">
                <a:solidFill>
                  <a:srgbClr val="1A1A2E"/>
                </a:solidFill>
                <a:latin typeface="Calibri"/>
              </a:rPr>
              <a:t>Works against OpenAI, Anthropic, Azure, AWS, and local models</a:t>
            </a:r>
          </a:p>
          <a:p>
            <a:pPr>
              <a:lnSpc>
                <a:spcPct val="100000"/>
              </a:lnSpc>
              <a:spcAft>
                <a:spcPts val="500"/>
              </a:spcAft>
            </a:pPr>
            <a:r>
              <a:rPr sz="1019" b="1">
                <a:solidFill>
                  <a:srgbClr val="1B9AAA"/>
                </a:solidFill>
                <a:latin typeface="Calibri"/>
              </a:rPr>
              <a:t>▪  </a:t>
            </a:r>
            <a:r>
              <a:rPr sz="1019">
                <a:solidFill>
                  <a:srgbClr val="1A1A2E"/>
                </a:solidFill>
                <a:latin typeface="Calibri"/>
              </a:rPr>
              <a:t>Optional fully free/local mode using Ollama</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It's an attack tool, not a defense - it doesn't block anything in production</a:t>
            </a:r>
          </a:p>
          <a:p>
            <a:pPr>
              <a:lnSpc>
                <a:spcPct val="100000"/>
              </a:lnSpc>
              <a:spcAft>
                <a:spcPts val="400"/>
              </a:spcAft>
            </a:pPr>
            <a:r>
              <a:rPr sz="980" b="1">
                <a:solidFill>
                  <a:srgbClr val="E88C00"/>
                </a:solidFill>
                <a:latin typeface="Calibri"/>
              </a:rPr>
              <a:t>▪  </a:t>
            </a:r>
            <a:r>
              <a:rPr sz="980">
                <a:solidFill>
                  <a:srgbClr val="1A1A2E"/>
                </a:solidFill>
                <a:latin typeface="Calibri"/>
              </a:rPr>
              <a:t>No accuracy numbers for its own judges; several use hand-picked cutoff scores</a:t>
            </a:r>
          </a:p>
          <a:p>
            <a:pPr>
              <a:lnSpc>
                <a:spcPct val="100000"/>
              </a:lnSpc>
              <a:spcAft>
                <a:spcPts val="400"/>
              </a:spcAft>
            </a:pPr>
            <a:r>
              <a:rPr sz="980" b="1">
                <a:solidFill>
                  <a:srgbClr val="E88C00"/>
                </a:solidFill>
                <a:latin typeface="Calibri"/>
              </a:rPr>
              <a:t>▪  </a:t>
            </a:r>
            <a:r>
              <a:rPr sz="980">
                <a:solidFill>
                  <a:srgbClr val="1A1A2E"/>
                </a:solidFill>
                <a:latin typeface="Calibri"/>
              </a:rPr>
              <a:t>Very light automated testing of its own code</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6" name="Rounded Rectangle 15"/>
          <p:cNvSpPr/>
          <p:nvPr/>
        </p:nvSpPr>
        <p:spPr>
          <a:xfrm>
            <a:off x="9690811"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0811"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8" name="Rounded Rectangle 17"/>
          <p:cNvSpPr/>
          <p:nvPr/>
        </p:nvSpPr>
        <p:spPr>
          <a:xfrm>
            <a:off x="7315200" y="1773936"/>
            <a:ext cx="4343400" cy="292608"/>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RED-TEAM TESTING</a:t>
            </a:r>
          </a:p>
        </p:txBody>
      </p:sp>
      <p:sp>
        <p:nvSpPr>
          <p:cNvPr id="20" name="Rounded Rectangle 19"/>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2" name="TextBox 21"/>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Model, Prompt/Template</a:t>
            </a:r>
          </a:p>
        </p:txBody>
      </p:sp>
      <p:sp>
        <p:nvSpPr>
          <p:cNvPr id="23" name="TextBox 22"/>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4" name="TextBox 23"/>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5" name="TextBox 24"/>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6" name="TextBox 25"/>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7" name="TextBox 26"/>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8" name="TextBox 27"/>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CyberArk</a:t>
            </a:r>
          </a:p>
        </p:txBody>
      </p:sp>
      <p:sp>
        <p:nvSpPr>
          <p:cNvPr id="29" name="TextBox 28"/>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0" name="TextBox 29"/>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1" name="TextBox 30"/>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2" name="TextBox 31"/>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3" name="Rounded Rectangle 32"/>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5" name="TextBox 34"/>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Useful for benchmarking how AFNI's chosen cloud guardrail stacks up against many attack styles.</a:t>
            </a:r>
          </a:p>
        </p:txBody>
      </p:sp>
      <p:sp>
        <p:nvSpPr>
          <p:cNvPr id="36" name="TextBox 35"/>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7" name="TextBox 36"/>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clean plugin API, but the heavier attacks need GPU-backed local models</a:t>
            </a:r>
          </a:p>
        </p:txBody>
      </p:sp>
      <p:sp>
        <p:nvSpPr>
          <p:cNvPr id="38" name="Rectangle 3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0" name="TextBox 3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FuzzyAI</a:t>
            </a:r>
          </a:p>
        </p:txBody>
      </p:sp>
      <p:sp>
        <p:nvSpPr>
          <p:cNvPr id="41" name="TextBox 4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9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NVIDIA garak</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Often called 'nmap for LLMs' - NVIDIA's open-source scanner that fires over 100 different attack types at a chatbot (jailbreaks, hidden-encoding tricks, PII leakage tests, fake-package generation) and grades the results. It even publishes how accurate some of its own graders are.</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100+ attack probes: jailbreaks, prompt injection, 20 different text-encoding tricks, and more</a:t>
            </a:r>
          </a:p>
          <a:p>
            <a:pPr>
              <a:lnSpc>
                <a:spcPct val="100000"/>
              </a:lnSpc>
              <a:spcAft>
                <a:spcPts val="500"/>
              </a:spcAft>
            </a:pPr>
            <a:r>
              <a:rPr sz="1019" b="1">
                <a:solidFill>
                  <a:srgbClr val="1B9AAA"/>
                </a:solidFill>
                <a:latin typeface="Calibri"/>
              </a:rPr>
              <a:t>▪  </a:t>
            </a:r>
            <a:r>
              <a:rPr sz="1019">
                <a:solidFill>
                  <a:srgbClr val="1A1A2E"/>
                </a:solidFill>
                <a:latin typeface="Calibri"/>
              </a:rPr>
              <a:t>Checks whether generated code recommends software packages that don't actually exist (a real supply-chain risk)</a:t>
            </a:r>
          </a:p>
          <a:p>
            <a:pPr>
              <a:lnSpc>
                <a:spcPct val="100000"/>
              </a:lnSpc>
              <a:spcAft>
                <a:spcPts val="500"/>
              </a:spcAft>
            </a:pPr>
            <a:r>
              <a:rPr sz="1019" b="1">
                <a:solidFill>
                  <a:srgbClr val="1B9AAA"/>
                </a:solidFill>
                <a:latin typeface="Calibri"/>
              </a:rPr>
              <a:t>▪  </a:t>
            </a:r>
            <a:r>
              <a:rPr sz="1019">
                <a:solidFill>
                  <a:srgbClr val="1A1A2E"/>
                </a:solidFill>
                <a:latin typeface="Calibri"/>
              </a:rPr>
              <a:t>Built-in toxicity and hate-speech word-lists plus two AI toxicity models</a:t>
            </a:r>
          </a:p>
          <a:p>
            <a:pPr>
              <a:lnSpc>
                <a:spcPct val="100000"/>
              </a:lnSpc>
              <a:spcAft>
                <a:spcPts val="500"/>
              </a:spcAft>
            </a:pPr>
            <a:r>
              <a:rPr sz="1019" b="1">
                <a:solidFill>
                  <a:srgbClr val="1B9AAA"/>
                </a:solidFill>
                <a:latin typeface="Calibri"/>
              </a:rPr>
              <a:t>▪  </a:t>
            </a:r>
            <a:r>
              <a:rPr sz="1019">
                <a:solidFill>
                  <a:srgbClr val="1A1A2E"/>
                </a:solidFill>
                <a:latin typeface="Calibri"/>
              </a:rPr>
              <a:t>Can test whether your own guardrail is even switched on ('shields up/down' check)</a:t>
            </a:r>
          </a:p>
          <a:p>
            <a:pPr>
              <a:lnSpc>
                <a:spcPct val="100000"/>
              </a:lnSpc>
              <a:spcAft>
                <a:spcPts val="500"/>
              </a:spcAft>
            </a:pPr>
            <a:r>
              <a:rPr sz="1019" b="1">
                <a:solidFill>
                  <a:srgbClr val="1B9AAA"/>
                </a:solidFill>
                <a:latin typeface="Calibri"/>
              </a:rPr>
              <a:t>▪  </a:t>
            </a:r>
            <a:r>
              <a:rPr sz="1019">
                <a:solidFill>
                  <a:srgbClr val="1A1A2E"/>
                </a:solidFill>
                <a:latin typeface="Calibri"/>
              </a:rPr>
              <a:t>Publishes real accuracy numbers for a few of its checks - refreshingly honest about their limits</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The maintainers say clearly: this is a security tool, not a bias or social-safety benchmark</a:t>
            </a:r>
          </a:p>
          <a:p>
            <a:pPr>
              <a:lnSpc>
                <a:spcPct val="100000"/>
              </a:lnSpc>
              <a:spcAft>
                <a:spcPts val="400"/>
              </a:spcAft>
            </a:pPr>
            <a:r>
              <a:rPr sz="980" b="1">
                <a:solidFill>
                  <a:srgbClr val="E88C00"/>
                </a:solidFill>
                <a:latin typeface="Calibri"/>
              </a:rPr>
              <a:t>▪  </a:t>
            </a:r>
            <a:r>
              <a:rPr sz="980">
                <a:solidFill>
                  <a:srgbClr val="1A1A2E"/>
                </a:solidFill>
                <a:latin typeface="Calibri"/>
              </a:rPr>
              <a:t>Most of its 100+ checks have no published accuracy numbers</a:t>
            </a:r>
          </a:p>
          <a:p>
            <a:pPr>
              <a:lnSpc>
                <a:spcPct val="100000"/>
              </a:lnSpc>
              <a:spcAft>
                <a:spcPts val="400"/>
              </a:spcAft>
            </a:pPr>
            <a:r>
              <a:rPr sz="980" b="1">
                <a:solidFill>
                  <a:srgbClr val="E88C00"/>
                </a:solidFill>
                <a:latin typeface="Calibri"/>
              </a:rPr>
              <a:t>▪  </a:t>
            </a:r>
            <a:r>
              <a:rPr sz="980">
                <a:solidFill>
                  <a:srgbClr val="1A1A2E"/>
                </a:solidFill>
                <a:latin typeface="Calibri"/>
              </a:rPr>
              <a:t>Built for offline scanning, not for blocking a live production message</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6" name="Rounded Rectangle 15"/>
          <p:cNvSpPr/>
          <p:nvPr/>
        </p:nvSpPr>
        <p:spPr>
          <a:xfrm>
            <a:off x="9405518"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05518"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8" name="Rounded Rectangle 17"/>
          <p:cNvSpPr/>
          <p:nvPr/>
        </p:nvSpPr>
        <p:spPr>
          <a:xfrm>
            <a:off x="10343692"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43692"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20" name="Rounded Rectangle 19"/>
          <p:cNvSpPr/>
          <p:nvPr/>
        </p:nvSpPr>
        <p:spPr>
          <a:xfrm>
            <a:off x="7315200" y="1773936"/>
            <a:ext cx="4343400" cy="292608"/>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RED-TEAM TESTING</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Evaluation/Testing, Orchestration, Model</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NVIDIA</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A strong, well-respected offline scanner for AFNI's pre-release security testing stage.</a:t>
            </a:r>
          </a:p>
        </p:txBody>
      </p:sp>
      <p:sp>
        <p:nvSpPr>
          <p:cNvPr id="38" name="TextBox 37"/>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reusing one detector is easy; the CLI/harness/plugin-cache system is the real design centre and expects a full Generator adapter</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NVIDIA garak</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18A7E"/>
                </a:solidFill>
                <a:latin typeface="Calibri"/>
              </a:rPr>
              <a:t>REPOSITORY 10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Giskard OSS (v3)</a:t>
            </a:r>
          </a:p>
        </p:txBody>
      </p:sp>
      <p:sp>
        <p:nvSpPr>
          <p:cNvPr id="6" name="Rectangle 5"/>
          <p:cNvSpPr/>
          <p:nvPr/>
        </p:nvSpPr>
        <p:spPr>
          <a:xfrm>
            <a:off x="502920" y="1207008"/>
            <a:ext cx="2011680" cy="32004"/>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testing framework for AI agents that both grades answer quality (is it grounded, toxic, relevant?) and auto-generates attack scenarios. It can also plug in NVIDIA garak's and DeepTeam's attacks so you get their coverage inside one tool.</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AI-judge checks for groundedness, contradiction, toxicity, and answer relevance</a:t>
            </a:r>
          </a:p>
          <a:p>
            <a:pPr>
              <a:lnSpc>
                <a:spcPct val="100000"/>
              </a:lnSpc>
              <a:spcAft>
                <a:spcPts val="500"/>
              </a:spcAft>
            </a:pPr>
            <a:r>
              <a:rPr sz="1019" b="1">
                <a:solidFill>
                  <a:srgbClr val="1B9AAA"/>
                </a:solidFill>
                <a:latin typeface="Calibri"/>
              </a:rPr>
              <a:t>▪  </a:t>
            </a:r>
            <a:r>
              <a:rPr sz="1019">
                <a:solidFill>
                  <a:srgbClr val="1A1A2E"/>
                </a:solidFill>
                <a:latin typeface="Calibri"/>
              </a:rPr>
              <a:t>Free, no-AI-cost checks too: exact match, JSON validity, readability score</a:t>
            </a:r>
          </a:p>
          <a:p>
            <a:pPr>
              <a:lnSpc>
                <a:spcPct val="100000"/>
              </a:lnSpc>
              <a:spcAft>
                <a:spcPts val="500"/>
              </a:spcAft>
            </a:pPr>
            <a:r>
              <a:rPr sz="1019" b="1">
                <a:solidFill>
                  <a:srgbClr val="1B9AAA"/>
                </a:solidFill>
                <a:latin typeface="Calibri"/>
              </a:rPr>
              <a:t>▪  </a:t>
            </a:r>
            <a:r>
              <a:rPr sz="1019">
                <a:solidFill>
                  <a:srgbClr val="1A1A2E"/>
                </a:solidFill>
                <a:latin typeface="Calibri"/>
              </a:rPr>
              <a:t>Auto-generates jailbreak and prompt-injection test scenarios</a:t>
            </a:r>
          </a:p>
          <a:p>
            <a:pPr>
              <a:lnSpc>
                <a:spcPct val="100000"/>
              </a:lnSpc>
              <a:spcAft>
                <a:spcPts val="500"/>
              </a:spcAft>
            </a:pPr>
            <a:r>
              <a:rPr sz="1019" b="1">
                <a:solidFill>
                  <a:srgbClr val="1B9AAA"/>
                </a:solidFill>
                <a:latin typeface="Calibri"/>
              </a:rPr>
              <a:t>▪  </a:t>
            </a:r>
            <a:r>
              <a:rPr sz="1019">
                <a:solidFill>
                  <a:srgbClr val="1A1A2E"/>
                </a:solidFill>
                <a:latin typeface="Calibri"/>
              </a:rPr>
              <a:t>Bridges to garak and DeepTeam so their attack libraries run inside the same reporting format</a:t>
            </a:r>
          </a:p>
          <a:p>
            <a:pPr>
              <a:lnSpc>
                <a:spcPct val="100000"/>
              </a:lnSpc>
              <a:spcAft>
                <a:spcPts val="500"/>
              </a:spcAft>
            </a:pPr>
            <a:r>
              <a:rPr sz="1019" b="1">
                <a:solidFill>
                  <a:srgbClr val="1B9AAA"/>
                </a:solidFill>
                <a:latin typeface="Calibri"/>
              </a:rPr>
              <a:t>▪  </a:t>
            </a:r>
            <a:r>
              <a:rPr sz="1019">
                <a:solidFill>
                  <a:srgbClr val="1A1A2E"/>
                </a:solidFill>
                <a:latin typeface="Calibri"/>
              </a:rPr>
              <a:t>Tags every finding with the matching OWASP Top-10 risk number</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This is a brand-new rewrite (marked 'Beta'); the older, more proven version is no longer maintained</a:t>
            </a:r>
          </a:p>
          <a:p>
            <a:pPr>
              <a:lnSpc>
                <a:spcPct val="100000"/>
              </a:lnSpc>
              <a:spcAft>
                <a:spcPts val="400"/>
              </a:spcAft>
            </a:pPr>
            <a:r>
              <a:rPr sz="980" b="1">
                <a:solidFill>
                  <a:srgbClr val="E88C00"/>
                </a:solidFill>
                <a:latin typeface="Calibri"/>
              </a:rPr>
              <a:t>▪  </a:t>
            </a:r>
            <a:r>
              <a:rPr sz="980">
                <a:solidFill>
                  <a:srgbClr val="1A1A2E"/>
                </a:solidFill>
                <a:latin typeface="Calibri"/>
              </a:rPr>
              <a:t>Its jailbreak/bias/PII coverage mostly comes from garak/DeepTeam add-ons, not its own code</a:t>
            </a:r>
          </a:p>
          <a:p>
            <a:pPr>
              <a:lnSpc>
                <a:spcPct val="100000"/>
              </a:lnSpc>
              <a:spcAft>
                <a:spcPts val="400"/>
              </a:spcAft>
            </a:pPr>
            <a:r>
              <a:rPr sz="980" b="1">
                <a:solidFill>
                  <a:srgbClr val="E88C00"/>
                </a:solidFill>
                <a:latin typeface="Calibri"/>
              </a:rPr>
              <a:t>▪  </a:t>
            </a:r>
            <a:r>
              <a:rPr sz="980">
                <a:solidFill>
                  <a:srgbClr val="1A1A2E"/>
                </a:solidFill>
                <a:latin typeface="Calibri"/>
              </a:rPr>
              <a:t>No runtime blocking - it's for testing, not live enforcement</a:t>
            </a:r>
          </a:p>
        </p:txBody>
      </p:sp>
      <p:sp>
        <p:nvSpPr>
          <p:cNvPr id="12" name="Rounded Rectangle 11"/>
          <p:cNvSpPr/>
          <p:nvPr/>
        </p:nvSpPr>
        <p:spPr>
          <a:xfrm>
            <a:off x="7315200"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4" name="Rounded Rectangle 13"/>
          <p:cNvSpPr/>
          <p:nvPr/>
        </p:nvSpPr>
        <p:spPr>
          <a:xfrm>
            <a:off x="8681313"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1313"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6" name="Rounded Rectangle 15"/>
          <p:cNvSpPr/>
          <p:nvPr/>
        </p:nvSpPr>
        <p:spPr>
          <a:xfrm>
            <a:off x="9690811"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0811"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8" name="Rounded Rectangle 17"/>
          <p:cNvSpPr/>
          <p:nvPr/>
        </p:nvSpPr>
        <p:spPr>
          <a:xfrm>
            <a:off x="10771632"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771632"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20" name="Rounded Rectangle 19"/>
          <p:cNvSpPr/>
          <p:nvPr/>
        </p:nvSpPr>
        <p:spPr>
          <a:xfrm>
            <a:off x="7315200" y="1773936"/>
            <a:ext cx="4343400" cy="292608"/>
          </a:xfrm>
          <a:prstGeom prst="roundRect">
            <a:avLst>
              <a:gd name="adj" fmla="val 22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 + TESTING</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Model, Evaluation/Testing</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Giskard AI</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A useful hub that combines several testing tools, but still early-stage - watch before betting on it long term.</a:t>
            </a:r>
          </a:p>
        </p:txBody>
      </p:sp>
      <p:sp>
        <p:nvSpPr>
          <p:cNvPr id="38" name="TextBox 37"/>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clean Scenario/Suite API, but the v3 rewrite is Beta and much of its attack coverage is borrowed via garak/DeepTeam bridges</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Giskard OSS (v3)</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11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NVIDIA NeMo Guardrails</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NVIDIA's framework for wiring together many different safety checks around a chatbot at runtime - before the user's message reaches the AI, and before the AI's answer reaches the user. It comes with about 35 ready-made checks and can also call 15+ outside security vendors.</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Built-in PII detection and masking (using Microsoft Presidio)</a:t>
            </a:r>
          </a:p>
          <a:p>
            <a:pPr>
              <a:lnSpc>
                <a:spcPct val="100000"/>
              </a:lnSpc>
              <a:spcAft>
                <a:spcPts val="500"/>
              </a:spcAft>
            </a:pPr>
            <a:r>
              <a:rPr sz="1019" b="1">
                <a:solidFill>
                  <a:srgbClr val="1B9AAA"/>
                </a:solidFill>
                <a:latin typeface="Calibri"/>
              </a:rPr>
              <a:t>▪  </a:t>
            </a:r>
            <a:r>
              <a:rPr sz="1019">
                <a:solidFill>
                  <a:srgbClr val="1A1A2E"/>
                </a:solidFill>
                <a:latin typeface="Calibri"/>
              </a:rPr>
              <a:t>Jailbreak detection using both quick statistical tricks and a trained model</a:t>
            </a:r>
          </a:p>
          <a:p>
            <a:pPr>
              <a:lnSpc>
                <a:spcPct val="100000"/>
              </a:lnSpc>
              <a:spcAft>
                <a:spcPts val="500"/>
              </a:spcAft>
            </a:pPr>
            <a:r>
              <a:rPr sz="1019" b="1">
                <a:solidFill>
                  <a:srgbClr val="1B9AAA"/>
                </a:solidFill>
                <a:latin typeface="Calibri"/>
              </a:rPr>
              <a:t>▪  </a:t>
            </a:r>
            <a:r>
              <a:rPr sz="1019">
                <a:solidFill>
                  <a:srgbClr val="1A1A2E"/>
                </a:solidFill>
                <a:latin typeface="Calibri"/>
              </a:rPr>
              <a:t>Content-safety and 'is this answer grounded in the facts' checks using an AI judge</a:t>
            </a:r>
          </a:p>
          <a:p>
            <a:pPr>
              <a:lnSpc>
                <a:spcPct val="100000"/>
              </a:lnSpc>
              <a:spcAft>
                <a:spcPts val="500"/>
              </a:spcAft>
            </a:pPr>
            <a:r>
              <a:rPr sz="1019" b="1">
                <a:solidFill>
                  <a:srgbClr val="1B9AAA"/>
                </a:solidFill>
                <a:latin typeface="Calibri"/>
              </a:rPr>
              <a:t>▪  </a:t>
            </a:r>
            <a:r>
              <a:rPr sz="1019">
                <a:solidFill>
                  <a:srgbClr val="1A1A2E"/>
                </a:solidFill>
                <a:latin typeface="Calibri"/>
              </a:rPr>
              <a:t>A simple rule language (Colang) to design exactly how checks fire and in what order</a:t>
            </a:r>
          </a:p>
          <a:p>
            <a:pPr>
              <a:lnSpc>
                <a:spcPct val="100000"/>
              </a:lnSpc>
              <a:spcAft>
                <a:spcPts val="500"/>
              </a:spcAft>
            </a:pPr>
            <a:r>
              <a:rPr sz="1019" b="1">
                <a:solidFill>
                  <a:srgbClr val="1B9AAA"/>
                </a:solidFill>
                <a:latin typeface="Calibri"/>
              </a:rPr>
              <a:t>▪  </a:t>
            </a:r>
            <a:r>
              <a:rPr sz="1019">
                <a:solidFill>
                  <a:srgbClr val="1A1A2E"/>
                </a:solidFill>
                <a:latin typeface="Calibri"/>
              </a:rPr>
              <a:t>Ready-made connectors to ~25+ paid security vendors (Cisco, Fiddler, Patronus AI, and more)</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If the jailbreak-detection service goes down, it lets requests through instead of blocking them by default</a:t>
            </a:r>
          </a:p>
          <a:p>
            <a:pPr>
              <a:lnSpc>
                <a:spcPct val="100000"/>
              </a:lnSpc>
              <a:spcAft>
                <a:spcPts val="400"/>
              </a:spcAft>
            </a:pPr>
            <a:r>
              <a:rPr sz="980" b="1">
                <a:solidFill>
                  <a:srgbClr val="E88C00"/>
                </a:solidFill>
                <a:latin typeface="Calibri"/>
              </a:rPr>
              <a:t>▪  </a:t>
            </a:r>
            <a:r>
              <a:rPr sz="980">
                <a:solidFill>
                  <a:srgbClr val="1A1A2E"/>
                </a:solidFill>
                <a:latin typeface="Calibri"/>
              </a:rPr>
              <a:t>The maintainers openly publish that the fast built-in jailbreak check only catches about 31% of attacks</a:t>
            </a:r>
          </a:p>
          <a:p>
            <a:pPr>
              <a:lnSpc>
                <a:spcPct val="100000"/>
              </a:lnSpc>
              <a:spcAft>
                <a:spcPts val="400"/>
              </a:spcAft>
            </a:pPr>
            <a:r>
              <a:rPr sz="980" b="1">
                <a:solidFill>
                  <a:srgbClr val="E88C00"/>
                </a:solidFill>
                <a:latin typeface="Calibri"/>
              </a:rPr>
              <a:t>▪  </a:t>
            </a:r>
            <a:r>
              <a:rPr sz="980">
                <a:solidFill>
                  <a:srgbClr val="1A1A2E"/>
                </a:solidFill>
                <a:latin typeface="Calibri"/>
              </a:rPr>
              <a:t>Many of the strongest checks (content safety, groundedness) need an AI model configured to judge them</a:t>
            </a:r>
          </a:p>
          <a:p>
            <a:pPr>
              <a:lnSpc>
                <a:spcPct val="100000"/>
              </a:lnSpc>
              <a:spcAft>
                <a:spcPts val="400"/>
              </a:spcAft>
            </a:pPr>
            <a:r>
              <a:rPr sz="980" b="1">
                <a:solidFill>
                  <a:srgbClr val="E88C00"/>
                </a:solidFill>
                <a:latin typeface="Calibri"/>
              </a:rPr>
              <a:t>▪  </a:t>
            </a:r>
            <a:r>
              <a:rPr sz="980">
                <a:solidFill>
                  <a:srgbClr val="1A1A2E"/>
                </a:solidFill>
                <a:latin typeface="Calibri"/>
              </a:rPr>
              <a:t>NVIDIA NIM enterprise safety models report 0.79-0.88 F1 with +100-300ms latency, and the OSS self-managed server has no built-in high availability - production HA needs paid NVIDIA AI Enterprise (~$4,500/GPU/yr list).</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6" name="Rounded Rectangle 15"/>
          <p:cNvSpPr/>
          <p:nvPr/>
        </p:nvSpPr>
        <p:spPr>
          <a:xfrm>
            <a:off x="9262872"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2872"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8" name="Rounded Rectangle 17"/>
          <p:cNvSpPr/>
          <p:nvPr/>
        </p:nvSpPr>
        <p:spPr>
          <a:xfrm>
            <a:off x="10343692"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43692"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20" name="Rounded Rectangle 19"/>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Library, Model</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NVIDIA</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A strong candidate as AFNI's central runtime 'traffic control' layer that other checks plug into.</a:t>
            </a:r>
          </a:p>
        </p:txBody>
      </p:sp>
      <p:sp>
        <p:nvSpPr>
          <p:cNvPr id="38" name="TextBox 37"/>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the Colang orchestration pattern is replicable in-house, but rebuilding NVIDIA's fine-tuned NemoGuard safety models needs a labelled dataset and training budget AFNI doesn't have</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NVIDIA NeMo Guardrails</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4A6380"/>
                </a:solidFill>
                <a:latin typeface="Calibri"/>
              </a:rPr>
              <a:t>REPOSITORY 12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Guardrails AI</a:t>
            </a:r>
          </a:p>
        </p:txBody>
      </p:sp>
      <p:sp>
        <p:nvSpPr>
          <p:cNvPr id="6" name="Rectangle 5"/>
          <p:cNvSpPr/>
          <p:nvPr/>
        </p:nvSpPr>
        <p:spPr>
          <a:xfrm>
            <a:off x="502920" y="1207008"/>
            <a:ext cx="2011680" cy="32004"/>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framework for wrapping any AI call with 'validators' - checks that run before and after the AI responds, with automatic re-asking if something fails. Important: this repo is just the engine; the actual checks (PII, toxicity, etc.) are separate downloadable add-ons.</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Automatically re-asks the AI with the exact error when a check fails, instead of just rejecting</a:t>
            </a:r>
          </a:p>
          <a:p>
            <a:pPr>
              <a:lnSpc>
                <a:spcPct val="100000"/>
              </a:lnSpc>
              <a:spcAft>
                <a:spcPts val="500"/>
              </a:spcAft>
            </a:pPr>
            <a:r>
              <a:rPr sz="1019" b="1">
                <a:solidFill>
                  <a:srgbClr val="1B9AAA"/>
                </a:solidFill>
                <a:latin typeface="Calibri"/>
              </a:rPr>
              <a:t>▪  </a:t>
            </a:r>
            <a:r>
              <a:rPr sz="1019">
                <a:solidFill>
                  <a:srgbClr val="1A1A2E"/>
                </a:solidFill>
                <a:latin typeface="Calibri"/>
              </a:rPr>
              <a:t>Seven ways to react to a failed check: fix it, filter it, block it, or raise an error, among others</a:t>
            </a:r>
          </a:p>
          <a:p>
            <a:pPr>
              <a:lnSpc>
                <a:spcPct val="100000"/>
              </a:lnSpc>
              <a:spcAft>
                <a:spcPts val="500"/>
              </a:spcAft>
            </a:pPr>
            <a:r>
              <a:rPr sz="1019" b="1">
                <a:solidFill>
                  <a:srgbClr val="1B9AAA"/>
                </a:solidFill>
                <a:latin typeface="Calibri"/>
              </a:rPr>
              <a:t>▪  </a:t>
            </a:r>
            <a:r>
              <a:rPr sz="1019">
                <a:solidFill>
                  <a:srgbClr val="1A1A2E"/>
                </a:solidFill>
                <a:latin typeface="Calibri"/>
              </a:rPr>
              <a:t>Works live even on streaming (word-by-word) responses</a:t>
            </a:r>
          </a:p>
          <a:p>
            <a:pPr>
              <a:lnSpc>
                <a:spcPct val="100000"/>
              </a:lnSpc>
              <a:spcAft>
                <a:spcPts val="500"/>
              </a:spcAft>
            </a:pPr>
            <a:r>
              <a:rPr sz="1019" b="1">
                <a:solidFill>
                  <a:srgbClr val="1B9AAA"/>
                </a:solidFill>
                <a:latin typeface="Calibri"/>
              </a:rPr>
              <a:t>▪  </a:t>
            </a:r>
            <a:r>
              <a:rPr sz="1019">
                <a:solidFill>
                  <a:srgbClr val="1A1A2E"/>
                </a:solidFill>
                <a:latin typeface="Calibri"/>
              </a:rPr>
              <a:t>Ships a ready-made server so it can sit in front of an existing OpenAI-style API with no code changes</a:t>
            </a:r>
          </a:p>
          <a:p>
            <a:pPr>
              <a:lnSpc>
                <a:spcPct val="100000"/>
              </a:lnSpc>
              <a:spcAft>
                <a:spcPts val="500"/>
              </a:spcAft>
            </a:pPr>
            <a:r>
              <a:rPr sz="1019" b="1">
                <a:solidFill>
                  <a:srgbClr val="1B9AAA"/>
                </a:solidFill>
                <a:latin typeface="Calibri"/>
              </a:rPr>
              <a:t>▪  </a:t>
            </a:r>
            <a:r>
              <a:rPr sz="1019">
                <a:solidFill>
                  <a:srgbClr val="1A1A2E"/>
                </a:solidFill>
                <a:latin typeface="Calibri"/>
              </a:rPr>
              <a:t>Records a full history of every check run, for audits</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Ships zero real checks itself - every named check (PII, toxicity, secrets, etc.) is a separate package to review and install</a:t>
            </a:r>
          </a:p>
          <a:p>
            <a:pPr>
              <a:lnSpc>
                <a:spcPct val="100000"/>
              </a:lnSpc>
              <a:spcAft>
                <a:spcPts val="400"/>
              </a:spcAft>
            </a:pPr>
            <a:r>
              <a:rPr sz="980" b="1">
                <a:solidFill>
                  <a:srgbClr val="E88C00"/>
                </a:solidFill>
                <a:latin typeface="Calibri"/>
              </a:rPr>
              <a:t>▪  </a:t>
            </a:r>
            <a:r>
              <a:rPr sz="980">
                <a:solidFill>
                  <a:srgbClr val="1A1A2E"/>
                </a:solidFill>
                <a:latin typeface="Calibri"/>
              </a:rPr>
              <a:t>Had a real security incident in 2026: a hacked maintainer account published a tampered version to the public package index</a:t>
            </a:r>
          </a:p>
          <a:p>
            <a:pPr>
              <a:lnSpc>
                <a:spcPct val="100000"/>
              </a:lnSpc>
              <a:spcAft>
                <a:spcPts val="400"/>
              </a:spcAft>
            </a:pPr>
            <a:r>
              <a:rPr sz="980" b="1">
                <a:solidFill>
                  <a:srgbClr val="E88C00"/>
                </a:solidFill>
                <a:latin typeface="Calibri"/>
              </a:rPr>
              <a:t>▪  </a:t>
            </a:r>
            <a:r>
              <a:rPr sz="980">
                <a:solidFill>
                  <a:srgbClr val="1A1A2E"/>
                </a:solidFill>
                <a:latin typeface="Calibri"/>
              </a:rPr>
              <a:t>Currently changing how its checks are distributed, so some older instructions no longer match reality</a:t>
            </a:r>
          </a:p>
          <a:p>
            <a:pPr>
              <a:lnSpc>
                <a:spcPct val="100000"/>
              </a:lnSpc>
              <a:spcAft>
                <a:spcPts val="400"/>
              </a:spcAft>
            </a:pPr>
            <a:r>
              <a:rPr sz="980" b="1">
                <a:solidFill>
                  <a:srgbClr val="E88C00"/>
                </a:solidFill>
                <a:latin typeface="Calibri"/>
              </a:rPr>
              <a:t>▪  </a:t>
            </a:r>
            <a:r>
              <a:rPr sz="980">
                <a:solidFill>
                  <a:srgbClr val="1A1A2E"/>
                </a:solidFill>
                <a:latin typeface="Calibri"/>
              </a:rPr>
              <a:t>The Hub and its free hosted inference are being retired on August 6, 2026, and only about 78% of validators had migrated to plain PyPI packages as of this review - a real near-term compatibility risk.</a:t>
            </a:r>
          </a:p>
        </p:txBody>
      </p:sp>
      <p:sp>
        <p:nvSpPr>
          <p:cNvPr id="12" name="Rounded Rectangle 11"/>
          <p:cNvSpPr/>
          <p:nvPr/>
        </p:nvSpPr>
        <p:spPr>
          <a:xfrm>
            <a:off x="7315200" y="1371600"/>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14" name="Rounded Rectangle 13"/>
          <p:cNvSpPr/>
          <p:nvPr/>
        </p:nvSpPr>
        <p:spPr>
          <a:xfrm>
            <a:off x="8752636" y="1371600"/>
            <a:ext cx="1327708"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52636"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Explainability</a:t>
            </a:r>
          </a:p>
        </p:txBody>
      </p:sp>
      <p:sp>
        <p:nvSpPr>
          <p:cNvPr id="16" name="Rounded Rectangle 15"/>
          <p:cNvSpPr/>
          <p:nvPr/>
        </p:nvSpPr>
        <p:spPr>
          <a:xfrm>
            <a:off x="10190073"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90073"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8" name="Rounded Rectangle 17"/>
          <p:cNvSpPr/>
          <p:nvPr/>
        </p:nvSpPr>
        <p:spPr>
          <a:xfrm>
            <a:off x="7315200" y="1682496"/>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682496"/>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20" name="Rounded Rectangle 19"/>
          <p:cNvSpPr/>
          <p:nvPr/>
        </p:nvSpPr>
        <p:spPr>
          <a:xfrm>
            <a:off x="7315200" y="2084832"/>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2084832"/>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2" name="Rounded Rectangle 21"/>
          <p:cNvSpPr/>
          <p:nvPr/>
        </p:nvSpPr>
        <p:spPr>
          <a:xfrm>
            <a:off x="7315200" y="2523744"/>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Library</a:t>
            </a:r>
          </a:p>
        </p:txBody>
      </p:sp>
      <p:sp>
        <p:nvSpPr>
          <p:cNvPr id="25" name="TextBox 24"/>
          <p:cNvSpPr txBox="1"/>
          <p:nvPr/>
        </p:nvSpPr>
        <p:spPr>
          <a:xfrm>
            <a:off x="9532620"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7" name="TextBox 26"/>
          <p:cNvSpPr txBox="1"/>
          <p:nvPr/>
        </p:nvSpPr>
        <p:spPr>
          <a:xfrm>
            <a:off x="7461504"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Guardrails AI, Inc.</a:t>
            </a:r>
          </a:p>
        </p:txBody>
      </p:sp>
      <p:sp>
        <p:nvSpPr>
          <p:cNvPr id="31" name="TextBox 30"/>
          <p:cNvSpPr txBox="1"/>
          <p:nvPr/>
        </p:nvSpPr>
        <p:spPr>
          <a:xfrm>
            <a:off x="7461504"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5" name="Rounded Rectangle 34"/>
          <p:cNvSpPr/>
          <p:nvPr/>
        </p:nvSpPr>
        <p:spPr>
          <a:xfrm>
            <a:off x="7315200" y="4398264"/>
            <a:ext cx="4343400" cy="2029967"/>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480560"/>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690872"/>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Usable as an alternative runtime engine to NeMo Guardrails, but pin versions carefully given its supply-chain incident.</a:t>
            </a:r>
          </a:p>
        </p:txBody>
      </p:sp>
      <p:sp>
        <p:nvSpPr>
          <p:cNvPr id="38" name="TextBox 37"/>
          <p:cNvSpPr txBox="1"/>
          <p:nvPr/>
        </p:nvSpPr>
        <p:spPr>
          <a:xfrm>
            <a:off x="7452360" y="5111496"/>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321808"/>
            <a:ext cx="4069080" cy="1106423"/>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Easy - the Guard/validator/reask pattern is simple to replicate, but there is little reason to; adopt the free core and track the Aug 2026 Hub migration</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Guardrails AI</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13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hai-guardrails</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JavaScript/TypeScript guardrail library with 10 guards (prompt injection, PII, secrets, toxicity, hate speech, bias, adult content, copyright, profanity, prompt leakage). Each guard can run as a simple keyword check, a regex check, or an AI-judge check.</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10 default PII types including US SSN, credit card, and several healthcare ID formats</a:t>
            </a:r>
          </a:p>
          <a:p>
            <a:pPr>
              <a:lnSpc>
                <a:spcPct val="100000"/>
              </a:lnSpc>
              <a:spcAft>
                <a:spcPts val="500"/>
              </a:spcAft>
            </a:pPr>
            <a:r>
              <a:rPr sz="1019" b="1">
                <a:solidFill>
                  <a:srgbClr val="1B9AAA"/>
                </a:solidFill>
                <a:latin typeface="Calibri"/>
              </a:rPr>
              <a:t>▪  </a:t>
            </a:r>
            <a:r>
              <a:rPr sz="1019">
                <a:solidFill>
                  <a:srgbClr val="1A1A2E"/>
                </a:solidFill>
                <a:latin typeface="Calibri"/>
              </a:rPr>
              <a:t>24 different secret/credential patterns (AWS keys, GitHub tokens, GitLab tokens, etc.) with a smart filter to cut false alarms</a:t>
            </a:r>
          </a:p>
          <a:p>
            <a:pPr>
              <a:lnSpc>
                <a:spcPct val="100000"/>
              </a:lnSpc>
              <a:spcAft>
                <a:spcPts val="500"/>
              </a:spcAft>
            </a:pPr>
            <a:r>
              <a:rPr sz="1019" b="1">
                <a:solidFill>
                  <a:srgbClr val="1B9AAA"/>
                </a:solidFill>
                <a:latin typeface="Calibri"/>
              </a:rPr>
              <a:t>▪  </a:t>
            </a:r>
            <a:r>
              <a:rPr sz="1019">
                <a:solidFill>
                  <a:srgbClr val="1A1A2E"/>
                </a:solidFill>
                <a:latin typeface="Calibri"/>
              </a:rPr>
              <a:t>A generic 'build your own AI-judge check' framework used for all its content-safety guards</a:t>
            </a:r>
          </a:p>
          <a:p>
            <a:pPr>
              <a:lnSpc>
                <a:spcPct val="100000"/>
              </a:lnSpc>
              <a:spcAft>
                <a:spcPts val="500"/>
              </a:spcAft>
            </a:pPr>
            <a:r>
              <a:rPr sz="1019" b="1">
                <a:solidFill>
                  <a:srgbClr val="1B9AAA"/>
                </a:solidFill>
                <a:latin typeface="Calibri"/>
              </a:rPr>
              <a:t>▪  </a:t>
            </a:r>
            <a:r>
              <a:rPr sz="1019">
                <a:solidFill>
                  <a:srgbClr val="1A1A2E"/>
                </a:solidFill>
                <a:latin typeface="Calibri"/>
              </a:rPr>
              <a:t>Choice of detection style per guard: keyword, regex, or AI judge</a:t>
            </a:r>
          </a:p>
          <a:p>
            <a:pPr>
              <a:lnSpc>
                <a:spcPct val="100000"/>
              </a:lnSpc>
              <a:spcAft>
                <a:spcPts val="500"/>
              </a:spcAft>
            </a:pPr>
            <a:r>
              <a:rPr sz="1019" b="1">
                <a:solidFill>
                  <a:srgbClr val="1B9AAA"/>
                </a:solidFill>
                <a:latin typeface="Calibri"/>
              </a:rPr>
              <a:t>▪  </a:t>
            </a:r>
            <a:r>
              <a:rPr sz="1019">
                <a:solidFill>
                  <a:srgbClr val="1A1A2E"/>
                </a:solidFill>
                <a:latin typeface="Calibri"/>
              </a:rPr>
              <a:t>Works with LangChain out of the box</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Almost no automated tests for accuracy - only one test file, and it only tests message selection logic</a:t>
            </a:r>
          </a:p>
          <a:p>
            <a:pPr>
              <a:lnSpc>
                <a:spcPct val="100000"/>
              </a:lnSpc>
              <a:spcAft>
                <a:spcPts val="400"/>
              </a:spcAft>
            </a:pPr>
            <a:r>
              <a:rPr sz="980" b="1">
                <a:solidFill>
                  <a:srgbClr val="E88C00"/>
                </a:solidFill>
                <a:latin typeface="Calibri"/>
              </a:rPr>
              <a:t>▪  </a:t>
            </a:r>
            <a:r>
              <a:rPr sz="980">
                <a:solidFill>
                  <a:srgbClr val="1A1A2E"/>
                </a:solidFill>
                <a:latin typeface="Calibri"/>
              </a:rPr>
              <a:t>Not related to Microsoft's Presidio despite a similar-sounding maintainer name</a:t>
            </a:r>
          </a:p>
          <a:p>
            <a:pPr>
              <a:lnSpc>
                <a:spcPct val="100000"/>
              </a:lnSpc>
              <a:spcAft>
                <a:spcPts val="400"/>
              </a:spcAft>
            </a:pPr>
            <a:r>
              <a:rPr sz="980" b="1">
                <a:solidFill>
                  <a:srgbClr val="E88C00"/>
                </a:solidFill>
                <a:latin typeface="Calibri"/>
              </a:rPr>
              <a:t>▪  </a:t>
            </a:r>
            <a:r>
              <a:rPr sz="980">
                <a:solidFill>
                  <a:srgbClr val="1A1A2E"/>
                </a:solidFill>
                <a:latin typeface="Calibri"/>
              </a:rPr>
              <a:t>Written in TypeScript/Node, so a Python backend needs a small bridge service to call it</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6" name="Rounded Rectangle 15"/>
          <p:cNvSpPr/>
          <p:nvPr/>
        </p:nvSpPr>
        <p:spPr>
          <a:xfrm>
            <a:off x="9262872"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2872"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8" name="Rounded Rectangle 17"/>
          <p:cNvSpPr/>
          <p:nvPr/>
        </p:nvSpPr>
        <p:spPr>
          <a:xfrm>
            <a:off x="10343692"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43692"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20" name="Rounded Rectangle 19"/>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Library, Model, Orchestration</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presidio-dev (independent,…</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A useful reference for its regex/secret patterns and AI-judge prompt designs, best ported into AFNI's Python stack.</a:t>
            </a:r>
          </a:p>
        </p:txBody>
      </p:sp>
      <p:sp>
        <p:nvSpPr>
          <p:cNvPr id="38" name="TextBox 37"/>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Easy - a small, well-factored TypeScript SDK, but needs a Node microservice bridge to call from AFNI's Python stack</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hai-guardrails</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14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Infosys Responsible AI Toolkit</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The most complete toolkit in this review - about 20 connected services covering privacy, safety, fairness, hallucination, and explainability all at once, plus an admin console and dashboard. This is the closest match to the toolkit Sai built at his previous company and is the natural backbone for AFNI's own build.</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One central dispatcher sends a message to about 15 checks at once and returns a single pass/fail with evidence for each - exactly the 'one-stop' pattern AFNI wants</a:t>
            </a:r>
          </a:p>
          <a:p>
            <a:pPr>
              <a:lnSpc>
                <a:spcPct val="100000"/>
              </a:lnSpc>
              <a:spcAft>
                <a:spcPts val="500"/>
              </a:spcAft>
            </a:pPr>
            <a:r>
              <a:rPr sz="1019" b="1">
                <a:solidFill>
                  <a:srgbClr val="1B9AAA"/>
                </a:solidFill>
                <a:latin typeface="Calibri"/>
              </a:rPr>
              <a:t>▪  </a:t>
            </a:r>
            <a:r>
              <a:rPr sz="1019">
                <a:solidFill>
                  <a:srgbClr val="1A1A2E"/>
                </a:solidFill>
                <a:latin typeface="Calibri"/>
              </a:rPr>
              <a:t>Its own locally-run AI models for toxicity, jailbreak, restricted topics, and gibberish - no per-request cloud cost</a:t>
            </a:r>
          </a:p>
          <a:p>
            <a:pPr>
              <a:lnSpc>
                <a:spcPct val="100000"/>
              </a:lnSpc>
              <a:spcAft>
                <a:spcPts val="500"/>
              </a:spcAft>
            </a:pPr>
            <a:r>
              <a:rPr sz="1019" b="1">
                <a:solidFill>
                  <a:srgbClr val="1B9AAA"/>
                </a:solidFill>
                <a:latin typeface="Calibri"/>
              </a:rPr>
              <a:t>▪  </a:t>
            </a:r>
            <a:r>
              <a:rPr sz="1019">
                <a:solidFill>
                  <a:srgbClr val="1A1A2E"/>
                </a:solidFill>
                <a:latin typeface="Calibri"/>
              </a:rPr>
              <a:t>Privacy engine covering 30 PII types across text, PDFs, Word/Excel/PowerPoint files, images, and even video</a:t>
            </a:r>
          </a:p>
          <a:p>
            <a:pPr>
              <a:lnSpc>
                <a:spcPct val="100000"/>
              </a:lnSpc>
              <a:spcAft>
                <a:spcPts val="500"/>
              </a:spcAft>
            </a:pPr>
            <a:r>
              <a:rPr sz="1019" b="1">
                <a:solidFill>
                  <a:srgbClr val="1B9AAA"/>
                </a:solidFill>
                <a:latin typeface="Calibri"/>
              </a:rPr>
              <a:t>▪  </a:t>
            </a:r>
            <a:r>
              <a:rPr sz="1019">
                <a:solidFill>
                  <a:srgbClr val="1A1A2E"/>
                </a:solidFill>
                <a:latin typeface="Calibri"/>
              </a:rPr>
              <a:t>Fairness engine combining AIF360 and Fairlearn behind one simple interface</a:t>
            </a:r>
          </a:p>
          <a:p>
            <a:pPr>
              <a:lnSpc>
                <a:spcPct val="100000"/>
              </a:lnSpc>
              <a:spcAft>
                <a:spcPts val="500"/>
              </a:spcAft>
            </a:pPr>
            <a:r>
              <a:rPr sz="1019" b="1">
                <a:solidFill>
                  <a:srgbClr val="1B9AAA"/>
                </a:solidFill>
                <a:latin typeface="Calibri"/>
              </a:rPr>
              <a:t>▪  </a:t>
            </a:r>
            <a:r>
              <a:rPr sz="1019">
                <a:solidFill>
                  <a:srgbClr val="1A1A2E"/>
                </a:solidFill>
                <a:latin typeface="Calibri"/>
              </a:rPr>
              <a:t>Hallucination scoring that blends AI grading with text-similarity checks, plus SHAP/LIME explainability</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This snapshot has its jailbreak-attack-simulation feature switched off/removed for this release</a:t>
            </a:r>
          </a:p>
          <a:p>
            <a:pPr>
              <a:lnSpc>
                <a:spcPct val="100000"/>
              </a:lnSpc>
              <a:spcAft>
                <a:spcPts val="400"/>
              </a:spcAft>
            </a:pPr>
            <a:r>
              <a:rPr sz="980" b="1">
                <a:solidFill>
                  <a:srgbClr val="E88C00"/>
                </a:solidFill>
                <a:latin typeface="Calibri"/>
              </a:rPr>
              <a:t>▪  </a:t>
            </a:r>
            <a:r>
              <a:rPr sz="980">
                <a:solidFill>
                  <a:srgbClr val="1A1A2E"/>
                </a:solidFill>
                <a:latin typeface="Calibri"/>
              </a:rPr>
              <a:t>No published accuracy numbers for its own custom-trained models</a:t>
            </a:r>
          </a:p>
          <a:p>
            <a:pPr>
              <a:lnSpc>
                <a:spcPct val="100000"/>
              </a:lnSpc>
              <a:spcAft>
                <a:spcPts val="400"/>
              </a:spcAft>
            </a:pPr>
            <a:r>
              <a:rPr sz="980" b="1">
                <a:solidFill>
                  <a:srgbClr val="E88C00"/>
                </a:solidFill>
                <a:latin typeface="Calibri"/>
              </a:rPr>
              <a:t>▪  </a:t>
            </a:r>
            <a:r>
              <a:rPr sz="980">
                <a:solidFill>
                  <a:srgbClr val="1A1A2E"/>
                </a:solidFill>
                <a:latin typeface="Calibri"/>
              </a:rPr>
              <a:t>Standing up the full ~20-service suite is a real infrastructure project, not a quick install</a:t>
            </a:r>
          </a:p>
          <a:p>
            <a:pPr>
              <a:lnSpc>
                <a:spcPct val="100000"/>
              </a:lnSpc>
              <a:spcAft>
                <a:spcPts val="400"/>
              </a:spcAft>
            </a:pPr>
            <a:r>
              <a:rPr sz="980" b="1">
                <a:solidFill>
                  <a:srgbClr val="E88C00"/>
                </a:solidFill>
                <a:latin typeface="Calibri"/>
              </a:rPr>
              <a:t>▪  </a:t>
            </a:r>
            <a:r>
              <a:rPr sz="980">
                <a:solidFill>
                  <a:srgbClr val="1A1A2E"/>
                </a:solidFill>
                <a:latin typeface="Calibri"/>
              </a:rPr>
              <a:t>Version drift across internal modules (one service pins openai SDK 1.52.2, another 0.28.0) plus hardcoded thresholds, with no vendor SLA on the OSS repo itself.</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6" name="Rounded Rectangle 15"/>
          <p:cNvSpPr/>
          <p:nvPr/>
        </p:nvSpPr>
        <p:spPr>
          <a:xfrm>
            <a:off x="9262872"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2872"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8" name="Rounded Rectangle 17"/>
          <p:cNvSpPr/>
          <p:nvPr/>
        </p:nvSpPr>
        <p:spPr>
          <a:xfrm>
            <a:off x="10343692"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43692"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20" name="Rounded Rectangle 19"/>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Model, Prompt/Template</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Infosys</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High</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612648"/>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Best treated as a reference architecture or a consulting-supported deployment, not a quick pip install - a strong Azure fit given its native Azure Blob Storage dependency, and the shape (not the code) to copy for AFNI's own build.</a:t>
            </a:r>
          </a:p>
        </p:txBody>
      </p:sp>
      <p:sp>
        <p:nvSpPr>
          <p:cNvPr id="38" name="TextBox 37"/>
          <p:cNvSpPr txBox="1"/>
          <p:nvPr/>
        </p:nvSpPr>
        <p:spPr>
          <a:xfrm>
            <a:off x="7452360" y="5084064"/>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294376"/>
            <a:ext cx="4069080" cy="1133856"/>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Hard - already OSS, so the real question is self-host TCO, not replication; standing up 20+ microservices, Elasticsearch, MongoDB and an Angular front end is a multi-week platform effort</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Infosys Responsible AI Toolkit</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15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JCB (Jailbreak with Cross-Behavior Attacks)</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university research project implementing one specific, very effective jailbreak attack method, built on top of the well-known HarmBench testing framework. It's a single attack technique with its own scoring, not a general toolkit.</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One advanced jailbreak method that learns from past successes to attack faster and better</a:t>
            </a:r>
          </a:p>
          <a:p>
            <a:pPr>
              <a:lnSpc>
                <a:spcPct val="100000"/>
              </a:lnSpc>
              <a:spcAft>
                <a:spcPts val="500"/>
              </a:spcAft>
            </a:pPr>
            <a:r>
              <a:rPr sz="1019" b="1">
                <a:solidFill>
                  <a:srgbClr val="1B9AAA"/>
                </a:solidFill>
                <a:latin typeface="Calibri"/>
              </a:rPr>
              <a:t>▪  </a:t>
            </a:r>
            <a:r>
              <a:rPr sz="1019">
                <a:solidFill>
                  <a:srgbClr val="1A1A2E"/>
                </a:solidFill>
                <a:latin typeface="Calibri"/>
              </a:rPr>
              <a:t>400 pre-written harmful test requests across 7 risk categories (weapons, cybercrime, misinformation, etc.)</a:t>
            </a:r>
          </a:p>
          <a:p>
            <a:pPr>
              <a:lnSpc>
                <a:spcPct val="100000"/>
              </a:lnSpc>
              <a:spcAft>
                <a:spcPts val="500"/>
              </a:spcAft>
            </a:pPr>
            <a:r>
              <a:rPr sz="1019" b="1">
                <a:solidFill>
                  <a:srgbClr val="1B9AAA"/>
                </a:solidFill>
                <a:latin typeface="Calibri"/>
              </a:rPr>
              <a:t>▪  </a:t>
            </a:r>
            <a:r>
              <a:rPr sz="1019">
                <a:solidFill>
                  <a:srgbClr val="1A1A2E"/>
                </a:solidFill>
                <a:latin typeface="Calibri"/>
              </a:rPr>
              <a:t>Uses a well-respected classifier model (from HarmBench) to score whether an attack truly succeeded</a:t>
            </a:r>
          </a:p>
          <a:p>
            <a:pPr>
              <a:lnSpc>
                <a:spcPct val="100000"/>
              </a:lnSpc>
              <a:spcAft>
                <a:spcPts val="500"/>
              </a:spcAft>
            </a:pPr>
            <a:r>
              <a:rPr sz="1019" b="1">
                <a:solidFill>
                  <a:srgbClr val="1B9AAA"/>
                </a:solidFill>
                <a:latin typeface="Calibri"/>
              </a:rPr>
              <a:t>▪  </a:t>
            </a:r>
            <a:r>
              <a:rPr sz="1019">
                <a:solidFill>
                  <a:srgbClr val="1A1A2E"/>
                </a:solidFill>
                <a:latin typeface="Calibri"/>
              </a:rPr>
              <a:t>Detects when a chatbot reproduces copyrighted lyrics or book text word-for-word</a:t>
            </a:r>
          </a:p>
          <a:p>
            <a:pPr>
              <a:lnSpc>
                <a:spcPct val="100000"/>
              </a:lnSpc>
              <a:spcAft>
                <a:spcPts val="500"/>
              </a:spcAft>
            </a:pPr>
            <a:r>
              <a:rPr sz="1019" b="1">
                <a:solidFill>
                  <a:srgbClr val="1B9AAA"/>
                </a:solidFill>
                <a:latin typeface="Calibri"/>
              </a:rPr>
              <a:t>▪  </a:t>
            </a:r>
            <a:r>
              <a:rPr sz="1019">
                <a:solidFill>
                  <a:srgbClr val="1A1A2E"/>
                </a:solidFill>
                <a:latin typeface="Calibri"/>
              </a:rPr>
              <a:t>Works against many AI providers, including local open-source models</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Single-purpose research code, not a maintained product - no automated tests at all</a:t>
            </a:r>
          </a:p>
          <a:p>
            <a:pPr>
              <a:lnSpc>
                <a:spcPct val="100000"/>
              </a:lnSpc>
              <a:spcAft>
                <a:spcPts val="400"/>
              </a:spcAft>
            </a:pPr>
            <a:r>
              <a:rPr sz="980" b="1">
                <a:solidFill>
                  <a:srgbClr val="E88C00"/>
                </a:solidFill>
                <a:latin typeface="Calibri"/>
              </a:rPr>
              <a:t>▪  </a:t>
            </a:r>
            <a:r>
              <a:rPr sz="980">
                <a:solidFill>
                  <a:srgbClr val="1A1A2E"/>
                </a:solidFill>
                <a:latin typeface="Calibri"/>
              </a:rPr>
              <a:t>Needs a paid AI judge model plus a large GPU-hosted classifier to get the 'real' accuracy score</a:t>
            </a:r>
          </a:p>
          <a:p>
            <a:pPr>
              <a:lnSpc>
                <a:spcPct val="100000"/>
              </a:lnSpc>
              <a:spcAft>
                <a:spcPts val="400"/>
              </a:spcAft>
            </a:pPr>
            <a:r>
              <a:rPr sz="980" b="1">
                <a:solidFill>
                  <a:srgbClr val="E88C00"/>
                </a:solidFill>
                <a:latin typeface="Calibri"/>
              </a:rPr>
              <a:t>▪  </a:t>
            </a:r>
            <a:r>
              <a:rPr sz="980">
                <a:solidFill>
                  <a:srgbClr val="1A1A2E"/>
                </a:solidFill>
                <a:latin typeface="Calibri"/>
              </a:rPr>
              <a:t>File paths are hard-coded, so it only runs cleanly from its own folder</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6" name="Rounded Rectangle 15"/>
          <p:cNvSpPr/>
          <p:nvPr/>
        </p:nvSpPr>
        <p:spPr>
          <a:xfrm>
            <a:off x="9690811" y="1371600"/>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0811"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18" name="Rounded Rectangle 17"/>
          <p:cNvSpPr/>
          <p:nvPr/>
        </p:nvSpPr>
        <p:spPr>
          <a:xfrm>
            <a:off x="7315200" y="1773936"/>
            <a:ext cx="4343400" cy="292608"/>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RED-TEAM TESTING</a:t>
            </a:r>
          </a:p>
        </p:txBody>
      </p:sp>
      <p:sp>
        <p:nvSpPr>
          <p:cNvPr id="20" name="Rounded Rectangle 19"/>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2" name="TextBox 21"/>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Evaluation/Testing</a:t>
            </a:r>
          </a:p>
        </p:txBody>
      </p:sp>
      <p:sp>
        <p:nvSpPr>
          <p:cNvPr id="23" name="TextBox 22"/>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4" name="TextBox 23"/>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3</a:t>
            </a:r>
          </a:p>
        </p:txBody>
      </p:sp>
      <p:sp>
        <p:nvSpPr>
          <p:cNvPr id="25" name="TextBox 24"/>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6" name="TextBox 25"/>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7" name="TextBox 26"/>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8" name="TextBox 27"/>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Academic (Vasudev Gohil,…</a:t>
            </a:r>
          </a:p>
        </p:txBody>
      </p:sp>
      <p:sp>
        <p:nvSpPr>
          <p:cNvPr id="29" name="TextBox 28"/>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0" name="TextBox 29"/>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High</a:t>
            </a:r>
          </a:p>
        </p:txBody>
      </p:sp>
      <p:sp>
        <p:nvSpPr>
          <p:cNvPr id="31" name="TextBox 30"/>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2" name="TextBox 31"/>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3" name="Rounded Rectangle 32"/>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5" name="TextBox 34"/>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Use only as an occasional deep stress-test of AFNI's defenses, not as a running service.</a:t>
            </a:r>
          </a:p>
        </p:txBody>
      </p:sp>
      <p:sp>
        <p:nvSpPr>
          <p:cNvPr id="36" name="TextBox 35"/>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7" name="TextBox 36"/>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Hard - heavy GPU plus paid-judge dependency to reproduce, and it exists to attack, not defend; useful only as an occasional external stress test</a:t>
            </a:r>
          </a:p>
        </p:txBody>
      </p:sp>
      <p:sp>
        <p:nvSpPr>
          <p:cNvPr id="38" name="Rectangle 3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0" name="TextBox 3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JCB (Jailbreak with Cross-Behavior Attacks)</a:t>
            </a:r>
          </a:p>
        </p:txBody>
      </p:sp>
      <p:sp>
        <p:nvSpPr>
          <p:cNvPr id="41" name="TextBox 4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16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LLMFuzzer</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very small, no-longer-maintained tool that sends two example attacks (a prompt-injection trick and a hidden-Base64 trick) to a chatbot API and checks if a keyword shows up in the reply. Useful mainly as a simple idea, not as real software to adopt.</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Config-file driven - point it at any chatbot API</a:t>
            </a:r>
          </a:p>
          <a:p>
            <a:pPr>
              <a:lnSpc>
                <a:spcPct val="100000"/>
              </a:lnSpc>
              <a:spcAft>
                <a:spcPts val="500"/>
              </a:spcAft>
            </a:pPr>
            <a:r>
              <a:rPr sz="1019" b="1">
                <a:solidFill>
                  <a:srgbClr val="1B9AAA"/>
                </a:solidFill>
                <a:latin typeface="Calibri"/>
              </a:rPr>
              <a:t>▪  </a:t>
            </a:r>
            <a:r>
              <a:rPr sz="1019">
                <a:solidFill>
                  <a:srgbClr val="1A1A2E"/>
                </a:solidFill>
                <a:latin typeface="Calibri"/>
              </a:rPr>
              <a:t>Add your own attacks as simple text files</a:t>
            </a:r>
          </a:p>
          <a:p>
            <a:pPr>
              <a:lnSpc>
                <a:spcPct val="100000"/>
              </a:lnSpc>
              <a:spcAft>
                <a:spcPts val="500"/>
              </a:spcAft>
            </a:pPr>
            <a:r>
              <a:rPr sz="1019" b="1">
                <a:solidFill>
                  <a:srgbClr val="1B9AAA"/>
                </a:solidFill>
                <a:latin typeface="Calibri"/>
              </a:rPr>
              <a:t>▪  </a:t>
            </a:r>
            <a:r>
              <a:rPr sz="1019">
                <a:solidFill>
                  <a:srgbClr val="1A1A2E"/>
                </a:solidFill>
                <a:latin typeface="Calibri"/>
              </a:rPr>
              <a:t>Very lightweight, no heavy dependencies</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Officially marked 'Unmaintained' by its own creator</a:t>
            </a:r>
          </a:p>
          <a:p>
            <a:pPr>
              <a:lnSpc>
                <a:spcPct val="100000"/>
              </a:lnSpc>
              <a:spcAft>
                <a:spcPts val="400"/>
              </a:spcAft>
            </a:pPr>
            <a:r>
              <a:rPr sz="980" b="1">
                <a:solidFill>
                  <a:srgbClr val="E88C00"/>
                </a:solidFill>
                <a:latin typeface="Calibri"/>
              </a:rPr>
              <a:t>▪  </a:t>
            </a:r>
            <a:r>
              <a:rPr sz="980">
                <a:solidFill>
                  <a:srgbClr val="1A1A2E"/>
                </a:solidFill>
                <a:latin typeface="Calibri"/>
              </a:rPr>
              <a:t>Ships only 2 example attacks total</a:t>
            </a:r>
          </a:p>
          <a:p>
            <a:pPr>
              <a:lnSpc>
                <a:spcPct val="100000"/>
              </a:lnSpc>
              <a:spcAft>
                <a:spcPts val="400"/>
              </a:spcAft>
            </a:pPr>
            <a:r>
              <a:rPr sz="980" b="1">
                <a:solidFill>
                  <a:srgbClr val="E88C00"/>
                </a:solidFill>
                <a:latin typeface="Calibri"/>
              </a:rPr>
              <a:t>▪  </a:t>
            </a:r>
            <a:r>
              <a:rPr sz="980">
                <a:solidFill>
                  <a:srgbClr val="1A1A2E"/>
                </a:solidFill>
                <a:latin typeface="Calibri"/>
              </a:rPr>
              <a:t>No test suite, no real reporting despite the settings mentioning reports</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16" name="Rounded Rectangle 15"/>
          <p:cNvSpPr/>
          <p:nvPr/>
        </p:nvSpPr>
        <p:spPr>
          <a:xfrm>
            <a:off x="7315200" y="1773936"/>
            <a:ext cx="4343400" cy="292608"/>
          </a:xfrm>
          <a:prstGeom prst="roundRect">
            <a:avLst>
              <a:gd name="adj" fmla="val 22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RED-TEAM TESTING</a:t>
            </a:r>
          </a:p>
        </p:txBody>
      </p:sp>
      <p:sp>
        <p:nvSpPr>
          <p:cNvPr id="18" name="Rounded Rectangle 17"/>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0" name="TextBox 19"/>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Library, Evaluation/Testing</a:t>
            </a:r>
          </a:p>
        </p:txBody>
      </p:sp>
      <p:sp>
        <p:nvSpPr>
          <p:cNvPr id="21" name="TextBox 20"/>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2" name="TextBox 21"/>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3</a:t>
            </a:r>
          </a:p>
        </p:txBody>
      </p:sp>
      <p:sp>
        <p:nvSpPr>
          <p:cNvPr id="23" name="TextBox 22"/>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4" name="TextBox 23"/>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Free / open-source</a:t>
            </a:r>
          </a:p>
        </p:txBody>
      </p:sp>
      <p:sp>
        <p:nvSpPr>
          <p:cNvPr id="25" name="TextBox 24"/>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6" name="TextBox 25"/>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Independent, officially…</a:t>
            </a:r>
          </a:p>
        </p:txBody>
      </p:sp>
      <p:sp>
        <p:nvSpPr>
          <p:cNvPr id="27" name="TextBox 26"/>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28" name="TextBox 27"/>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Low</a:t>
            </a:r>
          </a:p>
        </p:txBody>
      </p:sp>
      <p:sp>
        <p:nvSpPr>
          <p:cNvPr id="29" name="TextBox 28"/>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0" name="TextBox 29"/>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1" name="Rounded Rectangle 30"/>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3" name="TextBox 32"/>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Not worth adopting directly - just borrow its two attack ideas as seeds for a proper test suite.</a:t>
            </a:r>
          </a:p>
        </p:txBody>
      </p:sp>
      <p:sp>
        <p:nvSpPr>
          <p:cNvPr id="34" name="TextBox 33"/>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5" name="TextBox 34"/>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Easy - trivial to replicate, but not worth adopting as-is; borrow its two attack ideas as seeds instead</a:t>
            </a:r>
          </a:p>
        </p:txBody>
      </p:sp>
      <p:sp>
        <p:nvSpPr>
          <p:cNvPr id="36" name="Rectangle 35"/>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8" name="TextBox 37"/>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LLMFuzzer</a:t>
            </a:r>
          </a:p>
        </p:txBody>
      </p:sp>
      <p:sp>
        <p:nvSpPr>
          <p:cNvPr id="39" name="TextBox 38"/>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17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LLM Guard (Protect AI)</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Python library with about 15 input checks and 20 output checks that can be chained together around a chatbot call. It builds on Microsoft Presidio for PII and uses several purpose-trained AI models for jailbreak, toxicity, and fact-checking.</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PII detection and masking (built on Presidio) with the ability to safely restore the original text later</a:t>
            </a:r>
          </a:p>
          <a:p>
            <a:pPr>
              <a:lnSpc>
                <a:spcPct val="100000"/>
              </a:lnSpc>
              <a:spcAft>
                <a:spcPts val="500"/>
              </a:spcAft>
            </a:pPr>
            <a:r>
              <a:rPr sz="1019" b="1">
                <a:solidFill>
                  <a:srgbClr val="1B9AAA"/>
                </a:solidFill>
                <a:latin typeface="Calibri"/>
              </a:rPr>
              <a:t>▪  </a:t>
            </a:r>
            <a:r>
              <a:rPr sz="1019">
                <a:solidFill>
                  <a:srgbClr val="1A1A2E"/>
                </a:solidFill>
                <a:latin typeface="Calibri"/>
              </a:rPr>
              <a:t>A dedicated jailbreak-detection AI model tuned specifically for this purpose</a:t>
            </a:r>
          </a:p>
          <a:p>
            <a:pPr>
              <a:lnSpc>
                <a:spcPct val="100000"/>
              </a:lnSpc>
              <a:spcAft>
                <a:spcPts val="500"/>
              </a:spcAft>
            </a:pPr>
            <a:r>
              <a:rPr sz="1019" b="1">
                <a:solidFill>
                  <a:srgbClr val="1B9AAA"/>
                </a:solidFill>
                <a:latin typeface="Calibri"/>
              </a:rPr>
              <a:t>▪  </a:t>
            </a:r>
            <a:r>
              <a:rPr sz="1019">
                <a:solidFill>
                  <a:srgbClr val="1A1A2E"/>
                </a:solidFill>
                <a:latin typeface="Calibri"/>
              </a:rPr>
              <a:t>A 'is the answer actually grounded in the facts' checker using an AI entailment model</a:t>
            </a:r>
          </a:p>
          <a:p>
            <a:pPr>
              <a:lnSpc>
                <a:spcPct val="100000"/>
              </a:lnSpc>
              <a:spcAft>
                <a:spcPts val="500"/>
              </a:spcAft>
            </a:pPr>
            <a:r>
              <a:rPr sz="1019" b="1">
                <a:solidFill>
                  <a:srgbClr val="1B9AAA"/>
                </a:solidFill>
                <a:latin typeface="Calibri"/>
              </a:rPr>
              <a:t>▪  </a:t>
            </a:r>
            <a:r>
              <a:rPr sz="1019">
                <a:solidFill>
                  <a:srgbClr val="1A1A2E"/>
                </a:solidFill>
                <a:latin typeface="Calibri"/>
              </a:rPr>
              <a:t>Secret/credential scanning and code-block detection</a:t>
            </a:r>
          </a:p>
          <a:p>
            <a:pPr>
              <a:lnSpc>
                <a:spcPct val="100000"/>
              </a:lnSpc>
              <a:spcAft>
                <a:spcPts val="500"/>
              </a:spcAft>
            </a:pPr>
            <a:r>
              <a:rPr sz="1019" b="1">
                <a:solidFill>
                  <a:srgbClr val="1B9AAA"/>
                </a:solidFill>
                <a:latin typeface="Calibri"/>
              </a:rPr>
              <a:t>▪  </a:t>
            </a:r>
            <a:r>
              <a:rPr sz="1019">
                <a:solidFill>
                  <a:srgbClr val="1A1A2E"/>
                </a:solidFill>
                <a:latin typeface="Calibri"/>
              </a:rPr>
              <a:t>A ready-made web service so all checks can run as one shared gateway</a:t>
            </a:r>
          </a:p>
          <a:p>
            <a:pPr>
              <a:lnSpc>
                <a:spcPct val="100000"/>
              </a:lnSpc>
              <a:spcAft>
                <a:spcPts val="500"/>
              </a:spcAft>
            </a:pPr>
            <a:r>
              <a:rPr sz="1019" b="1">
                <a:solidFill>
                  <a:srgbClr val="1B9AAA"/>
                </a:solidFill>
                <a:latin typeface="Calibri"/>
              </a:rPr>
              <a:t>▪  </a:t>
            </a:r>
            <a:r>
              <a:rPr sz="1019">
                <a:solidFill>
                  <a:srgbClr val="1A1A2E"/>
                </a:solidFill>
                <a:latin typeface="Calibri"/>
              </a:rPr>
              <a:t>Dedicated bias scanner (valurank/distilroberta-bias) and toxicity scanner (unitary/unbiased-toxic-roberta) - a fairness check most competing gateways lack</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This project is officially archived - no longer actively maintained, so it won't get fixes for brand-new attack types</a:t>
            </a:r>
          </a:p>
          <a:p>
            <a:pPr>
              <a:lnSpc>
                <a:spcPct val="100000"/>
              </a:lnSpc>
              <a:spcAft>
                <a:spcPts val="400"/>
              </a:spcAft>
            </a:pPr>
            <a:r>
              <a:rPr sz="980" b="1">
                <a:solidFill>
                  <a:srgbClr val="E88C00"/>
                </a:solidFill>
                <a:latin typeface="Calibri"/>
              </a:rPr>
              <a:t>▪  </a:t>
            </a:r>
            <a:r>
              <a:rPr sz="980">
                <a:solidFill>
                  <a:srgbClr val="1A1A2E"/>
                </a:solidFill>
                <a:latin typeface="Calibri"/>
              </a:rPr>
              <a:t>Needs a decent-sized AI library stack (PyTorch/Transformers) and benefits from a GPU</a:t>
            </a:r>
          </a:p>
          <a:p>
            <a:pPr>
              <a:lnSpc>
                <a:spcPct val="100000"/>
              </a:lnSpc>
              <a:spcAft>
                <a:spcPts val="400"/>
              </a:spcAft>
            </a:pPr>
            <a:r>
              <a:rPr sz="980" b="1">
                <a:solidFill>
                  <a:srgbClr val="E88C00"/>
                </a:solidFill>
                <a:latin typeface="Calibri"/>
              </a:rPr>
              <a:t>▪  </a:t>
            </a:r>
            <a:r>
              <a:rPr sz="980">
                <a:solidFill>
                  <a:srgbClr val="1A1A2E"/>
                </a:solidFill>
                <a:latin typeface="Calibri"/>
              </a:rPr>
              <a:t>Default sensitivity settings will likely need retuning for AFNI's own traffic</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6" name="Rounded Rectangle 15"/>
          <p:cNvSpPr/>
          <p:nvPr/>
        </p:nvSpPr>
        <p:spPr>
          <a:xfrm>
            <a:off x="9262872"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2872"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8" name="Rounded Rectangle 17"/>
          <p:cNvSpPr/>
          <p:nvPr/>
        </p:nvSpPr>
        <p:spPr>
          <a:xfrm>
            <a:off x="10343692"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343692"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20" name="Rounded Rectangle 19"/>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Library, Model, Orchestration</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Free / open-source</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Protect AI</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470916"/>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Good building blocks for Privacy and Security, especially since it's built on Presidio like Sai's prior work - but plan to maintain it in-house since it's archived.</a:t>
            </a:r>
          </a:p>
        </p:txBody>
      </p:sp>
      <p:sp>
        <p:nvSpPr>
          <p:cNvPr id="38" name="TextBox 37"/>
          <p:cNvSpPr txBox="1"/>
          <p:nvPr/>
        </p:nvSpPr>
        <p:spPr>
          <a:xfrm>
            <a:off x="7452360" y="4942331"/>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152644"/>
            <a:ext cx="4069080" cy="1275588"/>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Easy - free, MIT-licensed, pip-installable; the only real work is standing up the FastAPI gateway and tuning which scanners run inline vs. sampled</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LLM Guard (Protect AI)</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18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OpenGuardrails Protocol (OGR)</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This is not a working guardrail at all - it's a shared 'rulebook' (a data format and naming standard) for how different guardrail tools should report their findings, so tools from different vendors can plug into the same system. It ships only toy example checks to demonstrate the format.</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A standard way to describe a risk finding: category, severity, confidence score, and exactly which part of the text to redact</a:t>
            </a:r>
          </a:p>
          <a:p>
            <a:pPr>
              <a:lnSpc>
                <a:spcPct val="100000"/>
              </a:lnSpc>
              <a:spcAft>
                <a:spcPts val="500"/>
              </a:spcAft>
            </a:pPr>
            <a:r>
              <a:rPr sz="1019" b="1">
                <a:solidFill>
                  <a:srgbClr val="1B9AAA"/>
                </a:solidFill>
                <a:latin typeface="Calibri"/>
              </a:rPr>
              <a:t>▪  </a:t>
            </a:r>
            <a:r>
              <a:rPr sz="1019">
                <a:solidFill>
                  <a:srgbClr val="1A1A2E"/>
                </a:solidFill>
                <a:latin typeface="Calibri"/>
              </a:rPr>
              <a:t>A shared list of risk category names (PII types, jailbreak, secrets, and more) that any vendor's tool can use</a:t>
            </a:r>
          </a:p>
          <a:p>
            <a:pPr>
              <a:lnSpc>
                <a:spcPct val="100000"/>
              </a:lnSpc>
              <a:spcAft>
                <a:spcPts val="500"/>
              </a:spcAft>
            </a:pPr>
            <a:r>
              <a:rPr sz="1019" b="1">
                <a:solidFill>
                  <a:srgbClr val="1B9AAA"/>
                </a:solidFill>
                <a:latin typeface="Calibri"/>
              </a:rPr>
              <a:t>▪  </a:t>
            </a:r>
            <a:r>
              <a:rPr sz="1019">
                <a:solidFill>
                  <a:srgbClr val="1A1A2E"/>
                </a:solidFill>
                <a:latin typeface="Calibri"/>
              </a:rPr>
              <a:t>A clear rule for what happens if a check times out: block everything, or let it through, your choice</a:t>
            </a:r>
          </a:p>
          <a:p>
            <a:pPr>
              <a:lnSpc>
                <a:spcPct val="100000"/>
              </a:lnSpc>
              <a:spcAft>
                <a:spcPts val="500"/>
              </a:spcAft>
            </a:pPr>
            <a:r>
              <a:rPr sz="1019" b="1">
                <a:solidFill>
                  <a:srgbClr val="1B9AAA"/>
                </a:solidFill>
                <a:latin typeface="Calibri"/>
              </a:rPr>
              <a:t>▪  </a:t>
            </a:r>
            <a:r>
              <a:rPr sz="1019">
                <a:solidFill>
                  <a:srgbClr val="1A1A2E"/>
                </a:solidFill>
                <a:latin typeface="Calibri"/>
              </a:rPr>
              <a:t>Sample connectors for popular chatbot gateways</a:t>
            </a:r>
          </a:p>
          <a:p>
            <a:pPr>
              <a:lnSpc>
                <a:spcPct val="100000"/>
              </a:lnSpc>
              <a:spcAft>
                <a:spcPts val="500"/>
              </a:spcAft>
            </a:pPr>
            <a:r>
              <a:rPr sz="1019" b="1">
                <a:solidFill>
                  <a:srgbClr val="1B9AAA"/>
                </a:solidFill>
                <a:latin typeface="Calibri"/>
              </a:rPr>
              <a:t>▪  </a:t>
            </a:r>
            <a:r>
              <a:rPr sz="1019">
                <a:solidFill>
                  <a:srgbClr val="1A1A2E"/>
                </a:solidFill>
                <a:latin typeface="Calibri"/>
              </a:rPr>
              <a:t>A small benchmark showing how weak plain keyword-matching is compared to smarter detection</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The maintainers state plainly: 'we do not build detection capability' - there is no real detector inside</a:t>
            </a:r>
          </a:p>
          <a:p>
            <a:pPr>
              <a:lnSpc>
                <a:spcPct val="100000"/>
              </a:lnSpc>
              <a:spcAft>
                <a:spcPts val="400"/>
              </a:spcAft>
            </a:pPr>
            <a:r>
              <a:rPr sz="980" b="1">
                <a:solidFill>
                  <a:srgbClr val="E88C00"/>
                </a:solidFill>
                <a:latin typeface="Calibri"/>
              </a:rPr>
              <a:t>▪  </a:t>
            </a:r>
            <a:r>
              <a:rPr sz="980">
                <a:solidFill>
                  <a:srgbClr val="1A1A2E"/>
                </a:solidFill>
                <a:latin typeface="Calibri"/>
              </a:rPr>
              <a:t>Still an early, unstable specification (version 0.8) that can change between releases</a:t>
            </a:r>
          </a:p>
          <a:p>
            <a:pPr>
              <a:lnSpc>
                <a:spcPct val="100000"/>
              </a:lnSpc>
              <a:spcAft>
                <a:spcPts val="400"/>
              </a:spcAft>
            </a:pPr>
            <a:r>
              <a:rPr sz="980" b="1">
                <a:solidFill>
                  <a:srgbClr val="E88C00"/>
                </a:solidFill>
                <a:latin typeface="Calibri"/>
              </a:rPr>
              <a:t>▪  </a:t>
            </a:r>
            <a:r>
              <a:rPr sz="980">
                <a:solidFill>
                  <a:srgbClr val="1A1A2E"/>
                </a:solidFill>
                <a:latin typeface="Calibri"/>
              </a:rPr>
              <a:t>Its example benchmark tests are extremely small (8-14 examples per category)</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6" name="Rounded Rectangle 15"/>
          <p:cNvSpPr/>
          <p:nvPr/>
        </p:nvSpPr>
        <p:spPr>
          <a:xfrm>
            <a:off x="9262872" y="1371600"/>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2872" y="1371600"/>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18" name="Rounded Rectangle 17"/>
          <p:cNvSpPr/>
          <p:nvPr/>
        </p:nvSpPr>
        <p:spPr>
          <a:xfrm>
            <a:off x="7315200" y="1682496"/>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682496"/>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20" name="Rounded Rectangle 19"/>
          <p:cNvSpPr/>
          <p:nvPr/>
        </p:nvSpPr>
        <p:spPr>
          <a:xfrm>
            <a:off x="7315200" y="2084832"/>
            <a:ext cx="4343400" cy="292608"/>
          </a:xfrm>
          <a:prstGeom prst="roundRect">
            <a:avLst>
              <a:gd name="adj" fmla="val 22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2084832"/>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 + TESTING</a:t>
            </a:r>
          </a:p>
        </p:txBody>
      </p:sp>
      <p:sp>
        <p:nvSpPr>
          <p:cNvPr id="22" name="Rounded Rectangle 21"/>
          <p:cNvSpPr/>
          <p:nvPr/>
        </p:nvSpPr>
        <p:spPr>
          <a:xfrm>
            <a:off x="7315200" y="2523744"/>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Evaluation/Testing, Library</a:t>
            </a:r>
          </a:p>
        </p:txBody>
      </p:sp>
      <p:sp>
        <p:nvSpPr>
          <p:cNvPr id="25" name="TextBox 24"/>
          <p:cNvSpPr txBox="1"/>
          <p:nvPr/>
        </p:nvSpPr>
        <p:spPr>
          <a:xfrm>
            <a:off x="9532620"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7" name="TextBox 26"/>
          <p:cNvSpPr txBox="1"/>
          <p:nvPr/>
        </p:nvSpPr>
        <p:spPr>
          <a:xfrm>
            <a:off x="7461504"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OpenGuardrails community</a:t>
            </a:r>
          </a:p>
        </p:txBody>
      </p:sp>
      <p:sp>
        <p:nvSpPr>
          <p:cNvPr id="31" name="TextBox 30"/>
          <p:cNvSpPr txBox="1"/>
          <p:nvPr/>
        </p:nvSpPr>
        <p:spPr>
          <a:xfrm>
            <a:off x="7461504"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5" name="Rounded Rectangle 34"/>
          <p:cNvSpPr/>
          <p:nvPr/>
        </p:nvSpPr>
        <p:spPr>
          <a:xfrm>
            <a:off x="7315200" y="4398264"/>
            <a:ext cx="4343400" cy="2029967"/>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480560"/>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690872"/>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Worth reading as a design reference for how AFNI should format guardrail results, not worth adopting as a dependency.</a:t>
            </a:r>
          </a:p>
        </p:txBody>
      </p:sp>
      <p:sp>
        <p:nvSpPr>
          <p:cNvPr id="38" name="TextBox 37"/>
          <p:cNvSpPr txBox="1"/>
          <p:nvPr/>
        </p:nvSpPr>
        <p:spPr>
          <a:xfrm>
            <a:off x="7452360" y="5111496"/>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321808"/>
            <a:ext cx="4069080" cy="1106423"/>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N/A, schema only - the maintainers themselves say 'we do not build detection capability'; there is a contract to adopt, not code to replicate</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OpenGuardrails Protocol (OGR)</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19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Promptfoo</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large, actively growing testing tool (now backed by OpenAI) that both checks everyday answer quality and red-teams a chatbot with over 100 attack types across privacy, bias, harmful content, and many industry-specific rules (medical, financial, insurance, and more).</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100+ ready-made red-team checks: PII leaks, bias, jailbreaks, SQL injection, and dozens of industry-specific rules</a:t>
            </a:r>
          </a:p>
          <a:p>
            <a:pPr>
              <a:lnSpc>
                <a:spcPct val="100000"/>
              </a:lnSpc>
              <a:spcAft>
                <a:spcPts val="500"/>
              </a:spcAft>
            </a:pPr>
            <a:r>
              <a:rPr sz="1019" b="1">
                <a:solidFill>
                  <a:srgbClr val="1B9AAA"/>
                </a:solidFill>
                <a:latin typeface="Calibri"/>
              </a:rPr>
              <a:t>▪  </a:t>
            </a:r>
            <a:r>
              <a:rPr sz="1019">
                <a:solidFill>
                  <a:srgbClr val="1A1A2E"/>
                </a:solidFill>
                <a:latin typeface="Calibri"/>
              </a:rPr>
              <a:t>30+ attack styles, including multi-turn jailbreaks and code-based optimization attacks</a:t>
            </a:r>
          </a:p>
          <a:p>
            <a:pPr>
              <a:lnSpc>
                <a:spcPct val="100000"/>
              </a:lnSpc>
              <a:spcAft>
                <a:spcPts val="500"/>
              </a:spcAft>
            </a:pPr>
            <a:r>
              <a:rPr sz="1019" b="1">
                <a:solidFill>
                  <a:srgbClr val="1B9AAA"/>
                </a:solidFill>
                <a:latin typeface="Calibri"/>
              </a:rPr>
              <a:t>▪  </a:t>
            </a:r>
            <a:r>
              <a:rPr sz="1019">
                <a:solidFill>
                  <a:srgbClr val="1A1A2E"/>
                </a:solidFill>
                <a:latin typeface="Calibri"/>
              </a:rPr>
              <a:t>About 65 everyday quality checks (exact match, similarity score, AI-judge rubric, and more)</a:t>
            </a:r>
          </a:p>
          <a:p>
            <a:pPr>
              <a:lnSpc>
                <a:spcPct val="100000"/>
              </a:lnSpc>
              <a:spcAft>
                <a:spcPts val="500"/>
              </a:spcAft>
            </a:pPr>
            <a:r>
              <a:rPr sz="1019" b="1">
                <a:solidFill>
                  <a:srgbClr val="1B9AAA"/>
                </a:solidFill>
                <a:latin typeface="Calibri"/>
              </a:rPr>
              <a:t>▪  </a:t>
            </a:r>
            <a:r>
              <a:rPr sz="1019">
                <a:solidFill>
                  <a:srgbClr val="1A1A2E"/>
                </a:solidFill>
                <a:latin typeface="Calibri"/>
              </a:rPr>
              <a:t>Automatically tags findings against OWASP, NIST, and other named security standards</a:t>
            </a:r>
          </a:p>
          <a:p>
            <a:pPr>
              <a:lnSpc>
                <a:spcPct val="100000"/>
              </a:lnSpc>
              <a:spcAft>
                <a:spcPts val="500"/>
              </a:spcAft>
            </a:pPr>
            <a:r>
              <a:rPr sz="1019" b="1">
                <a:solidFill>
                  <a:srgbClr val="1B9AAA"/>
                </a:solidFill>
                <a:latin typeface="Calibri"/>
              </a:rPr>
              <a:t>▪  </a:t>
            </a:r>
            <a:r>
              <a:rPr sz="1019">
                <a:solidFill>
                  <a:srgbClr val="1A1A2E"/>
                </a:solidFill>
                <a:latin typeface="Calibri"/>
              </a:rPr>
              <a:t>A web dashboard for reviewing results over time</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A large chunk of its best checks only work by calling promptfoo's own paid cloud service - not fully self-hosted</a:t>
            </a:r>
          </a:p>
          <a:p>
            <a:pPr>
              <a:lnSpc>
                <a:spcPct val="100000"/>
              </a:lnSpc>
              <a:spcAft>
                <a:spcPts val="400"/>
              </a:spcAft>
            </a:pPr>
            <a:r>
              <a:rPr sz="980" b="1">
                <a:solidFill>
                  <a:srgbClr val="E88C00"/>
                </a:solidFill>
                <a:latin typeface="Calibri"/>
              </a:rPr>
              <a:t>▪  </a:t>
            </a:r>
            <a:r>
              <a:rPr sz="980">
                <a:solidFill>
                  <a:srgbClr val="1A1A2E"/>
                </a:solidFill>
                <a:latin typeface="Calibri"/>
              </a:rPr>
              <a:t>Written in TypeScript/Node.js, so a Python backend needs a small bridge to use it</a:t>
            </a:r>
          </a:p>
          <a:p>
            <a:pPr>
              <a:lnSpc>
                <a:spcPct val="100000"/>
              </a:lnSpc>
              <a:spcAft>
                <a:spcPts val="400"/>
              </a:spcAft>
            </a:pPr>
            <a:r>
              <a:rPr sz="980" b="1">
                <a:solidFill>
                  <a:srgbClr val="E88C00"/>
                </a:solidFill>
                <a:latin typeface="Calibri"/>
              </a:rPr>
              <a:t>▪  </a:t>
            </a:r>
            <a:r>
              <a:rPr sz="980">
                <a:solidFill>
                  <a:srgbClr val="1A1A2E"/>
                </a:solidFill>
                <a:latin typeface="Calibri"/>
              </a:rPr>
              <a:t>No published accuracy numbers - quality depends entirely on whichever AI model is set as the judge</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6" name="Rounded Rectangle 15"/>
          <p:cNvSpPr/>
          <p:nvPr/>
        </p:nvSpPr>
        <p:spPr>
          <a:xfrm>
            <a:off x="9690811"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0811"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8" name="Rounded Rectangle 17"/>
          <p:cNvSpPr/>
          <p:nvPr/>
        </p:nvSpPr>
        <p:spPr>
          <a:xfrm>
            <a:off x="10628985"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628985"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20" name="Rounded Rectangle 19"/>
          <p:cNvSpPr/>
          <p:nvPr/>
        </p:nvSpPr>
        <p:spPr>
          <a:xfrm>
            <a:off x="7315200" y="1773936"/>
            <a:ext cx="4343400" cy="292608"/>
          </a:xfrm>
          <a:prstGeom prst="roundRect">
            <a:avLst>
              <a:gd name="adj" fmla="val 22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 + TESTING</a:t>
            </a:r>
          </a:p>
        </p:txBody>
      </p:sp>
      <p:sp>
        <p:nvSpPr>
          <p:cNvPr id="22" name="Rounded Rectangle 21"/>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Prompt/Template, Evaluation/Testing</a:t>
            </a:r>
          </a:p>
        </p:txBody>
      </p:sp>
      <p:sp>
        <p:nvSpPr>
          <p:cNvPr id="25" name="TextBox 24"/>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7" name="TextBox 26"/>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promptfoo / OpenAI</a:t>
            </a:r>
          </a:p>
        </p:txBody>
      </p:sp>
      <p:sp>
        <p:nvSpPr>
          <p:cNvPr id="31" name="TextBox 30"/>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5" name="Rounded Rectangle 34"/>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A strong CI/CD red-team and regression-test layer, especially valuable for its OWASP/NIST mapping and reporting.</a:t>
            </a:r>
          </a:p>
        </p:txBody>
      </p:sp>
      <p:sp>
        <p:nvSpPr>
          <p:cNvPr id="38" name="TextBox 37"/>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quick to bolt onto CI via its CLI, but a Python backend can't import it natively (Node/TypeScript) and many plugins are remote-only</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Promptfoo</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20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PyRIT (Microsoft)</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Microsoft's own red-teaming framework - the tool Sai referenced from his Apple project. One AI model attacks a target chatbot using many attack styles, while a large library of scorers (AI-judge, trained models, and simple regex) grades every response.</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Multi-turn jailbreak strategies like Crescendo (slow escalation) and Tree-of-Attacks</a:t>
            </a:r>
          </a:p>
          <a:p>
            <a:pPr>
              <a:lnSpc>
                <a:spcPct val="100000"/>
              </a:lnSpc>
              <a:spcAft>
                <a:spcPts val="500"/>
              </a:spcAft>
            </a:pPr>
            <a:r>
              <a:rPr sz="1019" b="1">
                <a:solidFill>
                  <a:srgbClr val="1B9AAA"/>
                </a:solidFill>
                <a:latin typeface="Calibri"/>
              </a:rPr>
              <a:t>▪  </a:t>
            </a:r>
            <a:r>
              <a:rPr sz="1019">
                <a:solidFill>
                  <a:srgbClr val="1A1A2E"/>
                </a:solidFill>
                <a:latin typeface="Calibri"/>
              </a:rPr>
              <a:t>About 80 ways to disguise an attack (encoding, translation, ASCII art, and more)</a:t>
            </a:r>
          </a:p>
          <a:p>
            <a:pPr>
              <a:lnSpc>
                <a:spcPct val="100000"/>
              </a:lnSpc>
              <a:spcAft>
                <a:spcPts val="500"/>
              </a:spcAft>
            </a:pPr>
            <a:r>
              <a:rPr sz="1019" b="1">
                <a:solidFill>
                  <a:srgbClr val="1B9AAA"/>
                </a:solidFill>
                <a:latin typeface="Calibri"/>
              </a:rPr>
              <a:t>▪  </a:t>
            </a:r>
            <a:r>
              <a:rPr sz="1019">
                <a:solidFill>
                  <a:srgbClr val="1A1A2E"/>
                </a:solidFill>
                <a:latin typeface="Calibri"/>
              </a:rPr>
              <a:t>Can call Llama Guard, ShieldGemma, or Azure Content Safety directly as scoring judges</a:t>
            </a:r>
          </a:p>
          <a:p>
            <a:pPr>
              <a:lnSpc>
                <a:spcPct val="100000"/>
              </a:lnSpc>
              <a:spcAft>
                <a:spcPts val="500"/>
              </a:spcAft>
            </a:pPr>
            <a:r>
              <a:rPr sz="1019" b="1">
                <a:solidFill>
                  <a:srgbClr val="1B9AAA"/>
                </a:solidFill>
                <a:latin typeface="Calibri"/>
              </a:rPr>
              <a:t>▪  </a:t>
            </a:r>
            <a:r>
              <a:rPr sz="1019">
                <a:solidFill>
                  <a:srgbClr val="1A1A2E"/>
                </a:solidFill>
                <a:latin typeface="Calibri"/>
              </a:rPr>
              <a:t>Free, no-AI-cost regex scorers for SQL injection, secret leaks, and other technical risks</a:t>
            </a:r>
          </a:p>
          <a:p>
            <a:pPr>
              <a:lnSpc>
                <a:spcPct val="100000"/>
              </a:lnSpc>
              <a:spcAft>
                <a:spcPts val="500"/>
              </a:spcAft>
            </a:pPr>
            <a:r>
              <a:rPr sz="1019" b="1">
                <a:solidFill>
                  <a:srgbClr val="1B9AAA"/>
                </a:solidFill>
                <a:latin typeface="Calibri"/>
              </a:rPr>
              <a:t>▪  </a:t>
            </a:r>
            <a:r>
              <a:rPr sz="1019">
                <a:solidFill>
                  <a:srgbClr val="1A1A2E"/>
                </a:solidFill>
                <a:latin typeface="Calibri"/>
              </a:rPr>
              <a:t>A built-in tool to measure how well its own scorers agree with real human judgment (a trust check on the checker)</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Most of its strongest scorers need a paid AI model or a GPU-hosted safety model</a:t>
            </a:r>
          </a:p>
          <a:p>
            <a:pPr>
              <a:lnSpc>
                <a:spcPct val="100000"/>
              </a:lnSpc>
              <a:spcAft>
                <a:spcPts val="400"/>
              </a:spcAft>
            </a:pPr>
            <a:r>
              <a:rPr sz="980" b="1">
                <a:solidFill>
                  <a:srgbClr val="E88C00"/>
                </a:solidFill>
                <a:latin typeface="Calibri"/>
              </a:rPr>
              <a:t>▪  </a:t>
            </a:r>
            <a:r>
              <a:rPr sz="980">
                <a:solidFill>
                  <a:srgbClr val="1A1A2E"/>
                </a:solidFill>
                <a:latin typeface="Calibri"/>
              </a:rPr>
              <a:t>The maintainers openly admit one of their fast filters has a high false-alarm rate</a:t>
            </a:r>
          </a:p>
          <a:p>
            <a:pPr>
              <a:lnSpc>
                <a:spcPct val="100000"/>
              </a:lnSpc>
              <a:spcAft>
                <a:spcPts val="400"/>
              </a:spcAft>
            </a:pPr>
            <a:r>
              <a:rPr sz="980" b="1">
                <a:solidFill>
                  <a:srgbClr val="E88C00"/>
                </a:solidFill>
                <a:latin typeface="Calibri"/>
              </a:rPr>
              <a:t>▪  </a:t>
            </a:r>
            <a:r>
              <a:rPr sz="980">
                <a:solidFill>
                  <a:srgbClr val="1A1A2E"/>
                </a:solidFill>
                <a:latin typeface="Calibri"/>
              </a:rPr>
              <a:t>A very large, fast-changing codebase with a heavy set of dependencies</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6" name="Rounded Rectangle 15"/>
          <p:cNvSpPr/>
          <p:nvPr/>
        </p:nvSpPr>
        <p:spPr>
          <a:xfrm>
            <a:off x="9690811"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90811"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18" name="Rounded Rectangle 17"/>
          <p:cNvSpPr/>
          <p:nvPr/>
        </p:nvSpPr>
        <p:spPr>
          <a:xfrm>
            <a:off x="7315200" y="1682496"/>
            <a:ext cx="97109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682496"/>
            <a:ext cx="971092"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Profanity</a:t>
            </a:r>
          </a:p>
        </p:txBody>
      </p:sp>
      <p:sp>
        <p:nvSpPr>
          <p:cNvPr id="20" name="Rounded Rectangle 19"/>
          <p:cNvSpPr/>
          <p:nvPr/>
        </p:nvSpPr>
        <p:spPr>
          <a:xfrm>
            <a:off x="7315200" y="2084832"/>
            <a:ext cx="4343400" cy="292608"/>
          </a:xfrm>
          <a:prstGeom prst="roundRect">
            <a:avLst>
              <a:gd name="adj" fmla="val 22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2084832"/>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 + TESTING</a:t>
            </a:r>
          </a:p>
        </p:txBody>
      </p:sp>
      <p:sp>
        <p:nvSpPr>
          <p:cNvPr id="22" name="Rounded Rectangle 21"/>
          <p:cNvSpPr/>
          <p:nvPr/>
        </p:nvSpPr>
        <p:spPr>
          <a:xfrm>
            <a:off x="7315200" y="2523744"/>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Model, Library</a:t>
            </a:r>
          </a:p>
        </p:txBody>
      </p:sp>
      <p:sp>
        <p:nvSpPr>
          <p:cNvPr id="25" name="TextBox 24"/>
          <p:cNvSpPr txBox="1"/>
          <p:nvPr/>
        </p:nvSpPr>
        <p:spPr>
          <a:xfrm>
            <a:off x="9532620"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7" name="TextBox 26"/>
          <p:cNvSpPr txBox="1"/>
          <p:nvPr/>
        </p:nvSpPr>
        <p:spPr>
          <a:xfrm>
            <a:off x="7461504"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Microsoft AI Red Team</a:t>
            </a:r>
          </a:p>
        </p:txBody>
      </p:sp>
      <p:sp>
        <p:nvSpPr>
          <p:cNvPr id="31" name="TextBox 30"/>
          <p:cNvSpPr txBox="1"/>
          <p:nvPr/>
        </p:nvSpPr>
        <p:spPr>
          <a:xfrm>
            <a:off x="7461504"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5" name="Rounded Rectangle 34"/>
          <p:cNvSpPr/>
          <p:nvPr/>
        </p:nvSpPr>
        <p:spPr>
          <a:xfrm>
            <a:off x="7315200" y="4398264"/>
            <a:ext cx="4343400" cy="2029967"/>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480560"/>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690872"/>
            <a:ext cx="4069080" cy="470916"/>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Directly matches Sai's prior hands-on Apple project experience - a top pick for AFNI's red-team engine, with reusable checklists for the runtime guardrail too.</a:t>
            </a:r>
          </a:p>
        </p:txBody>
      </p:sp>
      <p:sp>
        <p:nvSpPr>
          <p:cNvPr id="38" name="TextBox 37"/>
          <p:cNvSpPr txBox="1"/>
          <p:nvPr/>
        </p:nvSpPr>
        <p:spPr>
          <a:xfrm>
            <a:off x="7452360" y="5253228"/>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463540"/>
            <a:ext cx="4069080" cy="964692"/>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Hard - the attack/scorer abstractions are clean, but the memory layer, async surface, and large dependency tree make this a genuine platform commitment, not a quick pilot</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PyRIT (Microsoft)</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REPOSITORY 21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Rebuff (Protect AI)</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focused, single-purpose tool just for catching prompt-injection attacks. It combines a keyword check, an AI-judge check, and a 'have we seen this attack before' memory search, plus a clever trick: it hides a secret code in the prompt and checks if that code leaks back out.</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Three different detection methods combined into one score: keyword matching, AI judge, and similarity search against known attacks</a:t>
            </a:r>
          </a:p>
          <a:p>
            <a:pPr>
              <a:lnSpc>
                <a:spcPct val="100000"/>
              </a:lnSpc>
              <a:spcAft>
                <a:spcPts val="500"/>
              </a:spcAft>
            </a:pPr>
            <a:r>
              <a:rPr sz="1019" b="1">
                <a:solidFill>
                  <a:srgbClr val="1B9AAA"/>
                </a:solidFill>
                <a:latin typeface="Calibri"/>
              </a:rPr>
              <a:t>▪  </a:t>
            </a:r>
            <a:r>
              <a:rPr sz="1019">
                <a:solidFill>
                  <a:srgbClr val="1A1A2E"/>
                </a:solidFill>
                <a:latin typeface="Calibri"/>
              </a:rPr>
              <a:t>Canary-token trick: plants a hidden code to catch system-prompt leaks</a:t>
            </a:r>
          </a:p>
          <a:p>
            <a:pPr>
              <a:lnSpc>
                <a:spcPct val="100000"/>
              </a:lnSpc>
              <a:spcAft>
                <a:spcPts val="500"/>
              </a:spcAft>
            </a:pPr>
            <a:r>
              <a:rPr sz="1019" b="1">
                <a:solidFill>
                  <a:srgbClr val="1B9AAA"/>
                </a:solidFill>
                <a:latin typeface="Calibri"/>
              </a:rPr>
              <a:t>▪  </a:t>
            </a:r>
            <a:r>
              <a:rPr sz="1019">
                <a:solidFill>
                  <a:srgbClr val="1A1A2E"/>
                </a:solidFill>
                <a:latin typeface="Calibri"/>
              </a:rPr>
              <a:t>Self-learning: once a real attack is confirmed, it's remembered so similar future attacks are caught faster</a:t>
            </a:r>
          </a:p>
          <a:p>
            <a:pPr>
              <a:lnSpc>
                <a:spcPct val="100000"/>
              </a:lnSpc>
              <a:spcAft>
                <a:spcPts val="500"/>
              </a:spcAft>
            </a:pPr>
            <a:r>
              <a:rPr sz="1019" b="1">
                <a:solidFill>
                  <a:srgbClr val="1B9AAA"/>
                </a:solidFill>
                <a:latin typeface="Calibri"/>
              </a:rPr>
              <a:t>▪  </a:t>
            </a:r>
            <a:r>
              <a:rPr sz="1019">
                <a:solidFill>
                  <a:srgbClr val="1A1A2E"/>
                </a:solidFill>
                <a:latin typeface="Calibri"/>
              </a:rPr>
              <a:t>Available in both Python and JavaScript</a:t>
            </a:r>
          </a:p>
          <a:p>
            <a:pPr>
              <a:lnSpc>
                <a:spcPct val="100000"/>
              </a:lnSpc>
              <a:spcAft>
                <a:spcPts val="500"/>
              </a:spcAft>
            </a:pPr>
            <a:r>
              <a:rPr sz="1019" b="1">
                <a:solidFill>
                  <a:srgbClr val="1B9AAA"/>
                </a:solidFill>
                <a:latin typeface="Calibri"/>
              </a:rPr>
              <a:t>▪  </a:t>
            </a:r>
            <a:r>
              <a:rPr sz="1019">
                <a:solidFill>
                  <a:srgbClr val="1A1A2E"/>
                </a:solidFill>
                <a:latin typeface="Calibri"/>
              </a:rPr>
              <a:t>Very light to add - about 10 lines of code to call it</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The maintainers themselves call it 'still a prototype' that 'cannot provide 100% protection'</a:t>
            </a:r>
          </a:p>
          <a:p>
            <a:pPr>
              <a:lnSpc>
                <a:spcPct val="100000"/>
              </a:lnSpc>
              <a:spcAft>
                <a:spcPts val="400"/>
              </a:spcAft>
            </a:pPr>
            <a:r>
              <a:rPr sz="980" b="1">
                <a:solidFill>
                  <a:srgbClr val="E88C00"/>
                </a:solidFill>
                <a:latin typeface="Calibri"/>
              </a:rPr>
              <a:t>▪  </a:t>
            </a:r>
            <a:r>
              <a:rPr sz="980">
                <a:solidFill>
                  <a:srgbClr val="1A1A2E"/>
                </a:solidFill>
                <a:latin typeface="Calibri"/>
              </a:rPr>
              <a:t>Only covers prompt-injection and leak detection - nothing else (no PII, toxicity, bias, or hallucination checks)</a:t>
            </a:r>
          </a:p>
          <a:p>
            <a:pPr>
              <a:lnSpc>
                <a:spcPct val="100000"/>
              </a:lnSpc>
              <a:spcAft>
                <a:spcPts val="400"/>
              </a:spcAft>
            </a:pPr>
            <a:r>
              <a:rPr sz="980" b="1">
                <a:solidFill>
                  <a:srgbClr val="E88C00"/>
                </a:solidFill>
                <a:latin typeface="Calibri"/>
              </a:rPr>
              <a:t>▪  </a:t>
            </a:r>
            <a:r>
              <a:rPr sz="980">
                <a:solidFill>
                  <a:srgbClr val="1A1A2E"/>
                </a:solidFill>
                <a:latin typeface="Calibri"/>
              </a:rPr>
              <a:t>Two of its three detection methods need a paid OpenAI key and a Pinecone database subscription</a:t>
            </a:r>
          </a:p>
        </p:txBody>
      </p:sp>
      <p:sp>
        <p:nvSpPr>
          <p:cNvPr id="12" name="Rounded Rectangle 11"/>
          <p:cNvSpPr/>
          <p:nvPr/>
        </p:nvSpPr>
        <p:spPr>
          <a:xfrm>
            <a:off x="7315200"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4" name="Rounded Rectangle 13"/>
          <p:cNvSpPr/>
          <p:nvPr/>
        </p:nvSpPr>
        <p:spPr>
          <a:xfrm>
            <a:off x="8324697" y="1371600"/>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24697"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16" name="Rounded Rectangle 15"/>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18" name="Rounded Rectangle 17"/>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0" name="TextBox 19"/>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Library, Model, Prompt/Template</a:t>
            </a:r>
          </a:p>
        </p:txBody>
      </p:sp>
      <p:sp>
        <p:nvSpPr>
          <p:cNvPr id="21" name="TextBox 20"/>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2" name="TextBox 21"/>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3" name="TextBox 22"/>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4" name="TextBox 23"/>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5" name="TextBox 24"/>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6" name="TextBox 25"/>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Protect AI</a:t>
            </a:r>
          </a:p>
        </p:txBody>
      </p:sp>
      <p:sp>
        <p:nvSpPr>
          <p:cNvPr id="27" name="TextBox 26"/>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28" name="TextBox 27"/>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Low</a:t>
            </a:r>
          </a:p>
        </p:txBody>
      </p:sp>
      <p:sp>
        <p:nvSpPr>
          <p:cNvPr id="29" name="TextBox 28"/>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0" name="TextBox 29"/>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1" name="Rounded Rectangle 30"/>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3" name="TextBox 32"/>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A cheap, quick first-pass filter for prompt injection; its 'self-learning' idea is worth copying into AFNI's own system.</a:t>
            </a:r>
          </a:p>
        </p:txBody>
      </p:sp>
      <p:sp>
        <p:nvSpPr>
          <p:cNvPr id="34" name="TextBox 33"/>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5" name="TextBox 34"/>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Easy - about 10 lines of code to call; the real cost is a paid OpenAI key and a Pinecone index for two of its three tactics</a:t>
            </a:r>
          </a:p>
        </p:txBody>
      </p:sp>
      <p:sp>
        <p:nvSpPr>
          <p:cNvPr id="36" name="Rectangle 35"/>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8" name="TextBox 37"/>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Rebuff (Protect AI)</a:t>
            </a:r>
          </a:p>
        </p:txBody>
      </p:sp>
      <p:sp>
        <p:nvSpPr>
          <p:cNvPr id="39" name="TextBox 38"/>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E86AB"/>
                </a:solidFill>
                <a:latin typeface="Calibri"/>
              </a:rPr>
              <a:t>REPOSITORY 22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TSZ (Thyris Safe Zone)</a:t>
            </a:r>
          </a:p>
        </p:txBody>
      </p:sp>
      <p:sp>
        <p:nvSpPr>
          <p:cNvPr id="6" name="Rectangle 5"/>
          <p:cNvSpPr/>
          <p:nvPr/>
        </p:nvSpPr>
        <p:spPr>
          <a:xfrm>
            <a:off x="502920" y="1207008"/>
            <a:ext cx="2011680" cy="3200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A standalone Go-based gateway service that sits in front of any AI call to catch PII, secrets, and prompt-injection attempts, and can even watch a live streaming response and cut it off mid-sentence if something bad shows up.</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Detects PII and secrets using fast, free regex rules, with an optional AI double-check for extra confidence</a:t>
            </a:r>
          </a:p>
          <a:p>
            <a:pPr>
              <a:lnSpc>
                <a:spcPct val="100000"/>
              </a:lnSpc>
              <a:spcAft>
                <a:spcPts val="500"/>
              </a:spcAft>
            </a:pPr>
            <a:r>
              <a:rPr sz="1019" b="1">
                <a:solidFill>
                  <a:srgbClr val="1B9AAA"/>
                </a:solidFill>
                <a:latin typeface="Calibri"/>
              </a:rPr>
              <a:t>▪  </a:t>
            </a:r>
            <a:r>
              <a:rPr sz="1019">
                <a:solidFill>
                  <a:srgbClr val="1A1A2E"/>
                </a:solidFill>
                <a:latin typeface="Calibri"/>
              </a:rPr>
              <a:t>Every decision shows its full reasoning (regex score + AI score = final score) for easy auditing</a:t>
            </a:r>
          </a:p>
          <a:p>
            <a:pPr>
              <a:lnSpc>
                <a:spcPct val="100000"/>
              </a:lnSpc>
              <a:spcAft>
                <a:spcPts val="500"/>
              </a:spcAft>
            </a:pPr>
            <a:r>
              <a:rPr sz="1019" b="1">
                <a:solidFill>
                  <a:srgbClr val="1B9AAA"/>
                </a:solidFill>
                <a:latin typeface="Calibri"/>
              </a:rPr>
              <a:t>▪  </a:t>
            </a:r>
            <a:r>
              <a:rPr sz="1019">
                <a:solidFill>
                  <a:srgbClr val="1A1A2E"/>
                </a:solidFill>
                <a:latin typeface="Calibri"/>
              </a:rPr>
              <a:t>Can plug into OpenAI, Azure OpenAI, or AWS Bedrock as a drop-in safety gateway</a:t>
            </a:r>
          </a:p>
          <a:p>
            <a:pPr>
              <a:lnSpc>
                <a:spcPct val="100000"/>
              </a:lnSpc>
              <a:spcAft>
                <a:spcPts val="500"/>
              </a:spcAft>
            </a:pPr>
            <a:r>
              <a:rPr sz="1019" b="1">
                <a:solidFill>
                  <a:srgbClr val="1B9AAA"/>
                </a:solidFill>
                <a:latin typeface="Calibri"/>
              </a:rPr>
              <a:t>▪  </a:t>
            </a:r>
            <a:r>
              <a:rPr sz="1019">
                <a:solidFill>
                  <a:srgbClr val="1A1A2E"/>
                </a:solidFill>
                <a:latin typeface="Calibri"/>
              </a:rPr>
              <a:t>Real-time 'streaming firewall' that can stop a bad answer while it's still being typed out</a:t>
            </a:r>
          </a:p>
          <a:p>
            <a:pPr>
              <a:lnSpc>
                <a:spcPct val="100000"/>
              </a:lnSpc>
              <a:spcAft>
                <a:spcPts val="500"/>
              </a:spcAft>
            </a:pPr>
            <a:r>
              <a:rPr sz="1019" b="1">
                <a:solidFill>
                  <a:srgbClr val="1B9AAA"/>
                </a:solidFill>
                <a:latin typeface="Calibri"/>
              </a:rPr>
              <a:t>▪  </a:t>
            </a:r>
            <a:r>
              <a:rPr sz="1019">
                <a:solidFill>
                  <a:srgbClr val="1A1A2E"/>
                </a:solidFill>
                <a:latin typeface="Calibri"/>
              </a:rPr>
              <a:t>Simple ALLOW / MASK / BLOCK settings you control per risk category</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Most of its ready-made ID patterns are built for Turkey; global coverage relies on the (paid) AI checks instead</a:t>
            </a:r>
          </a:p>
          <a:p>
            <a:pPr>
              <a:lnSpc>
                <a:spcPct val="100000"/>
              </a:lnSpc>
              <a:spcAft>
                <a:spcPts val="400"/>
              </a:spcAft>
            </a:pPr>
            <a:r>
              <a:rPr sz="980" b="1">
                <a:solidFill>
                  <a:srgbClr val="E88C00"/>
                </a:solidFill>
                <a:latin typeface="Calibri"/>
              </a:rPr>
              <a:t>▪  </a:t>
            </a:r>
            <a:r>
              <a:rPr sz="980">
                <a:solidFill>
                  <a:srgbClr val="1A1A2E"/>
                </a:solidFill>
                <a:latin typeface="Calibri"/>
              </a:rPr>
              <a:t>Only one content-safety check (toxicity) ships by default; no bias or hallucination checks</a:t>
            </a:r>
          </a:p>
          <a:p>
            <a:pPr>
              <a:lnSpc>
                <a:spcPct val="100000"/>
              </a:lnSpc>
              <a:spcAft>
                <a:spcPts val="400"/>
              </a:spcAft>
            </a:pPr>
            <a:r>
              <a:rPr sz="980" b="1">
                <a:solidFill>
                  <a:srgbClr val="E88C00"/>
                </a:solidFill>
                <a:latin typeface="Calibri"/>
              </a:rPr>
              <a:t>▪  </a:t>
            </a:r>
            <a:r>
              <a:rPr sz="980">
                <a:solidFill>
                  <a:srgbClr val="1A1A2E"/>
                </a:solidFill>
                <a:latin typeface="Calibri"/>
              </a:rPr>
              <a:t>Needs its own database and cache running alongside it (Postgres + Redis)</a:t>
            </a:r>
          </a:p>
        </p:txBody>
      </p:sp>
      <p:sp>
        <p:nvSpPr>
          <p:cNvPr id="12" name="Rounded Rectangle 11"/>
          <p:cNvSpPr/>
          <p:nvPr/>
        </p:nvSpPr>
        <p:spPr>
          <a:xfrm>
            <a:off x="7315200" y="1371600"/>
            <a:ext cx="82844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828446"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Privacy</a:t>
            </a:r>
          </a:p>
        </p:txBody>
      </p:sp>
      <p:sp>
        <p:nvSpPr>
          <p:cNvPr id="14" name="Rounded Rectangle 13"/>
          <p:cNvSpPr/>
          <p:nvPr/>
        </p:nvSpPr>
        <p:spPr>
          <a:xfrm>
            <a:off x="8253374" y="1371600"/>
            <a:ext cx="899769"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53374"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Security</a:t>
            </a:r>
          </a:p>
        </p:txBody>
      </p:sp>
      <p:sp>
        <p:nvSpPr>
          <p:cNvPr id="16" name="Rounded Rectangle 15"/>
          <p:cNvSpPr/>
          <p:nvPr/>
        </p:nvSpPr>
        <p:spPr>
          <a:xfrm>
            <a:off x="9262872" y="1371600"/>
            <a:ext cx="1256385"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262872" y="1371600"/>
            <a:ext cx="1256385"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Hallucination</a:t>
            </a:r>
          </a:p>
        </p:txBody>
      </p:sp>
      <p:sp>
        <p:nvSpPr>
          <p:cNvPr id="18" name="Rounded Rectangle 17"/>
          <p:cNvSpPr/>
          <p:nvPr/>
        </p:nvSpPr>
        <p:spPr>
          <a:xfrm>
            <a:off x="7315200" y="1682496"/>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682496"/>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20" name="Rounded Rectangle 19"/>
          <p:cNvSpPr/>
          <p:nvPr/>
        </p:nvSpPr>
        <p:spPr>
          <a:xfrm>
            <a:off x="7315200" y="2084832"/>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0" y="2084832"/>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2" name="Rounded Rectangle 21"/>
          <p:cNvSpPr/>
          <p:nvPr/>
        </p:nvSpPr>
        <p:spPr>
          <a:xfrm>
            <a:off x="7315200" y="2523744"/>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461504"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4" name="TextBox 23"/>
          <p:cNvSpPr txBox="1"/>
          <p:nvPr/>
        </p:nvSpPr>
        <p:spPr>
          <a:xfrm>
            <a:off x="7461504"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Orchestration, Library, Model</a:t>
            </a:r>
          </a:p>
        </p:txBody>
      </p:sp>
      <p:sp>
        <p:nvSpPr>
          <p:cNvPr id="25" name="TextBox 24"/>
          <p:cNvSpPr txBox="1"/>
          <p:nvPr/>
        </p:nvSpPr>
        <p:spPr>
          <a:xfrm>
            <a:off x="9532620" y="2642616"/>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6" name="TextBox 25"/>
          <p:cNvSpPr txBox="1"/>
          <p:nvPr/>
        </p:nvSpPr>
        <p:spPr>
          <a:xfrm>
            <a:off x="9532620" y="2816352"/>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2</a:t>
            </a:r>
          </a:p>
        </p:txBody>
      </p:sp>
      <p:sp>
        <p:nvSpPr>
          <p:cNvPr id="27" name="TextBox 26"/>
          <p:cNvSpPr txBox="1"/>
          <p:nvPr/>
        </p:nvSpPr>
        <p:spPr>
          <a:xfrm>
            <a:off x="7461504"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8" name="TextBox 27"/>
          <p:cNvSpPr txBox="1"/>
          <p:nvPr/>
        </p:nvSpPr>
        <p:spPr>
          <a:xfrm>
            <a:off x="7461504"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Mixed (free core + optional paid add-ons)</a:t>
            </a:r>
          </a:p>
        </p:txBody>
      </p:sp>
      <p:sp>
        <p:nvSpPr>
          <p:cNvPr id="29" name="TextBox 28"/>
          <p:cNvSpPr txBox="1"/>
          <p:nvPr/>
        </p:nvSpPr>
        <p:spPr>
          <a:xfrm>
            <a:off x="9532620" y="315468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30" name="TextBox 29"/>
          <p:cNvSpPr txBox="1"/>
          <p:nvPr/>
        </p:nvSpPr>
        <p:spPr>
          <a:xfrm>
            <a:off x="9532620" y="332841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Thyris</a:t>
            </a:r>
          </a:p>
        </p:txBody>
      </p:sp>
      <p:sp>
        <p:nvSpPr>
          <p:cNvPr id="31" name="TextBox 30"/>
          <p:cNvSpPr txBox="1"/>
          <p:nvPr/>
        </p:nvSpPr>
        <p:spPr>
          <a:xfrm>
            <a:off x="7461504"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2" name="TextBox 31"/>
          <p:cNvSpPr txBox="1"/>
          <p:nvPr/>
        </p:nvSpPr>
        <p:spPr>
          <a:xfrm>
            <a:off x="7461504"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3" name="TextBox 32"/>
          <p:cNvSpPr txBox="1"/>
          <p:nvPr/>
        </p:nvSpPr>
        <p:spPr>
          <a:xfrm>
            <a:off x="9532620" y="366674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4" name="TextBox 33"/>
          <p:cNvSpPr txBox="1"/>
          <p:nvPr/>
        </p:nvSpPr>
        <p:spPr>
          <a:xfrm>
            <a:off x="9532620" y="384048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Apache-2.0</a:t>
            </a:r>
          </a:p>
        </p:txBody>
      </p:sp>
      <p:sp>
        <p:nvSpPr>
          <p:cNvPr id="35" name="Rounded Rectangle 34"/>
          <p:cNvSpPr/>
          <p:nvPr/>
        </p:nvSpPr>
        <p:spPr>
          <a:xfrm>
            <a:off x="7315200" y="4398264"/>
            <a:ext cx="4343400" cy="2029967"/>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452360" y="4480560"/>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7" name="TextBox 36"/>
          <p:cNvSpPr txBox="1"/>
          <p:nvPr/>
        </p:nvSpPr>
        <p:spPr>
          <a:xfrm>
            <a:off x="7452360" y="4690872"/>
            <a:ext cx="4069080" cy="470916"/>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A solid front-door gateway pattern for Privacy/Security, especially the live streaming firewall idea - would need AFNI-specific ID patterns added.</a:t>
            </a:r>
          </a:p>
        </p:txBody>
      </p:sp>
      <p:sp>
        <p:nvSpPr>
          <p:cNvPr id="38" name="TextBox 37"/>
          <p:cNvSpPr txBox="1"/>
          <p:nvPr/>
        </p:nvSpPr>
        <p:spPr>
          <a:xfrm>
            <a:off x="7452360" y="5253228"/>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9" name="TextBox 38"/>
          <p:cNvSpPr txBox="1"/>
          <p:nvPr/>
        </p:nvSpPr>
        <p:spPr>
          <a:xfrm>
            <a:off x="7452360" y="5463540"/>
            <a:ext cx="4069080" cy="964692"/>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Moderate - a self-hosted Go service; core detection is free, but needs Postgres and Redis running alongside it</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TSZ (Thyris Safe Zone)</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08E45"/>
                </a:solidFill>
                <a:latin typeface="Calibri"/>
              </a:rPr>
              <a:t>REPOSITORY 23 OF 23</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SHAP</a:t>
            </a:r>
          </a:p>
        </p:txBody>
      </p:sp>
      <p:sp>
        <p:nvSpPr>
          <p:cNvPr id="6" name="Rectangle 5"/>
          <p:cNvSpPr/>
          <p:nvPr/>
        </p:nvSpPr>
        <p:spPr>
          <a:xfrm>
            <a:off x="502920" y="1207008"/>
            <a:ext cx="2011680" cy="32004"/>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53312"/>
            <a:ext cx="6583680" cy="960120"/>
          </a:xfrm>
          <a:prstGeom prst="rect">
            <a:avLst/>
          </a:prstGeom>
          <a:noFill/>
        </p:spPr>
        <p:txBody>
          <a:bodyPr wrap="square" anchor="t" lIns="0" rIns="0" tIns="0" bIns="0">
            <a:spAutoFit/>
          </a:bodyPr>
          <a:lstStyle/>
          <a:p>
            <a:pPr algn="l">
              <a:lnSpc>
                <a:spcPct val="115000"/>
              </a:lnSpc>
            </a:pPr>
            <a:r>
              <a:rPr sz="1150" b="0" i="1">
                <a:solidFill>
                  <a:srgbClr val="1A1A2E"/>
                </a:solidFill>
                <a:latin typeface="Calibri"/>
              </a:rPr>
              <a:t>The most well-known explainability library in the industry. It shows, for any AI decision, exactly which input factors pushed the result up or down and by how much - the tool Kiran specifically asked about by name.</a:t>
            </a:r>
          </a:p>
        </p:txBody>
      </p:sp>
      <p:sp>
        <p:nvSpPr>
          <p:cNvPr id="8" name="TextBox 7"/>
          <p:cNvSpPr txBox="1"/>
          <p:nvPr/>
        </p:nvSpPr>
        <p:spPr>
          <a:xfrm>
            <a:off x="502920" y="2395728"/>
            <a:ext cx="6583680" cy="256032"/>
          </a:xfrm>
          <a:prstGeom prst="rect">
            <a:avLst/>
          </a:prstGeom>
          <a:noFill/>
        </p:spPr>
        <p:txBody>
          <a:bodyPr wrap="square" anchor="t" lIns="0" rIns="0" tIns="0" bIns="0">
            <a:spAutoFit/>
          </a:bodyPr>
          <a:lstStyle/>
          <a:p>
            <a:pPr algn="l">
              <a:lnSpc>
                <a:spcPct val="100000"/>
              </a:lnSpc>
            </a:pPr>
            <a:r>
              <a:rPr sz="1100" b="1" i="0">
                <a:solidFill>
                  <a:srgbClr val="1B9AAA"/>
                </a:solidFill>
                <a:latin typeface="Calibri"/>
              </a:rPr>
              <a:t>KEY FEATURES</a:t>
            </a:r>
          </a:p>
        </p:txBody>
      </p:sp>
      <p:sp>
        <p:nvSpPr>
          <p:cNvPr id="9" name="TextBox 8"/>
          <p:cNvSpPr txBox="1"/>
          <p:nvPr/>
        </p:nvSpPr>
        <p:spPr>
          <a:xfrm>
            <a:off x="502920" y="2670048"/>
            <a:ext cx="6583680" cy="1965960"/>
          </a:xfrm>
          <a:prstGeom prst="rect">
            <a:avLst/>
          </a:prstGeom>
          <a:noFill/>
        </p:spPr>
        <p:txBody>
          <a:bodyPr wrap="square" lIns="0" rIns="0" tIns="0" bIns="0">
            <a:spAutoFit/>
          </a:bodyPr>
          <a:lstStyle/>
          <a:p>
            <a:pPr>
              <a:lnSpc>
                <a:spcPct val="100000"/>
              </a:lnSpc>
              <a:spcAft>
                <a:spcPts val="500"/>
              </a:spcAft>
            </a:pPr>
            <a:r>
              <a:rPr sz="1019" b="1">
                <a:solidFill>
                  <a:srgbClr val="1B9AAA"/>
                </a:solidFill>
                <a:latin typeface="Calibri"/>
              </a:rPr>
              <a:t>▪  </a:t>
            </a:r>
            <a:r>
              <a:rPr sz="1019">
                <a:solidFill>
                  <a:srgbClr val="1A1A2E"/>
                </a:solidFill>
                <a:latin typeface="Calibri"/>
              </a:rPr>
              <a:t>Works with almost any model type: simple models, tree models (like XGBoost), deep learning, and even text-generation AI</a:t>
            </a:r>
          </a:p>
          <a:p>
            <a:pPr>
              <a:lnSpc>
                <a:spcPct val="100000"/>
              </a:lnSpc>
              <a:spcAft>
                <a:spcPts val="500"/>
              </a:spcAft>
            </a:pPr>
            <a:r>
              <a:rPr sz="1019" b="1">
                <a:solidFill>
                  <a:srgbClr val="1B9AAA"/>
                </a:solidFill>
                <a:latin typeface="Calibri"/>
              </a:rPr>
              <a:t>▪  </a:t>
            </a:r>
            <a:r>
              <a:rPr sz="1019">
                <a:solidFill>
                  <a:srgbClr val="1A1A2E"/>
                </a:solidFill>
                <a:latin typeface="Calibri"/>
              </a:rPr>
              <a:t>Beautiful, standard charts (waterfall, force plot, summary plot) that non-technical people can read</a:t>
            </a:r>
          </a:p>
          <a:p>
            <a:pPr>
              <a:lnSpc>
                <a:spcPct val="100000"/>
              </a:lnSpc>
              <a:spcAft>
                <a:spcPts val="500"/>
              </a:spcAft>
            </a:pPr>
            <a:r>
              <a:rPr sz="1019" b="1">
                <a:solidFill>
                  <a:srgbClr val="1B9AAA"/>
                </a:solidFill>
                <a:latin typeface="Calibri"/>
              </a:rPr>
              <a:t>▪  </a:t>
            </a:r>
            <a:r>
              <a:rPr sz="1019">
                <a:solidFill>
                  <a:srgbClr val="1A1A2E"/>
                </a:solidFill>
                <a:latin typeface="Calibri"/>
              </a:rPr>
              <a:t>A special chart that breaks down a fairness gap between two groups feature-by-feature</a:t>
            </a:r>
          </a:p>
          <a:p>
            <a:pPr>
              <a:lnSpc>
                <a:spcPct val="100000"/>
              </a:lnSpc>
              <a:spcAft>
                <a:spcPts val="500"/>
              </a:spcAft>
            </a:pPr>
            <a:r>
              <a:rPr sz="1019" b="1">
                <a:solidFill>
                  <a:srgbClr val="1B9AAA"/>
                </a:solidFill>
                <a:latin typeface="Calibri"/>
              </a:rPr>
              <a:t>▪  </a:t>
            </a:r>
            <a:r>
              <a:rPr sz="1019">
                <a:solidFill>
                  <a:srgbClr val="1A1A2E"/>
                </a:solidFill>
                <a:latin typeface="Calibri"/>
              </a:rPr>
              <a:t>Has its own built-in benchmark to check whether its explanations are actually trustworthy</a:t>
            </a:r>
          </a:p>
          <a:p>
            <a:pPr>
              <a:lnSpc>
                <a:spcPct val="100000"/>
              </a:lnSpc>
              <a:spcAft>
                <a:spcPts val="500"/>
              </a:spcAft>
            </a:pPr>
            <a:r>
              <a:rPr sz="1019" b="1">
                <a:solidFill>
                  <a:srgbClr val="1B9AAA"/>
                </a:solidFill>
                <a:latin typeface="Calibri"/>
              </a:rPr>
              <a:t>▪  </a:t>
            </a:r>
            <a:r>
              <a:rPr sz="1019">
                <a:solidFill>
                  <a:srgbClr val="1A1A2E"/>
                </a:solidFill>
                <a:latin typeface="Calibri"/>
              </a:rPr>
              <a:t>Backed by published academic research and used industry-wide</a:t>
            </a:r>
          </a:p>
        </p:txBody>
      </p:sp>
      <p:sp>
        <p:nvSpPr>
          <p:cNvPr id="10" name="TextBox 9"/>
          <p:cNvSpPr txBox="1"/>
          <p:nvPr/>
        </p:nvSpPr>
        <p:spPr>
          <a:xfrm>
            <a:off x="502920" y="4727448"/>
            <a:ext cx="6583680" cy="256032"/>
          </a:xfrm>
          <a:prstGeom prst="rect">
            <a:avLst/>
          </a:prstGeom>
          <a:noFill/>
        </p:spPr>
        <p:txBody>
          <a:bodyPr wrap="square" anchor="t" lIns="0" rIns="0" tIns="0" bIns="0">
            <a:spAutoFit/>
          </a:bodyPr>
          <a:lstStyle/>
          <a:p>
            <a:pPr algn="l">
              <a:lnSpc>
                <a:spcPct val="100000"/>
              </a:lnSpc>
            </a:pPr>
            <a:r>
              <a:rPr sz="1100" b="1" i="0">
                <a:solidFill>
                  <a:srgbClr val="E88C00"/>
                </a:solidFill>
                <a:latin typeface="Calibri"/>
              </a:rPr>
              <a:t>LIMITATIONS TO WATCH</a:t>
            </a:r>
          </a:p>
        </p:txBody>
      </p:sp>
      <p:sp>
        <p:nvSpPr>
          <p:cNvPr id="11" name="TextBox 10"/>
          <p:cNvSpPr txBox="1"/>
          <p:nvPr/>
        </p:nvSpPr>
        <p:spPr>
          <a:xfrm>
            <a:off x="502920" y="5001768"/>
            <a:ext cx="6583680" cy="1463040"/>
          </a:xfrm>
          <a:prstGeom prst="rect">
            <a:avLst/>
          </a:prstGeom>
          <a:noFill/>
        </p:spPr>
        <p:txBody>
          <a:bodyPr wrap="square" lIns="0" rIns="0" tIns="0" bIns="0">
            <a:spAutoFit/>
          </a:bodyPr>
          <a:lstStyle/>
          <a:p>
            <a:pPr>
              <a:lnSpc>
                <a:spcPct val="100000"/>
              </a:lnSpc>
              <a:spcAft>
                <a:spcPts val="400"/>
              </a:spcAft>
            </a:pPr>
            <a:r>
              <a:rPr sz="980" b="1">
                <a:solidFill>
                  <a:srgbClr val="E88C00"/>
                </a:solidFill>
                <a:latin typeface="Calibri"/>
              </a:rPr>
              <a:t>▪  </a:t>
            </a:r>
            <a:r>
              <a:rPr sz="980">
                <a:solidFill>
                  <a:srgbClr val="1A1A2E"/>
                </a:solidFill>
                <a:latin typeface="Calibri"/>
              </a:rPr>
              <a:t>Purely an explainability tool - it does not detect PII, jailbreaks, toxicity, or hallucinations on its own</a:t>
            </a:r>
          </a:p>
          <a:p>
            <a:pPr>
              <a:lnSpc>
                <a:spcPct val="100000"/>
              </a:lnSpc>
              <a:spcAft>
                <a:spcPts val="400"/>
              </a:spcAft>
            </a:pPr>
            <a:r>
              <a:rPr sz="980" b="1">
                <a:solidFill>
                  <a:srgbClr val="E88C00"/>
                </a:solidFill>
                <a:latin typeface="Calibri"/>
              </a:rPr>
              <a:t>▪  </a:t>
            </a:r>
            <a:r>
              <a:rPr sz="980">
                <a:solidFill>
                  <a:srgbClr val="1A1A2E"/>
                </a:solidFill>
                <a:latin typeface="Calibri"/>
              </a:rPr>
              <a:t>Some explanation methods can be slow on very large or complex models</a:t>
            </a:r>
          </a:p>
          <a:p>
            <a:pPr>
              <a:lnSpc>
                <a:spcPct val="100000"/>
              </a:lnSpc>
              <a:spcAft>
                <a:spcPts val="400"/>
              </a:spcAft>
            </a:pPr>
            <a:r>
              <a:rPr sz="980" b="1">
                <a:solidFill>
                  <a:srgbClr val="E88C00"/>
                </a:solidFill>
                <a:latin typeface="Calibri"/>
              </a:rPr>
              <a:t>▪  </a:t>
            </a:r>
            <a:r>
              <a:rPr sz="980">
                <a:solidFill>
                  <a:srgbClr val="1A1A2E"/>
                </a:solidFill>
                <a:latin typeface="Calibri"/>
              </a:rPr>
              <a:t>Needs direct access to the model itself (or its scoring function), which some hosted APIs don't expose</a:t>
            </a:r>
          </a:p>
        </p:txBody>
      </p:sp>
      <p:sp>
        <p:nvSpPr>
          <p:cNvPr id="12" name="Rounded Rectangle 11"/>
          <p:cNvSpPr/>
          <p:nvPr/>
        </p:nvSpPr>
        <p:spPr>
          <a:xfrm>
            <a:off x="7315200" y="1371600"/>
            <a:ext cx="1327708"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0"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Explainability</a:t>
            </a:r>
          </a:p>
        </p:txBody>
      </p:sp>
      <p:sp>
        <p:nvSpPr>
          <p:cNvPr id="14" name="Rounded Rectangle 13"/>
          <p:cNvSpPr/>
          <p:nvPr/>
        </p:nvSpPr>
        <p:spPr>
          <a:xfrm>
            <a:off x="8752636" y="1371600"/>
            <a:ext cx="899769"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752636" y="1371600"/>
            <a:ext cx="899769"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Fairness</a:t>
            </a:r>
          </a:p>
        </p:txBody>
      </p:sp>
      <p:sp>
        <p:nvSpPr>
          <p:cNvPr id="16" name="Rounded Rectangle 15"/>
          <p:cNvSpPr/>
          <p:nvPr/>
        </p:nvSpPr>
        <p:spPr>
          <a:xfrm>
            <a:off x="9762134" y="1371600"/>
            <a:ext cx="132770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762134" y="1371600"/>
            <a:ext cx="1327708" cy="256032"/>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Accountability</a:t>
            </a:r>
          </a:p>
        </p:txBody>
      </p:sp>
      <p:sp>
        <p:nvSpPr>
          <p:cNvPr id="18" name="Rounded Rectangle 17"/>
          <p:cNvSpPr/>
          <p:nvPr/>
        </p:nvSpPr>
        <p:spPr>
          <a:xfrm>
            <a:off x="7315200" y="1773936"/>
            <a:ext cx="4343400" cy="292608"/>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315200" y="1773936"/>
            <a:ext cx="4343400" cy="292608"/>
          </a:xfrm>
          <a:prstGeom prst="rect">
            <a:avLst/>
          </a:prstGeom>
          <a:noFill/>
        </p:spPr>
        <p:txBody>
          <a:bodyPr wrap="none" anchor="ctr" lIns="0" rIns="0" tIns="0" bIns="0">
            <a:spAutoFit/>
          </a:bodyPr>
          <a:lstStyle/>
          <a:p>
            <a:pPr algn="ctr">
              <a:lnSpc>
                <a:spcPct val="100000"/>
              </a:lnSpc>
            </a:pPr>
            <a:r>
              <a:rPr sz="1000" b="1" i="0">
                <a:solidFill>
                  <a:srgbClr val="FFFFFF"/>
                </a:solidFill>
                <a:latin typeface="Calibri"/>
              </a:rPr>
              <a:t>DEVELOPMENT</a:t>
            </a:r>
          </a:p>
        </p:txBody>
      </p:sp>
      <p:sp>
        <p:nvSpPr>
          <p:cNvPr id="20" name="Rounded Rectangle 19"/>
          <p:cNvSpPr/>
          <p:nvPr/>
        </p:nvSpPr>
        <p:spPr>
          <a:xfrm>
            <a:off x="7315200" y="2212848"/>
            <a:ext cx="4343400" cy="1755648"/>
          </a:xfrm>
          <a:prstGeom prst="roundRect">
            <a:avLst>
              <a:gd name="adj" fmla="val 6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461504"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LAYER TYPE</a:t>
            </a:r>
          </a:p>
        </p:txBody>
      </p:sp>
      <p:sp>
        <p:nvSpPr>
          <p:cNvPr id="22" name="TextBox 21"/>
          <p:cNvSpPr txBox="1"/>
          <p:nvPr/>
        </p:nvSpPr>
        <p:spPr>
          <a:xfrm>
            <a:off x="7461504"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Library, Evaluation/Testing</a:t>
            </a:r>
          </a:p>
        </p:txBody>
      </p:sp>
      <p:sp>
        <p:nvSpPr>
          <p:cNvPr id="23" name="TextBox 22"/>
          <p:cNvSpPr txBox="1"/>
          <p:nvPr/>
        </p:nvSpPr>
        <p:spPr>
          <a:xfrm>
            <a:off x="9532620" y="2331720"/>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TIER</a:t>
            </a:r>
          </a:p>
        </p:txBody>
      </p:sp>
      <p:sp>
        <p:nvSpPr>
          <p:cNvPr id="24" name="TextBox 23"/>
          <p:cNvSpPr txBox="1"/>
          <p:nvPr/>
        </p:nvSpPr>
        <p:spPr>
          <a:xfrm>
            <a:off x="9532620" y="2505456"/>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Tier 1</a:t>
            </a:r>
          </a:p>
        </p:txBody>
      </p:sp>
      <p:sp>
        <p:nvSpPr>
          <p:cNvPr id="25" name="TextBox 24"/>
          <p:cNvSpPr txBox="1"/>
          <p:nvPr/>
        </p:nvSpPr>
        <p:spPr>
          <a:xfrm>
            <a:off x="7461504"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COST MODEL</a:t>
            </a:r>
          </a:p>
        </p:txBody>
      </p:sp>
      <p:sp>
        <p:nvSpPr>
          <p:cNvPr id="26" name="TextBox 25"/>
          <p:cNvSpPr txBox="1"/>
          <p:nvPr/>
        </p:nvSpPr>
        <p:spPr>
          <a:xfrm>
            <a:off x="7461504"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Free / open-source</a:t>
            </a:r>
          </a:p>
        </p:txBody>
      </p:sp>
      <p:sp>
        <p:nvSpPr>
          <p:cNvPr id="27" name="TextBox 26"/>
          <p:cNvSpPr txBox="1"/>
          <p:nvPr/>
        </p:nvSpPr>
        <p:spPr>
          <a:xfrm>
            <a:off x="9532620" y="2843784"/>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VENDOR</a:t>
            </a:r>
          </a:p>
        </p:txBody>
      </p:sp>
      <p:sp>
        <p:nvSpPr>
          <p:cNvPr id="28" name="TextBox 27"/>
          <p:cNvSpPr txBox="1"/>
          <p:nvPr/>
        </p:nvSpPr>
        <p:spPr>
          <a:xfrm>
            <a:off x="9532620" y="3017520"/>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Community / academic (Lundberg…</a:t>
            </a:r>
          </a:p>
        </p:txBody>
      </p:sp>
      <p:sp>
        <p:nvSpPr>
          <p:cNvPr id="29" name="TextBox 28"/>
          <p:cNvSpPr txBox="1"/>
          <p:nvPr/>
        </p:nvSpPr>
        <p:spPr>
          <a:xfrm>
            <a:off x="7461504"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INTEGRATION EFFORT</a:t>
            </a:r>
          </a:p>
        </p:txBody>
      </p:sp>
      <p:sp>
        <p:nvSpPr>
          <p:cNvPr id="30" name="TextBox 29"/>
          <p:cNvSpPr txBox="1"/>
          <p:nvPr/>
        </p:nvSpPr>
        <p:spPr>
          <a:xfrm>
            <a:off x="7461504"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Medium</a:t>
            </a:r>
          </a:p>
        </p:txBody>
      </p:sp>
      <p:sp>
        <p:nvSpPr>
          <p:cNvPr id="31" name="TextBox 30"/>
          <p:cNvSpPr txBox="1"/>
          <p:nvPr/>
        </p:nvSpPr>
        <p:spPr>
          <a:xfrm>
            <a:off x="9532620" y="3355848"/>
            <a:ext cx="1979676" cy="182880"/>
          </a:xfrm>
          <a:prstGeom prst="rect">
            <a:avLst/>
          </a:prstGeom>
          <a:noFill/>
        </p:spPr>
        <p:txBody>
          <a:bodyPr wrap="square" anchor="t" lIns="0" rIns="0" tIns="0" bIns="0">
            <a:spAutoFit/>
          </a:bodyPr>
          <a:lstStyle/>
          <a:p>
            <a:pPr algn="l">
              <a:lnSpc>
                <a:spcPct val="100000"/>
              </a:lnSpc>
            </a:pPr>
            <a:r>
              <a:rPr sz="830" b="1" i="0">
                <a:solidFill>
                  <a:srgbClr val="5B6B7D"/>
                </a:solidFill>
                <a:latin typeface="Calibri"/>
              </a:rPr>
              <a:t>LICENSE</a:t>
            </a:r>
          </a:p>
        </p:txBody>
      </p:sp>
      <p:sp>
        <p:nvSpPr>
          <p:cNvPr id="32" name="TextBox 31"/>
          <p:cNvSpPr txBox="1"/>
          <p:nvPr/>
        </p:nvSpPr>
        <p:spPr>
          <a:xfrm>
            <a:off x="9532620" y="3529584"/>
            <a:ext cx="1979676" cy="310896"/>
          </a:xfrm>
          <a:prstGeom prst="rect">
            <a:avLst/>
          </a:prstGeom>
          <a:noFill/>
        </p:spPr>
        <p:txBody>
          <a:bodyPr wrap="square" anchor="t" lIns="0" rIns="0" tIns="0" bIns="0">
            <a:spAutoFit/>
          </a:bodyPr>
          <a:lstStyle/>
          <a:p>
            <a:pPr algn="l">
              <a:lnSpc>
                <a:spcPct val="95000"/>
              </a:lnSpc>
            </a:pPr>
            <a:r>
              <a:rPr sz="980" b="1" i="0">
                <a:solidFill>
                  <a:srgbClr val="10243E"/>
                </a:solidFill>
                <a:latin typeface="Calibri"/>
              </a:rPr>
              <a:t>MIT</a:t>
            </a:r>
          </a:p>
        </p:txBody>
      </p:sp>
      <p:sp>
        <p:nvSpPr>
          <p:cNvPr id="33" name="Rounded Rectangle 32"/>
          <p:cNvSpPr/>
          <p:nvPr/>
        </p:nvSpPr>
        <p:spPr>
          <a:xfrm>
            <a:off x="7315200" y="4087368"/>
            <a:ext cx="4343400" cy="2340864"/>
          </a:xfrm>
          <a:prstGeom prst="roundRect">
            <a:avLst>
              <a:gd name="adj" fmla="val 6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52360" y="4169663"/>
            <a:ext cx="4069080" cy="201168"/>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AFNI FIT</a:t>
            </a:r>
          </a:p>
        </p:txBody>
      </p:sp>
      <p:sp>
        <p:nvSpPr>
          <p:cNvPr id="35" name="TextBox 34"/>
          <p:cNvSpPr txBox="1"/>
          <p:nvPr/>
        </p:nvSpPr>
        <p:spPr>
          <a:xfrm>
            <a:off x="7452360" y="4379976"/>
            <a:ext cx="4069080" cy="329184"/>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The clear pick for Explainability &amp; Transparency - directly answers Kiran's question about SHAP with a real, mature tool.</a:t>
            </a:r>
          </a:p>
        </p:txBody>
      </p:sp>
      <p:sp>
        <p:nvSpPr>
          <p:cNvPr id="36" name="TextBox 35"/>
          <p:cNvSpPr txBox="1"/>
          <p:nvPr/>
        </p:nvSpPr>
        <p:spPr>
          <a:xfrm>
            <a:off x="7452360" y="4800600"/>
            <a:ext cx="4069080" cy="182880"/>
          </a:xfrm>
          <a:prstGeom prst="rect">
            <a:avLst/>
          </a:prstGeom>
          <a:noFill/>
        </p:spPr>
        <p:txBody>
          <a:bodyPr wrap="square" anchor="t" lIns="0" rIns="0" tIns="0" bIns="0">
            <a:spAutoFit/>
          </a:bodyPr>
          <a:lstStyle/>
          <a:p>
            <a:pPr algn="l">
              <a:lnSpc>
                <a:spcPct val="100000"/>
              </a:lnSpc>
            </a:pPr>
            <a:r>
              <a:rPr sz="950" b="1" i="0">
                <a:solidFill>
                  <a:srgbClr val="1B9AAA"/>
                </a:solidFill>
                <a:latin typeface="Calibri"/>
              </a:rPr>
              <a:t>BUILD VS. BUY</a:t>
            </a:r>
          </a:p>
        </p:txBody>
      </p:sp>
      <p:sp>
        <p:nvSpPr>
          <p:cNvPr id="37" name="TextBox 36"/>
          <p:cNvSpPr txBox="1"/>
          <p:nvPr/>
        </p:nvSpPr>
        <p:spPr>
          <a:xfrm>
            <a:off x="7452360" y="5010912"/>
            <a:ext cx="4069080" cy="1417320"/>
          </a:xfrm>
          <a:prstGeom prst="rect">
            <a:avLst/>
          </a:prstGeom>
          <a:noFill/>
        </p:spPr>
        <p:txBody>
          <a:bodyPr wrap="square" anchor="t" lIns="0" rIns="0" tIns="0" bIns="0">
            <a:spAutoFit/>
          </a:bodyPr>
          <a:lstStyle/>
          <a:p>
            <a:pPr algn="l">
              <a:lnSpc>
                <a:spcPct val="108000"/>
              </a:lnSpc>
            </a:pPr>
            <a:r>
              <a:rPr sz="930" b="0" i="0">
                <a:solidFill>
                  <a:srgbClr val="FFFFFF"/>
                </a:solidFill>
                <a:latin typeface="Calibri"/>
              </a:rPr>
              <a:t>N/A, consume as-is - mature, Nature-published, industry-standard; no reason to rebuild Shapley-value estimation in-house</a:t>
            </a:r>
          </a:p>
        </p:txBody>
      </p:sp>
      <p:sp>
        <p:nvSpPr>
          <p:cNvPr id="38" name="Rectangle 3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0" name="TextBox 3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SHAP</a:t>
            </a:r>
          </a:p>
        </p:txBody>
      </p:sp>
      <p:sp>
        <p:nvSpPr>
          <p:cNvPr id="41" name="TextBox 4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880360"/>
            <a:ext cx="5486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058400" cy="365760"/>
          </a:xfrm>
          <a:prstGeom prst="rect">
            <a:avLst/>
          </a:prstGeom>
          <a:noFill/>
        </p:spPr>
        <p:txBody>
          <a:bodyPr wrap="square" anchor="t" lIns="0" rIns="0" tIns="0" bIns="0">
            <a:spAutoFit/>
          </a:bodyPr>
          <a:lstStyle/>
          <a:p>
            <a:pPr algn="l">
              <a:lnSpc>
                <a:spcPct val="100000"/>
              </a:lnSpc>
            </a:pPr>
            <a:r>
              <a:rPr sz="1400" b="1" i="0">
                <a:solidFill>
                  <a:srgbClr val="1B9AAA"/>
                </a:solidFill>
                <a:latin typeface="Calibri"/>
              </a:rPr>
              <a:t>SECTION</a:t>
            </a:r>
          </a:p>
        </p:txBody>
      </p:sp>
      <p:sp>
        <p:nvSpPr>
          <p:cNvPr id="6" name="TextBox 5"/>
          <p:cNvSpPr txBox="1"/>
          <p:nvPr/>
        </p:nvSpPr>
        <p:spPr>
          <a:xfrm>
            <a:off x="777240" y="3017520"/>
            <a:ext cx="10607040" cy="1005840"/>
          </a:xfrm>
          <a:prstGeom prst="rect">
            <a:avLst/>
          </a:prstGeom>
          <a:noFill/>
        </p:spPr>
        <p:txBody>
          <a:bodyPr wrap="square" anchor="t" lIns="0" rIns="0" tIns="0" bIns="0">
            <a:spAutoFit/>
          </a:bodyPr>
          <a:lstStyle/>
          <a:p>
            <a:pPr algn="l">
              <a:lnSpc>
                <a:spcPct val="100000"/>
              </a:lnSpc>
            </a:pPr>
            <a:r>
              <a:rPr sz="3400" b="1" i="0">
                <a:solidFill>
                  <a:srgbClr val="FFFFFF"/>
                </a:solidFill>
                <a:latin typeface="Calibri"/>
              </a:rPr>
              <a:t>The Master Checklist</a:t>
            </a:r>
          </a:p>
        </p:txBody>
      </p:sp>
      <p:sp>
        <p:nvSpPr>
          <p:cNvPr id="7" name="TextBox 6"/>
          <p:cNvSpPr txBox="1"/>
          <p:nvPr/>
        </p:nvSpPr>
        <p:spPr>
          <a:xfrm>
            <a:off x="822960" y="3977639"/>
            <a:ext cx="9875520" cy="731520"/>
          </a:xfrm>
          <a:prstGeom prst="rect">
            <a:avLst/>
          </a:prstGeom>
          <a:noFill/>
        </p:spPr>
        <p:txBody>
          <a:bodyPr wrap="square" anchor="t" lIns="0" rIns="0" tIns="0" bIns="0">
            <a:spAutoFit/>
          </a:bodyPr>
          <a:lstStyle/>
          <a:p>
            <a:pPr algn="l">
              <a:lnSpc>
                <a:spcPct val="125000"/>
              </a:lnSpc>
            </a:pPr>
            <a:r>
              <a:rPr sz="1400" b="0" i="0">
                <a:solidFill>
                  <a:srgbClr val="CFDAE6"/>
                </a:solidFill>
                <a:latin typeface="Calibri"/>
              </a:rPr>
              <a:t>Every concrete check found across all 23 tools, grouped by tenet - the full inventory behind the recommendations that follow.</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E86AB"/>
                </a:solidFill>
                <a:latin typeface="Calibri"/>
              </a:rPr>
              <a:t>MASTER CHECKLIST</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Privacy</a:t>
            </a:r>
          </a:p>
        </p:txBody>
      </p:sp>
      <p:sp>
        <p:nvSpPr>
          <p:cNvPr id="6" name="Rectangle 5"/>
          <p:cNvSpPr/>
          <p:nvPr/>
        </p:nvSpPr>
        <p:spPr>
          <a:xfrm>
            <a:off x="502920" y="1207008"/>
            <a:ext cx="2011680" cy="3200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292608"/>
          </a:xfrm>
          <a:prstGeom prst="rect">
            <a:avLst/>
          </a:prstGeom>
          <a:noFill/>
        </p:spPr>
        <p:txBody>
          <a:bodyPr wrap="square" anchor="t" lIns="0" rIns="0" tIns="0" bIns="0">
            <a:spAutoFit/>
          </a:bodyPr>
          <a:lstStyle/>
          <a:p>
            <a:pPr algn="l">
              <a:lnSpc>
                <a:spcPct val="100000"/>
              </a:lnSpc>
            </a:pPr>
            <a:r>
              <a:rPr sz="1150" b="0" i="0">
                <a:solidFill>
                  <a:srgbClr val="5B6B7D"/>
                </a:solidFill>
                <a:latin typeface="Calibri"/>
              </a:rPr>
              <a:t>19 concrete checks found across the 23 tools for this tenet - the number in brackets is how many tools provide it.</a:t>
            </a:r>
          </a:p>
        </p:txBody>
      </p:sp>
      <p:sp>
        <p:nvSpPr>
          <p:cNvPr id="8" name="Rectangle 7"/>
          <p:cNvSpPr/>
          <p:nvPr/>
        </p:nvSpPr>
        <p:spPr>
          <a:xfrm>
            <a:off x="502920" y="1888418"/>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Presidio-backed PII entity detection and redaction  (4)</a:t>
            </a:r>
          </a:p>
        </p:txBody>
      </p:sp>
      <p:sp>
        <p:nvSpPr>
          <p:cNvPr id="10" name="Rectangle 9"/>
          <p:cNvSpPr/>
          <p:nvPr/>
        </p:nvSpPr>
        <p:spPr>
          <a:xfrm>
            <a:off x="502920" y="2217602"/>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Email address detection (regex)  (5)</a:t>
            </a:r>
          </a:p>
        </p:txBody>
      </p:sp>
      <p:sp>
        <p:nvSpPr>
          <p:cNvPr id="12" name="Rectangle 11"/>
          <p:cNvSpPr/>
          <p:nvPr/>
        </p:nvSpPr>
        <p:spPr>
          <a:xfrm>
            <a:off x="502920" y="2546786"/>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Phone number detection (regex, US and international)  (5)</a:t>
            </a:r>
          </a:p>
        </p:txBody>
      </p:sp>
      <p:sp>
        <p:nvSpPr>
          <p:cNvPr id="14" name="Rectangle 13"/>
          <p:cNvSpPr/>
          <p:nvPr/>
        </p:nvSpPr>
        <p:spPr>
          <a:xfrm>
            <a:off x="502920" y="2875970"/>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US Social Security Number detection  (5)</a:t>
            </a:r>
          </a:p>
        </p:txBody>
      </p:sp>
      <p:sp>
        <p:nvSpPr>
          <p:cNvPr id="16" name="Rectangle 15"/>
          <p:cNvSpPr/>
          <p:nvPr/>
        </p:nvSpPr>
        <p:spPr>
          <a:xfrm>
            <a:off x="502920" y="3205154"/>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Credit card detection with Luhn checksum validation  (3)</a:t>
            </a:r>
          </a:p>
        </p:txBody>
      </p:sp>
      <p:sp>
        <p:nvSpPr>
          <p:cNvPr id="18" name="Rectangle 17"/>
          <p:cNvSpPr/>
          <p:nvPr/>
        </p:nvSpPr>
        <p:spPr>
          <a:xfrm>
            <a:off x="502920" y="3534338"/>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IBAN / bank account / routing number detection  (4)</a:t>
            </a:r>
          </a:p>
        </p:txBody>
      </p:sp>
      <p:sp>
        <p:nvSpPr>
          <p:cNvPr id="20" name="Rectangle 19"/>
          <p:cNvSpPr/>
          <p:nvPr/>
        </p:nvSpPr>
        <p:spPr>
          <a:xfrm>
            <a:off x="502920" y="3863522"/>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National / government ID detection across jurisdictions  (4)</a:t>
            </a:r>
          </a:p>
        </p:txBody>
      </p:sp>
      <p:sp>
        <p:nvSpPr>
          <p:cNvPr id="22" name="Rectangle 21"/>
          <p:cNvSpPr/>
          <p:nvPr/>
        </p:nvSpPr>
        <p:spPr>
          <a:xfrm>
            <a:off x="4130040" y="1888418"/>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463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Healthcare PHI entities (ICD-10, MRN, NPI, DEA, medical licence)  (3)</a:t>
            </a:r>
          </a:p>
        </p:txBody>
      </p:sp>
      <p:sp>
        <p:nvSpPr>
          <p:cNvPr id="24" name="Rectangle 23"/>
          <p:cNvSpPr/>
          <p:nvPr/>
        </p:nvSpPr>
        <p:spPr>
          <a:xfrm>
            <a:off x="4130040" y="2217602"/>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463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Network identifiers treated as PII (IP address, MAC, UUID)  (3)</a:t>
            </a:r>
          </a:p>
        </p:txBody>
      </p:sp>
      <p:sp>
        <p:nvSpPr>
          <p:cNvPr id="26" name="Rectangle 25"/>
          <p:cNvSpPr/>
          <p:nvPr/>
        </p:nvSpPr>
        <p:spPr>
          <a:xfrm>
            <a:off x="4130040" y="2546786"/>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463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Zero-shot / NER-model PII detection beyond a fixed taxonomy  (2)</a:t>
            </a:r>
          </a:p>
        </p:txBody>
      </p:sp>
      <p:sp>
        <p:nvSpPr>
          <p:cNvPr id="28" name="Rectangle 27"/>
          <p:cNvSpPr/>
          <p:nvPr/>
        </p:nvSpPr>
        <p:spPr>
          <a:xfrm>
            <a:off x="4130040" y="2875970"/>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463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LLM-as-judge PII leakage detection  (5)</a:t>
            </a:r>
          </a:p>
        </p:txBody>
      </p:sp>
      <p:sp>
        <p:nvSpPr>
          <p:cNvPr id="30" name="Rectangle 29"/>
          <p:cNvSpPr/>
          <p:nvPr/>
        </p:nvSpPr>
        <p:spPr>
          <a:xfrm>
            <a:off x="4130040" y="3205154"/>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9463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Reversible anonymisation with a vault for later re-identification  (1)</a:t>
            </a:r>
          </a:p>
        </p:txBody>
      </p:sp>
      <p:sp>
        <p:nvSpPr>
          <p:cNvPr id="32" name="Rectangle 31"/>
          <p:cNvSpPr/>
          <p:nvPr/>
        </p:nvSpPr>
        <p:spPr>
          <a:xfrm>
            <a:off x="4130040" y="3534338"/>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463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Synthetic-value substitution, encryption and differential privacy  (1)</a:t>
            </a:r>
          </a:p>
        </p:txBody>
      </p:sp>
      <p:sp>
        <p:nvSpPr>
          <p:cNvPr id="34" name="Rectangle 33"/>
          <p:cNvSpPr/>
          <p:nvPr/>
        </p:nvSpPr>
        <p:spPr>
          <a:xfrm>
            <a:off x="4130040" y="3863522"/>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9463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Multi-format and multi-modal PII scanning (PDF, Office, images/OCR, DICOM, video)  (1)</a:t>
            </a:r>
          </a:p>
        </p:txBody>
      </p:sp>
      <p:sp>
        <p:nvSpPr>
          <p:cNvPr id="36" name="Rectangle 35"/>
          <p:cNvSpPr/>
          <p:nvPr/>
        </p:nvSpPr>
        <p:spPr>
          <a:xfrm>
            <a:off x="7757160" y="1888418"/>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2175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PII leakage red-team probing (ProPILE twin/triplet/quadruplet patterns)  (4)</a:t>
            </a:r>
          </a:p>
        </p:txBody>
      </p:sp>
      <p:sp>
        <p:nvSpPr>
          <p:cNvPr id="38" name="Rectangle 37"/>
          <p:cNvSpPr/>
          <p:nvPr/>
        </p:nvSpPr>
        <p:spPr>
          <a:xfrm>
            <a:off x="7757160" y="2217602"/>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2175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Training-data memorisation / verbatim replay leak testing  (3)</a:t>
            </a:r>
          </a:p>
        </p:txBody>
      </p:sp>
      <p:sp>
        <p:nvSpPr>
          <p:cNvPr id="40" name="Rectangle 39"/>
          <p:cNvSpPr/>
          <p:nvPr/>
        </p:nvSpPr>
        <p:spPr>
          <a:xfrm>
            <a:off x="7757160" y="2546786"/>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2175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Log and telemetry secret redaction before persistence  (2)</a:t>
            </a:r>
          </a:p>
        </p:txBody>
      </p:sp>
      <p:sp>
        <p:nvSpPr>
          <p:cNvPr id="42" name="Rectangle 41"/>
          <p:cNvSpPr/>
          <p:nvPr/>
        </p:nvSpPr>
        <p:spPr>
          <a:xfrm>
            <a:off x="7757160" y="2875970"/>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2175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System-prompt and configuration leakage detection  (5)</a:t>
            </a:r>
          </a:p>
        </p:txBody>
      </p:sp>
      <p:sp>
        <p:nvSpPr>
          <p:cNvPr id="44" name="Rectangle 43"/>
          <p:cNvSpPr/>
          <p:nvPr/>
        </p:nvSpPr>
        <p:spPr>
          <a:xfrm>
            <a:off x="7757160" y="3205154"/>
            <a:ext cx="82296" cy="82296"/>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2175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Standardised PII entity vocabulary and severity taxonomy  (1)</a:t>
            </a:r>
          </a:p>
        </p:txBody>
      </p:sp>
      <p:sp>
        <p:nvSpPr>
          <p:cNvPr id="46" name="Rectangle 45"/>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8" name="TextBox 47"/>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Checklist - Privacy</a:t>
            </a:r>
          </a:p>
        </p:txBody>
      </p:sp>
      <p:sp>
        <p:nvSpPr>
          <p:cNvPr id="49" name="TextBox 48"/>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MASTER CHECKLIST</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Security</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292608"/>
          </a:xfrm>
          <a:prstGeom prst="rect">
            <a:avLst/>
          </a:prstGeom>
          <a:noFill/>
        </p:spPr>
        <p:txBody>
          <a:bodyPr wrap="square" anchor="t" lIns="0" rIns="0" tIns="0" bIns="0">
            <a:spAutoFit/>
          </a:bodyPr>
          <a:lstStyle/>
          <a:p>
            <a:pPr algn="l">
              <a:lnSpc>
                <a:spcPct val="100000"/>
              </a:lnSpc>
            </a:pPr>
            <a:r>
              <a:rPr sz="1150" b="0" i="0">
                <a:solidFill>
                  <a:srgbClr val="5B6B7D"/>
                </a:solidFill>
                <a:latin typeface="Calibri"/>
              </a:rPr>
              <a:t>37 concrete checks found across the 23 tools for this tenet - the number in brackets is how many tools provide it.</a:t>
            </a:r>
          </a:p>
        </p:txBody>
      </p:sp>
      <p:sp>
        <p:nvSpPr>
          <p:cNvPr id="8" name="Rectangle 7"/>
          <p:cNvSpPr/>
          <p:nvPr/>
        </p:nvSpPr>
        <p:spPr>
          <a:xfrm>
            <a:off x="502920" y="188841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Fine-tuned transformer prompt-injection classifier  (2)</a:t>
            </a:r>
          </a:p>
        </p:txBody>
      </p:sp>
      <p:sp>
        <p:nvSpPr>
          <p:cNvPr id="10" name="Rectangle 9"/>
          <p:cNvSpPr/>
          <p:nvPr/>
        </p:nvSpPr>
        <p:spPr>
          <a:xfrm>
            <a:off x="502920" y="2217602"/>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Heuristic / fuzzy keyword prompt-injection screening  (2)</a:t>
            </a:r>
          </a:p>
        </p:txBody>
      </p:sp>
      <p:sp>
        <p:nvSpPr>
          <p:cNvPr id="12" name="Rectangle 11"/>
          <p:cNvSpPr/>
          <p:nvPr/>
        </p:nvSpPr>
        <p:spPr>
          <a:xfrm>
            <a:off x="502920" y="2546786"/>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Regex / phrase-list prompt-injection and jailbreak detection  (4)</a:t>
            </a:r>
          </a:p>
        </p:txBody>
      </p:sp>
      <p:sp>
        <p:nvSpPr>
          <p:cNvPr id="14" name="Rectangle 13"/>
          <p:cNvSpPr/>
          <p:nvPr/>
        </p:nvSpPr>
        <p:spPr>
          <a:xfrm>
            <a:off x="502920" y="2875970"/>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LLM-as-judge prompt-injection scoring  (4)</a:t>
            </a:r>
          </a:p>
        </p:txBody>
      </p:sp>
      <p:sp>
        <p:nvSpPr>
          <p:cNvPr id="16" name="Rectangle 15"/>
          <p:cNvSpPr/>
          <p:nvPr/>
        </p:nvSpPr>
        <p:spPr>
          <a:xfrm>
            <a:off x="502920" y="3205154"/>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Managed cloud jailbreak / prompt-shield API integration  (3)</a:t>
            </a:r>
          </a:p>
        </p:txBody>
      </p:sp>
      <p:sp>
        <p:nvSpPr>
          <p:cNvPr id="18" name="Rectangle 17"/>
          <p:cNvSpPr/>
          <p:nvPr/>
        </p:nvSpPr>
        <p:spPr>
          <a:xfrm>
            <a:off x="502920" y="353433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Vector-similarity lookup against a learned attack corpus  (2)</a:t>
            </a:r>
          </a:p>
        </p:txBody>
      </p:sp>
      <p:sp>
        <p:nvSpPr>
          <p:cNvPr id="20" name="Rectangle 19"/>
          <p:cNvSpPr/>
          <p:nvPr/>
        </p:nvSpPr>
        <p:spPr>
          <a:xfrm>
            <a:off x="502920" y="3863522"/>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Canary-token insertion and leak detection  (1)</a:t>
            </a:r>
          </a:p>
        </p:txBody>
      </p:sp>
      <p:sp>
        <p:nvSpPr>
          <p:cNvPr id="22" name="Rectangle 21"/>
          <p:cNvSpPr/>
          <p:nvPr/>
        </p:nvSpPr>
        <p:spPr>
          <a:xfrm>
            <a:off x="502920" y="4192706"/>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408736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Perplexity-based jailbreak heuristics (length ratio, prefix/suffix)  (1)</a:t>
            </a:r>
          </a:p>
        </p:txBody>
      </p:sp>
      <p:sp>
        <p:nvSpPr>
          <p:cNvPr id="24" name="Rectangle 23"/>
          <p:cNvSpPr/>
          <p:nvPr/>
        </p:nvSpPr>
        <p:spPr>
          <a:xfrm>
            <a:off x="502920" y="4521890"/>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67512" y="441655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Model-based jailbreak classifier on embeddings  (2)</a:t>
            </a:r>
          </a:p>
        </p:txBody>
      </p:sp>
      <p:sp>
        <p:nvSpPr>
          <p:cNvPr id="26" name="Rectangle 25"/>
          <p:cNvSpPr/>
          <p:nvPr/>
        </p:nvSpPr>
        <p:spPr>
          <a:xfrm>
            <a:off x="502920" y="4851074"/>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7512" y="4745736"/>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DAN / roleplay persona jailbreak attack library  (6)</a:t>
            </a:r>
          </a:p>
        </p:txBody>
      </p:sp>
      <p:sp>
        <p:nvSpPr>
          <p:cNvPr id="28" name="Rectangle 27"/>
          <p:cNvSpPr/>
          <p:nvPr/>
        </p:nvSpPr>
        <p:spPr>
          <a:xfrm>
            <a:off x="502920" y="518025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67512" y="507492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Encoding and obfuscation attacks (base64, ROT13, leetspeak, morse, unicode tags, ASCII art,…  (7)</a:t>
            </a:r>
          </a:p>
        </p:txBody>
      </p:sp>
      <p:sp>
        <p:nvSpPr>
          <p:cNvPr id="30" name="Rectangle 29"/>
          <p:cNvSpPr/>
          <p:nvPr/>
        </p:nvSpPr>
        <p:spPr>
          <a:xfrm>
            <a:off x="502920" y="5509442"/>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67512" y="540410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Multi-turn iterative jailbreaks (Crescendo, TAP, PAIR, GOAT, Tree, Linear, ActorAttack)  (6)</a:t>
            </a:r>
          </a:p>
        </p:txBody>
      </p:sp>
      <p:sp>
        <p:nvSpPr>
          <p:cNvPr id="32" name="Rectangle 31"/>
          <p:cNvSpPr/>
          <p:nvPr/>
        </p:nvSpPr>
        <p:spPr>
          <a:xfrm>
            <a:off x="502920" y="5838626"/>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67512" y="573328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Many-shot / context-stuffing jailbreak simulation  (4)</a:t>
            </a:r>
          </a:p>
        </p:txBody>
      </p:sp>
      <p:sp>
        <p:nvSpPr>
          <p:cNvPr id="34" name="Rectangle 33"/>
          <p:cNvSpPr/>
          <p:nvPr/>
        </p:nvSpPr>
        <p:spPr>
          <a:xfrm>
            <a:off x="4130040" y="188841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9463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Optimisation-based adversarial suffix attacks (GCG, genetic, Best-of-N)  (4)</a:t>
            </a:r>
          </a:p>
        </p:txBody>
      </p:sp>
      <p:sp>
        <p:nvSpPr>
          <p:cNvPr id="36" name="Rectangle 35"/>
          <p:cNvSpPr/>
          <p:nvPr/>
        </p:nvSpPr>
        <p:spPr>
          <a:xfrm>
            <a:off x="4130040" y="2217602"/>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9463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Seed-template mutation with bandit-based success reuse  (2)</a:t>
            </a:r>
          </a:p>
        </p:txBody>
      </p:sp>
      <p:sp>
        <p:nvSpPr>
          <p:cNvPr id="38" name="Rectangle 37"/>
          <p:cNvSpPr/>
          <p:nvPr/>
        </p:nvSpPr>
        <p:spPr>
          <a:xfrm>
            <a:off x="4130040" y="2546786"/>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9463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Indirect / latent prompt injection via documents, RAG chunks and web content  (3)</a:t>
            </a:r>
          </a:p>
        </p:txBody>
      </p:sp>
      <p:sp>
        <p:nvSpPr>
          <p:cNvPr id="40" name="Rectangle 39"/>
          <p:cNvSpPr/>
          <p:nvPr/>
        </p:nvSpPr>
        <p:spPr>
          <a:xfrm>
            <a:off x="4130040" y="2875970"/>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29463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YARA-rule injection detection (SQLi, Jinja template, code, XSS)  (1)</a:t>
            </a:r>
          </a:p>
        </p:txBody>
      </p:sp>
      <p:sp>
        <p:nvSpPr>
          <p:cNvPr id="42" name="Rectangle 41"/>
          <p:cNvSpPr/>
          <p:nvPr/>
        </p:nvSpPr>
        <p:spPr>
          <a:xfrm>
            <a:off x="4130040" y="3205154"/>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29463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Insecure-output-handling scorers (SQLi, XSS, SSRF, SSTI, XXE, path traversal, LDAP, shell)  (3)</a:t>
            </a:r>
          </a:p>
        </p:txBody>
      </p:sp>
      <p:sp>
        <p:nvSpPr>
          <p:cNvPr id="44" name="Rectangle 43"/>
          <p:cNvSpPr/>
          <p:nvPr/>
        </p:nvSpPr>
        <p:spPr>
          <a:xfrm>
            <a:off x="4130040" y="353433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29463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Secrets and credential leak regex scanning  (6)</a:t>
            </a:r>
          </a:p>
        </p:txBody>
      </p:sp>
      <p:sp>
        <p:nvSpPr>
          <p:cNvPr id="46" name="Rectangle 45"/>
          <p:cNvSpPr/>
          <p:nvPr/>
        </p:nvSpPr>
        <p:spPr>
          <a:xfrm>
            <a:off x="4130040" y="3863522"/>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29463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Shannon-entropy gating to suppress secret false positives  (1)</a:t>
            </a:r>
          </a:p>
        </p:txBody>
      </p:sp>
      <p:sp>
        <p:nvSpPr>
          <p:cNvPr id="48" name="Rectangle 47"/>
          <p:cNvSpPr/>
          <p:nvPr/>
        </p:nvSpPr>
        <p:spPr>
          <a:xfrm>
            <a:off x="4130040" y="4192706"/>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4294632" y="408736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Access-control red-teaming (BOLA, BFLA, RBAC bypass, debug access)  (2)</a:t>
            </a:r>
          </a:p>
        </p:txBody>
      </p:sp>
      <p:sp>
        <p:nvSpPr>
          <p:cNvPr id="50" name="Rectangle 49"/>
          <p:cNvSpPr/>
          <p:nvPr/>
        </p:nvSpPr>
        <p:spPr>
          <a:xfrm>
            <a:off x="4130040" y="4521890"/>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294632" y="441655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Agentic attack surface probes (goal theft, tool-metadata poisoning, orchestration abuse, agent…  (2)</a:t>
            </a:r>
          </a:p>
        </p:txBody>
      </p:sp>
      <p:sp>
        <p:nvSpPr>
          <p:cNvPr id="52" name="Rectangle 51"/>
          <p:cNvSpPr/>
          <p:nvPr/>
        </p:nvSpPr>
        <p:spPr>
          <a:xfrm>
            <a:off x="4130040" y="4851074"/>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4294632" y="4745736"/>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Tool-call and tool-result schema validation (fail-closed, no model call)  (2)</a:t>
            </a:r>
          </a:p>
        </p:txBody>
      </p:sp>
      <p:sp>
        <p:nvSpPr>
          <p:cNvPr id="54" name="Rectangle 53"/>
          <p:cNvSpPr/>
          <p:nvPr/>
        </p:nvSpPr>
        <p:spPr>
          <a:xfrm>
            <a:off x="4130040" y="518025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4294632" y="507492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Invisible-text, zero-width and ASCII-smuggling detection  (5)</a:t>
            </a:r>
          </a:p>
        </p:txBody>
      </p:sp>
      <p:sp>
        <p:nvSpPr>
          <p:cNvPr id="56" name="Rectangle 55"/>
          <p:cNvSpPr/>
          <p:nvPr/>
        </p:nvSpPr>
        <p:spPr>
          <a:xfrm>
            <a:off x="4130040" y="5509442"/>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294632" y="540410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Context-bloat and prompt-stuffing heuristics (entropy, repeated n-grams, longest run, size cap)  (1)</a:t>
            </a:r>
          </a:p>
        </p:txBody>
      </p:sp>
      <p:sp>
        <p:nvSpPr>
          <p:cNvPr id="58" name="Rectangle 57"/>
          <p:cNvSpPr/>
          <p:nvPr/>
        </p:nvSpPr>
        <p:spPr>
          <a:xfrm>
            <a:off x="4130040" y="5838626"/>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294632" y="573328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Gibberish / noise input detection  (2)</a:t>
            </a:r>
          </a:p>
        </p:txBody>
      </p:sp>
      <p:sp>
        <p:nvSpPr>
          <p:cNvPr id="60" name="Rectangle 59"/>
          <p:cNvSpPr/>
          <p:nvPr/>
        </p:nvSpPr>
        <p:spPr>
          <a:xfrm>
            <a:off x="7757160" y="188841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792175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Malicious URL classification and reachability checking  (2)</a:t>
            </a:r>
          </a:p>
        </p:txBody>
      </p:sp>
      <p:sp>
        <p:nvSpPr>
          <p:cNvPr id="62" name="Rectangle 61"/>
          <p:cNvSpPr/>
          <p:nvPr/>
        </p:nvSpPr>
        <p:spPr>
          <a:xfrm>
            <a:off x="7757160" y="2217602"/>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92175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Malicious command and data-exfiltration egress control  (2)</a:t>
            </a:r>
          </a:p>
        </p:txBody>
      </p:sp>
      <p:sp>
        <p:nvSpPr>
          <p:cNvPr id="64" name="Rectangle 63"/>
          <p:cNvSpPr/>
          <p:nvPr/>
        </p:nvSpPr>
        <p:spPr>
          <a:xfrm>
            <a:off x="7757160" y="2546786"/>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92175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LLM-driven static code scanning for AI-security defects  (2)</a:t>
            </a:r>
          </a:p>
        </p:txBody>
      </p:sp>
      <p:sp>
        <p:nvSpPr>
          <p:cNvPr id="66" name="Rectangle 65"/>
          <p:cNvSpPr/>
          <p:nvPr/>
        </p:nvSpPr>
        <p:spPr>
          <a:xfrm>
            <a:off x="7757160" y="2875970"/>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792175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Sandbox-escape and container-recon detection in model output  (1)</a:t>
            </a:r>
          </a:p>
        </p:txBody>
      </p:sp>
      <p:sp>
        <p:nvSpPr>
          <p:cNvPr id="68" name="Rectangle 67"/>
          <p:cNvSpPr/>
          <p:nvPr/>
        </p:nvSpPr>
        <p:spPr>
          <a:xfrm>
            <a:off x="7757160" y="3205154"/>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92175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Known-bad signature reproduction tests (EICAR, GTUBE, GTphish)  (1)</a:t>
            </a:r>
          </a:p>
        </p:txBody>
      </p:sp>
      <p:sp>
        <p:nvSpPr>
          <p:cNvPr id="70" name="Rectangle 69"/>
          <p:cNvSpPr/>
          <p:nvPr/>
        </p:nvSpPr>
        <p:spPr>
          <a:xfrm>
            <a:off x="7757160" y="353433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792175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Code-block detection and blocking in prompts and responses  (2)</a:t>
            </a:r>
          </a:p>
        </p:txBody>
      </p:sp>
      <p:sp>
        <p:nvSpPr>
          <p:cNvPr id="72" name="Rectangle 71"/>
          <p:cNvSpPr/>
          <p:nvPr/>
        </p:nvSpPr>
        <p:spPr>
          <a:xfrm>
            <a:off x="7757160" y="3863522"/>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92175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Randomised-perturbation jailbreak defence (SmoothLLM)  (1)</a:t>
            </a:r>
          </a:p>
        </p:txBody>
      </p:sp>
      <p:sp>
        <p:nvSpPr>
          <p:cNvPr id="74" name="Rectangle 73"/>
          <p:cNvSpPr/>
          <p:nvPr/>
        </p:nvSpPr>
        <p:spPr>
          <a:xfrm>
            <a:off x="7757160" y="4192706"/>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7921752" y="408736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Multimodal attack adapters (image, audio, video jailbreaks)  (4)</a:t>
            </a:r>
          </a:p>
        </p:txBody>
      </p:sp>
      <p:sp>
        <p:nvSpPr>
          <p:cNvPr id="76" name="Rectangle 75"/>
          <p:cNvSpPr/>
          <p:nvPr/>
        </p:nvSpPr>
        <p:spPr>
          <a:xfrm>
            <a:off x="7757160" y="4521890"/>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7921752" y="441655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Guardrail-presence probing (shields up/down)  (1)</a:t>
            </a:r>
          </a:p>
        </p:txBody>
      </p:sp>
      <p:sp>
        <p:nvSpPr>
          <p:cNvPr id="78" name="Rectangle 77"/>
          <p:cNvSpPr/>
          <p:nvPr/>
        </p:nvSpPr>
        <p:spPr>
          <a:xfrm>
            <a:off x="7757160" y="4851074"/>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921752" y="4745736"/>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Cloud moderation and guardrail APIs used as attack-success oracles  (1)</a:t>
            </a:r>
          </a:p>
        </p:txBody>
      </p:sp>
      <p:sp>
        <p:nvSpPr>
          <p:cNvPr id="80" name="Rectangle 79"/>
          <p:cNvSpPr/>
          <p:nvPr/>
        </p:nvSpPr>
        <p:spPr>
          <a:xfrm>
            <a:off x="7757160" y="5180258"/>
            <a:ext cx="82296" cy="82296"/>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7921752" y="507492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Versioned YAML attack-rule authoring with severity and pass/fail conditions  (1)</a:t>
            </a:r>
          </a:p>
        </p:txBody>
      </p:sp>
      <p:sp>
        <p:nvSpPr>
          <p:cNvPr id="82" name="Rectangle 81"/>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84" name="TextBox 83"/>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Checklist - Security</a:t>
            </a:r>
          </a:p>
        </p:txBody>
      </p:sp>
      <p:sp>
        <p:nvSpPr>
          <p:cNvPr id="85" name="TextBox 84"/>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32</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6A4C93"/>
                </a:solidFill>
                <a:latin typeface="Calibri"/>
              </a:rPr>
              <a:t>MASTER CHECKLIST</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Fairness &amp; Bias</a:t>
            </a:r>
          </a:p>
        </p:txBody>
      </p:sp>
      <p:sp>
        <p:nvSpPr>
          <p:cNvPr id="6" name="Rectangle 5"/>
          <p:cNvSpPr/>
          <p:nvPr/>
        </p:nvSpPr>
        <p:spPr>
          <a:xfrm>
            <a:off x="502920" y="1207008"/>
            <a:ext cx="2011680" cy="32004"/>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292608"/>
          </a:xfrm>
          <a:prstGeom prst="rect">
            <a:avLst/>
          </a:prstGeom>
          <a:noFill/>
        </p:spPr>
        <p:txBody>
          <a:bodyPr wrap="square" anchor="t" lIns="0" rIns="0" tIns="0" bIns="0">
            <a:spAutoFit/>
          </a:bodyPr>
          <a:lstStyle/>
          <a:p>
            <a:pPr algn="l">
              <a:lnSpc>
                <a:spcPct val="100000"/>
              </a:lnSpc>
            </a:pPr>
            <a:r>
              <a:rPr sz="1150" b="0" i="0">
                <a:solidFill>
                  <a:srgbClr val="5B6B7D"/>
                </a:solidFill>
                <a:latin typeface="Calibri"/>
              </a:rPr>
              <a:t>16 concrete checks found across the 23 tools for this tenet - the number in brackets is how many tools provide it.</a:t>
            </a:r>
          </a:p>
        </p:txBody>
      </p:sp>
      <p:sp>
        <p:nvSpPr>
          <p:cNvPr id="8" name="Rectangle 7"/>
          <p:cNvSpPr/>
          <p:nvPr/>
        </p:nvSpPr>
        <p:spPr>
          <a:xfrm>
            <a:off x="502920" y="1888418"/>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Group fairness disparity metrics (demographic parity, equalised odds, equal opportunity, disparate…  (3)</a:t>
            </a:r>
          </a:p>
        </p:txBody>
      </p:sp>
      <p:sp>
        <p:nvSpPr>
          <p:cNvPr id="10" name="Rectangle 9"/>
          <p:cNvSpPr/>
          <p:nvPr/>
        </p:nvSpPr>
        <p:spPr>
          <a:xfrm>
            <a:off x="502920" y="2217602"/>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Disaggregated metric computation with derived difference and ratio wrappers  (2)</a:t>
            </a:r>
          </a:p>
        </p:txBody>
      </p:sp>
      <p:sp>
        <p:nvSpPr>
          <p:cNvPr id="12" name="Rectangle 11"/>
          <p:cNvSpPr/>
          <p:nvPr/>
        </p:nvSpPr>
        <p:spPr>
          <a:xfrm>
            <a:off x="502920" y="2546786"/>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Individual-fairness and inequality indices (Theil, generalised entropy, consistency)  (1)</a:t>
            </a:r>
          </a:p>
        </p:txBody>
      </p:sp>
      <p:sp>
        <p:nvSpPr>
          <p:cNvPr id="14" name="Rectangle 13"/>
          <p:cNvSpPr/>
          <p:nvPr/>
        </p:nvSpPr>
        <p:spPr>
          <a:xfrm>
            <a:off x="502920" y="2875970"/>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Automated biased-subgroup discovery (MDSS, FACTS, GerryFair, weak segments)  (2)</a:t>
            </a:r>
          </a:p>
        </p:txBody>
      </p:sp>
      <p:sp>
        <p:nvSpPr>
          <p:cNvPr id="16" name="Rectangle 15"/>
          <p:cNvSpPr/>
          <p:nvPr/>
        </p:nvSpPr>
        <p:spPr>
          <a:xfrm>
            <a:off x="502920" y="3205154"/>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Intersectional / multi-attribute fairness with bootstrap confidence intervals  (2)</a:t>
            </a:r>
          </a:p>
        </p:txBody>
      </p:sp>
      <p:sp>
        <p:nvSpPr>
          <p:cNvPr id="18" name="Rectangle 17"/>
          <p:cNvSpPr/>
          <p:nvPr/>
        </p:nvSpPr>
        <p:spPr>
          <a:xfrm>
            <a:off x="502920" y="3534338"/>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Pre-processing bias mitigation (Reweighing, Disparate Impact Remover, CorrelationRemover, LFR)  (3)</a:t>
            </a:r>
          </a:p>
        </p:txBody>
      </p:sp>
      <p:sp>
        <p:nvSpPr>
          <p:cNvPr id="20" name="Rectangle 19"/>
          <p:cNvSpPr/>
          <p:nvPr/>
        </p:nvSpPr>
        <p:spPr>
          <a:xfrm>
            <a:off x="4130040" y="1888418"/>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29463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In-processing bias mitigation (adversarial debiasing, exponentiated gradient, grid search,…  (2)</a:t>
            </a:r>
          </a:p>
        </p:txBody>
      </p:sp>
      <p:sp>
        <p:nvSpPr>
          <p:cNvPr id="22" name="Rectangle 21"/>
          <p:cNvSpPr/>
          <p:nvPr/>
        </p:nvSpPr>
        <p:spPr>
          <a:xfrm>
            <a:off x="4130040" y="2217602"/>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463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Post-processing bias mitigation (ThresholdOptimizer, calibrated equalised odds, reject option,…  (3)</a:t>
            </a:r>
          </a:p>
        </p:txBody>
      </p:sp>
      <p:sp>
        <p:nvSpPr>
          <p:cNvPr id="24" name="Rectangle 23"/>
          <p:cNvSpPr/>
          <p:nvPr/>
        </p:nvSpPr>
        <p:spPr>
          <a:xfrm>
            <a:off x="4130040" y="2546786"/>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463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Optimal-transport (Wasserstein) fairness distance  (1)</a:t>
            </a:r>
          </a:p>
        </p:txBody>
      </p:sp>
      <p:sp>
        <p:nvSpPr>
          <p:cNvPr id="26" name="Rectangle 25"/>
          <p:cNvSpPr/>
          <p:nvPr/>
        </p:nvSpPr>
        <p:spPr>
          <a:xfrm>
            <a:off x="4130040" y="2875970"/>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463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Subgroup performance-gap, class-imbalance and label-leakage data checks  (1)</a:t>
            </a:r>
          </a:p>
        </p:txBody>
      </p:sp>
      <p:sp>
        <p:nvSpPr>
          <p:cNvPr id="28" name="Rectangle 27"/>
          <p:cNvSpPr/>
          <p:nvPr/>
        </p:nvSpPr>
        <p:spPr>
          <a:xfrm>
            <a:off x="4130040" y="3205154"/>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463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LLM-output bias detection by demographic axis (LLM-as-judge)  (5)</a:t>
            </a:r>
          </a:p>
        </p:txBody>
      </p:sp>
      <p:sp>
        <p:nvSpPr>
          <p:cNvPr id="30" name="Rectangle 29"/>
          <p:cNvSpPr/>
          <p:nvPr/>
        </p:nvSpPr>
        <p:spPr>
          <a:xfrm>
            <a:off x="4130040" y="3534338"/>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9463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Local model-based bias classifier for text  (2)</a:t>
            </a:r>
          </a:p>
        </p:txBody>
      </p:sp>
      <p:sp>
        <p:nvSpPr>
          <p:cNvPr id="32" name="Rectangle 31"/>
          <p:cNvSpPr/>
          <p:nvPr/>
        </p:nvSpPr>
        <p:spPr>
          <a:xfrm>
            <a:off x="7757160" y="1888418"/>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792175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Bias red-team probe packs (age, disability, gender, race, LMRC risk cards)  (3)</a:t>
            </a:r>
          </a:p>
        </p:txBody>
      </p:sp>
      <p:sp>
        <p:nvSpPr>
          <p:cNvPr id="34" name="Rectangle 33"/>
          <p:cNvSpPr/>
          <p:nvPr/>
        </p:nvSpPr>
        <p:spPr>
          <a:xfrm>
            <a:off x="7757160" y="2217602"/>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92175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Image and multimodal demographic bias review  (1)</a:t>
            </a:r>
          </a:p>
        </p:txBody>
      </p:sp>
      <p:sp>
        <p:nvSpPr>
          <p:cNvPr id="36" name="Rectangle 35"/>
          <p:cNvSpPr/>
          <p:nvPr/>
        </p:nvSpPr>
        <p:spPr>
          <a:xfrm>
            <a:off x="7757160" y="2546786"/>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2175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Feature-level decomposition of between-group outcome gaps  (1)</a:t>
            </a:r>
          </a:p>
        </p:txBody>
      </p:sp>
      <p:sp>
        <p:nvSpPr>
          <p:cNvPr id="38" name="Rectangle 37"/>
          <p:cNvSpPr/>
          <p:nvPr/>
        </p:nvSpPr>
        <p:spPr>
          <a:xfrm>
            <a:off x="7757160" y="2875970"/>
            <a:ext cx="82296" cy="82296"/>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2175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Standard bias benchmark harnesses (BBQ, EquityMedQA, TrustLLM fairness)  (2)</a:t>
            </a:r>
          </a:p>
        </p:txBody>
      </p:sp>
      <p:sp>
        <p:nvSpPr>
          <p:cNvPr id="40" name="Rectangle 3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42" name="TextBox 4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Checklist - Fairness &amp; Bias</a:t>
            </a:r>
          </a:p>
        </p:txBody>
      </p:sp>
      <p:sp>
        <p:nvSpPr>
          <p:cNvPr id="43" name="TextBox 4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33</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08E45"/>
                </a:solidFill>
                <a:latin typeface="Calibri"/>
              </a:rPr>
              <a:t>MASTER CHECKLIST</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Explainability &amp; Transparency</a:t>
            </a:r>
          </a:p>
        </p:txBody>
      </p:sp>
      <p:sp>
        <p:nvSpPr>
          <p:cNvPr id="6" name="Rectangle 5"/>
          <p:cNvSpPr/>
          <p:nvPr/>
        </p:nvSpPr>
        <p:spPr>
          <a:xfrm>
            <a:off x="502920" y="1207008"/>
            <a:ext cx="2011680" cy="32004"/>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292608"/>
          </a:xfrm>
          <a:prstGeom prst="rect">
            <a:avLst/>
          </a:prstGeom>
          <a:noFill/>
        </p:spPr>
        <p:txBody>
          <a:bodyPr wrap="square" anchor="t" lIns="0" rIns="0" tIns="0" bIns="0">
            <a:spAutoFit/>
          </a:bodyPr>
          <a:lstStyle/>
          <a:p>
            <a:pPr algn="l">
              <a:lnSpc>
                <a:spcPct val="100000"/>
              </a:lnSpc>
            </a:pPr>
            <a:r>
              <a:rPr sz="1150" b="0" i="0">
                <a:solidFill>
                  <a:srgbClr val="5B6B7D"/>
                </a:solidFill>
                <a:latin typeface="Calibri"/>
              </a:rPr>
              <a:t>14 concrete checks found across the 23 tools for this tenet - the number in brackets is how many tools provide it.</a:t>
            </a:r>
          </a:p>
        </p:txBody>
      </p:sp>
      <p:sp>
        <p:nvSpPr>
          <p:cNvPr id="8" name="Rectangle 7"/>
          <p:cNvSpPr/>
          <p:nvPr/>
        </p:nvSpPr>
        <p:spPr>
          <a:xfrm>
            <a:off x="502920" y="1888418"/>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83080"/>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Shapley-value feature attribution across model families (Tree, Kernel, Deep, Gradient, Linear, GPU)  (2)</a:t>
            </a:r>
          </a:p>
        </p:txBody>
      </p:sp>
      <p:sp>
        <p:nvSpPr>
          <p:cNvPr id="10" name="Rectangle 9"/>
          <p:cNvSpPr/>
          <p:nvPr/>
        </p:nvSpPr>
        <p:spPr>
          <a:xfrm>
            <a:off x="502920" y="2217602"/>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112264"/>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LIME local surrogate explanations  (1)</a:t>
            </a:r>
          </a:p>
        </p:txBody>
      </p:sp>
      <p:sp>
        <p:nvSpPr>
          <p:cNvPr id="12" name="Rectangle 11"/>
          <p:cNvSpPr/>
          <p:nvPr/>
        </p:nvSpPr>
        <p:spPr>
          <a:xfrm>
            <a:off x="502920" y="2546786"/>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41448"/>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Token-level attribution for text and generative models  (2)</a:t>
            </a:r>
          </a:p>
        </p:txBody>
      </p:sp>
      <p:sp>
        <p:nvSpPr>
          <p:cNvPr id="14" name="Rectangle 13"/>
          <p:cNvSpPr/>
          <p:nvPr/>
        </p:nvSpPr>
        <p:spPr>
          <a:xfrm>
            <a:off x="502920" y="2875970"/>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2770632"/>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Plain-language and JSON explainers for computed metrics  (1)</a:t>
            </a:r>
          </a:p>
        </p:txBody>
      </p:sp>
      <p:sp>
        <p:nvSpPr>
          <p:cNvPr id="16" name="Rectangle 15"/>
          <p:cNvSpPr/>
          <p:nvPr/>
        </p:nvSpPr>
        <p:spPr>
          <a:xfrm>
            <a:off x="502920" y="3205154"/>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099815"/>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Structured-output and JSON-schema contract enforcement  (5)</a:t>
            </a:r>
          </a:p>
        </p:txBody>
      </p:sp>
      <p:sp>
        <p:nvSpPr>
          <p:cNvPr id="18" name="Rectangle 17"/>
          <p:cNvSpPr/>
          <p:nvPr/>
        </p:nvSpPr>
        <p:spPr>
          <a:xfrm>
            <a:off x="502920" y="3534338"/>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29000"/>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Character-offset error spans on streamed output  (2)</a:t>
            </a:r>
          </a:p>
        </p:txBody>
      </p:sp>
      <p:sp>
        <p:nvSpPr>
          <p:cNvPr id="20" name="Rectangle 19"/>
          <p:cNvSpPr/>
          <p:nvPr/>
        </p:nvSpPr>
        <p:spPr>
          <a:xfrm>
            <a:off x="502920" y="3863522"/>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3758184"/>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Per-check confidence breakdown showing which layer fired and why  (3)</a:t>
            </a:r>
          </a:p>
        </p:txBody>
      </p:sp>
      <p:sp>
        <p:nvSpPr>
          <p:cNvPr id="22" name="Rectangle 21"/>
          <p:cNvSpPr/>
          <p:nvPr/>
        </p:nvSpPr>
        <p:spPr>
          <a:xfrm>
            <a:off x="5943600" y="1888418"/>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08192" y="1783080"/>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Custom natural-language rubric judges with reasons (G-Eval, llm-rubric, Conformity, DAG)  (4)</a:t>
            </a:r>
          </a:p>
        </p:txBody>
      </p:sp>
      <p:sp>
        <p:nvSpPr>
          <p:cNvPr id="24" name="Rectangle 23"/>
          <p:cNvSpPr/>
          <p:nvPr/>
        </p:nvSpPr>
        <p:spPr>
          <a:xfrm>
            <a:off x="5943600" y="2217602"/>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08192" y="2112264"/>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Structured reasoning explanations (Chain-of-Thought, Chain-of-Verification, Thread/Graph-of-Thought)  (1)</a:t>
            </a:r>
          </a:p>
        </p:txBody>
      </p:sp>
      <p:sp>
        <p:nvSpPr>
          <p:cNvPr id="26" name="Rectangle 25"/>
          <p:cNvSpPr/>
          <p:nvPr/>
        </p:nvSpPr>
        <p:spPr>
          <a:xfrm>
            <a:off x="5943600" y="2546786"/>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08192" y="2441448"/>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Readability and reading-level metrics  (2)</a:t>
            </a:r>
          </a:p>
        </p:txBody>
      </p:sp>
      <p:sp>
        <p:nvSpPr>
          <p:cNvPr id="28" name="Rectangle 27"/>
          <p:cNvSpPr/>
          <p:nvPr/>
        </p:nvSpPr>
        <p:spPr>
          <a:xfrm>
            <a:off x="5943600" y="2875970"/>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08192" y="2770632"/>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Topic-adherence / on-topic scope classification  (5)</a:t>
            </a:r>
          </a:p>
        </p:txBody>
      </p:sp>
      <p:sp>
        <p:nvSpPr>
          <p:cNvPr id="30" name="Rectangle 29"/>
          <p:cNvSpPr/>
          <p:nvPr/>
        </p:nvSpPr>
        <p:spPr>
          <a:xfrm>
            <a:off x="5943600" y="3205154"/>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08192" y="3099815"/>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Counterfactual recourse and minimal-change action optimisation  (2)</a:t>
            </a:r>
          </a:p>
        </p:txBody>
      </p:sp>
      <p:sp>
        <p:nvSpPr>
          <p:cNvPr id="32" name="Rectangle 31"/>
          <p:cNvSpPr/>
          <p:nvPr/>
        </p:nvSpPr>
        <p:spPr>
          <a:xfrm>
            <a:off x="5943600" y="3534338"/>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108192" y="3429000"/>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Explanation-quality benchmarking (local accuracy, faithfulness, keep/remove-and-retrain)  (1)</a:t>
            </a:r>
          </a:p>
        </p:txBody>
      </p:sp>
      <p:sp>
        <p:nvSpPr>
          <p:cNvPr id="34" name="Rectangle 33"/>
          <p:cNvSpPr/>
          <p:nvPr/>
        </p:nvSpPr>
        <p:spPr>
          <a:xfrm>
            <a:off x="5943600" y="3863522"/>
            <a:ext cx="82296" cy="82296"/>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08192" y="3758184"/>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Deterministic format validators (regex, length, range, choices, valid URL, one-line)  (5)</a:t>
            </a:r>
          </a:p>
        </p:txBody>
      </p:sp>
      <p:sp>
        <p:nvSpPr>
          <p:cNvPr id="36" name="Rectangle 35"/>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8" name="TextBox 37"/>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Checklist - Explainability &amp; Transparency</a:t>
            </a:r>
          </a:p>
        </p:txBody>
      </p:sp>
      <p:sp>
        <p:nvSpPr>
          <p:cNvPr id="39" name="TextBox 38"/>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34</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76F51"/>
                </a:solidFill>
                <a:latin typeface="Calibri"/>
              </a:rPr>
              <a:t>MASTER CHECKLIST</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Profanity / Content Safety</a:t>
            </a:r>
          </a:p>
        </p:txBody>
      </p:sp>
      <p:sp>
        <p:nvSpPr>
          <p:cNvPr id="6" name="Rectangle 5"/>
          <p:cNvSpPr/>
          <p:nvPr/>
        </p:nvSpPr>
        <p:spPr>
          <a:xfrm>
            <a:off x="502920" y="1207008"/>
            <a:ext cx="2011680" cy="3200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292608"/>
          </a:xfrm>
          <a:prstGeom prst="rect">
            <a:avLst/>
          </a:prstGeom>
          <a:noFill/>
        </p:spPr>
        <p:txBody>
          <a:bodyPr wrap="square" anchor="t" lIns="0" rIns="0" tIns="0" bIns="0">
            <a:spAutoFit/>
          </a:bodyPr>
          <a:lstStyle/>
          <a:p>
            <a:pPr algn="l">
              <a:lnSpc>
                <a:spcPct val="100000"/>
              </a:lnSpc>
            </a:pPr>
            <a:r>
              <a:rPr sz="1150" b="0" i="0">
                <a:solidFill>
                  <a:srgbClr val="5B6B7D"/>
                </a:solidFill>
                <a:latin typeface="Calibri"/>
              </a:rPr>
              <a:t>12 concrete checks found across the 23 tools for this tenet - the number in brackets is how many tools provide it.</a:t>
            </a:r>
          </a:p>
        </p:txBody>
      </p:sp>
      <p:sp>
        <p:nvSpPr>
          <p:cNvPr id="8" name="Rectangle 7"/>
          <p:cNvSpPr/>
          <p:nvPr/>
        </p:nvSpPr>
        <p:spPr>
          <a:xfrm>
            <a:off x="502920" y="1888418"/>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83080"/>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Transformer toxicity classifier (Detoxify, roberta-toxicity, unbiased-toxic-roberta)  (5)</a:t>
            </a:r>
          </a:p>
        </p:txBody>
      </p:sp>
      <p:sp>
        <p:nvSpPr>
          <p:cNvPr id="10" name="Rectangle 9"/>
          <p:cNvSpPr/>
          <p:nvPr/>
        </p:nvSpPr>
        <p:spPr>
          <a:xfrm>
            <a:off x="502920" y="2217602"/>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112264"/>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Profanity wordlist, slur list and substring blocklist filtering  (4)</a:t>
            </a:r>
          </a:p>
        </p:txBody>
      </p:sp>
      <p:sp>
        <p:nvSpPr>
          <p:cNvPr id="12" name="Rectangle 11"/>
          <p:cNvSpPr/>
          <p:nvPr/>
        </p:nvSpPr>
        <p:spPr>
          <a:xfrm>
            <a:off x="502920" y="2546786"/>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41448"/>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LLM-as-judge toxicity, hate-speech and harassment classification  (5)</a:t>
            </a:r>
          </a:p>
        </p:txBody>
      </p:sp>
      <p:sp>
        <p:nvSpPr>
          <p:cNvPr id="14" name="Rectangle 13"/>
          <p:cNvSpPr/>
          <p:nvPr/>
        </p:nvSpPr>
        <p:spPr>
          <a:xfrm>
            <a:off x="502920" y="2875970"/>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2770632"/>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Managed safety-model integration (Llama Guard, ShieldGemma, Azure Content Safety, Perspective, OpenAI Moderation)  (5)</a:t>
            </a:r>
          </a:p>
        </p:txBody>
      </p:sp>
      <p:sp>
        <p:nvSpPr>
          <p:cNvPr id="16" name="Rectangle 15"/>
          <p:cNvSpPr/>
          <p:nvPr/>
        </p:nvSpPr>
        <p:spPr>
          <a:xfrm>
            <a:off x="502920" y="3205154"/>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099815"/>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Multi-category harm taxonomy (self-harm, sexual, violence, weapons/CBRN, illegal, child exploitation)  (5)</a:t>
            </a:r>
          </a:p>
        </p:txBody>
      </p:sp>
      <p:sp>
        <p:nvSpPr>
          <p:cNvPr id="18" name="Rectangle 17"/>
          <p:cNvSpPr/>
          <p:nvPr/>
        </p:nvSpPr>
        <p:spPr>
          <a:xfrm>
            <a:off x="502920" y="3534338"/>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29000"/>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Zero-shot restricted-topic and banned-topic classification  (2)</a:t>
            </a:r>
          </a:p>
        </p:txBody>
      </p:sp>
      <p:sp>
        <p:nvSpPr>
          <p:cNvPr id="20" name="Rectangle 19"/>
          <p:cNvSpPr/>
          <p:nvPr/>
        </p:nvSpPr>
        <p:spPr>
          <a:xfrm>
            <a:off x="5943600" y="1888418"/>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08192" y="1783080"/>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NSFW image and video frame detection  (1)</a:t>
            </a:r>
          </a:p>
        </p:txBody>
      </p:sp>
      <p:sp>
        <p:nvSpPr>
          <p:cNvPr id="22" name="Rectangle 21"/>
          <p:cNvSpPr/>
          <p:nvPr/>
        </p:nvSpPr>
        <p:spPr>
          <a:xfrm>
            <a:off x="5943600" y="2217602"/>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108192" y="2112264"/>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Adult / explicit text content detection  (3)</a:t>
            </a:r>
          </a:p>
        </p:txBody>
      </p:sp>
      <p:sp>
        <p:nvSpPr>
          <p:cNvPr id="24" name="Rectangle 23"/>
          <p:cNvSpPr/>
          <p:nvPr/>
        </p:nvSpPr>
        <p:spPr>
          <a:xfrm>
            <a:off x="5943600" y="2546786"/>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08192" y="2441448"/>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Sentiment and hostility screening  (2)</a:t>
            </a:r>
          </a:p>
        </p:txBody>
      </p:sp>
      <p:sp>
        <p:nvSpPr>
          <p:cNvPr id="26" name="Rectangle 25"/>
          <p:cNvSpPr/>
          <p:nvPr/>
        </p:nvSpPr>
        <p:spPr>
          <a:xfrm>
            <a:off x="5943600" y="2875970"/>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108192" y="2770632"/>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Harmful-content red-team datasets (HarmBench, BeaverTails, DoNotAnswer, AdvBench, ToxicChat, Aegis, XSTest)  (6)</a:t>
            </a:r>
          </a:p>
        </p:txBody>
      </p:sp>
      <p:sp>
        <p:nvSpPr>
          <p:cNvPr id="28" name="Rectangle 27"/>
          <p:cNvSpPr/>
          <p:nvPr/>
        </p:nvSpPr>
        <p:spPr>
          <a:xfrm>
            <a:off x="5943600" y="3205154"/>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108192" y="3099815"/>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Multilingual and localised refusal messaging  (1)</a:t>
            </a:r>
          </a:p>
        </p:txBody>
      </p:sp>
      <p:sp>
        <p:nvSpPr>
          <p:cNvPr id="30" name="Rectangle 29"/>
          <p:cNvSpPr/>
          <p:nvPr/>
        </p:nvSpPr>
        <p:spPr>
          <a:xfrm>
            <a:off x="5943600" y="3534338"/>
            <a:ext cx="82296" cy="82296"/>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108192" y="3429000"/>
            <a:ext cx="512064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Multimodal content-safety probes (UnsafeBench, VLGuard, image/audio/video wrapping)  (2)</a:t>
            </a:r>
          </a:p>
        </p:txBody>
      </p:sp>
      <p:sp>
        <p:nvSpPr>
          <p:cNvPr id="32" name="Rectangle 31"/>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4" name="TextBox 33"/>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Checklist - Profanity / Content Safety</a:t>
            </a:r>
          </a:p>
        </p:txBody>
      </p:sp>
      <p:sp>
        <p:nvSpPr>
          <p:cNvPr id="35" name="TextBox 34"/>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35</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18A7E"/>
                </a:solidFill>
                <a:latin typeface="Calibri"/>
              </a:rPr>
              <a:t>MASTER CHECKLIST</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Hallucination / Reliability</a:t>
            </a:r>
          </a:p>
        </p:txBody>
      </p:sp>
      <p:sp>
        <p:nvSpPr>
          <p:cNvPr id="6" name="Rectangle 5"/>
          <p:cNvSpPr/>
          <p:nvPr/>
        </p:nvSpPr>
        <p:spPr>
          <a:xfrm>
            <a:off x="502920" y="1207008"/>
            <a:ext cx="2011680" cy="32004"/>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292608"/>
          </a:xfrm>
          <a:prstGeom prst="rect">
            <a:avLst/>
          </a:prstGeom>
          <a:noFill/>
        </p:spPr>
        <p:txBody>
          <a:bodyPr wrap="square" anchor="t" lIns="0" rIns="0" tIns="0" bIns="0">
            <a:spAutoFit/>
          </a:bodyPr>
          <a:lstStyle/>
          <a:p>
            <a:pPr algn="l">
              <a:lnSpc>
                <a:spcPct val="100000"/>
              </a:lnSpc>
            </a:pPr>
            <a:r>
              <a:rPr sz="1150" b="0" i="0">
                <a:solidFill>
                  <a:srgbClr val="5B6B7D"/>
                </a:solidFill>
                <a:latin typeface="Calibri"/>
              </a:rPr>
              <a:t>20 concrete checks found across the 23 tools for this tenet - the number in brackets is how many tools provide it.</a:t>
            </a:r>
          </a:p>
        </p:txBody>
      </p:sp>
      <p:sp>
        <p:nvSpPr>
          <p:cNvPr id="8" name="Rectangle 7"/>
          <p:cNvSpPr/>
          <p:nvPr/>
        </p:nvSpPr>
        <p:spPr>
          <a:xfrm>
            <a:off x="502920" y="1888418"/>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NLI / entailment-based groundedness scoring  (3)</a:t>
            </a:r>
          </a:p>
        </p:txBody>
      </p:sp>
      <p:sp>
        <p:nvSpPr>
          <p:cNvPr id="10" name="Rectangle 9"/>
          <p:cNvSpPr/>
          <p:nvPr/>
        </p:nvSpPr>
        <p:spPr>
          <a:xfrm>
            <a:off x="502920" y="2217602"/>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LLM-as-judge groundedness and faithfulness  (7)</a:t>
            </a:r>
          </a:p>
        </p:txBody>
      </p:sp>
      <p:sp>
        <p:nvSpPr>
          <p:cNvPr id="12" name="Rectangle 11"/>
          <p:cNvSpPr/>
          <p:nvPr/>
        </p:nvSpPr>
        <p:spPr>
          <a:xfrm>
            <a:off x="502920" y="2546786"/>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RAG retrieval-quality metrics (contextual precision, recall, relevance, answer relevancy)  (3)</a:t>
            </a:r>
          </a:p>
        </p:txBody>
      </p:sp>
      <p:sp>
        <p:nvSpPr>
          <p:cNvPr id="14" name="Rectangle 13"/>
          <p:cNvSpPr/>
          <p:nvPr/>
        </p:nvSpPr>
        <p:spPr>
          <a:xfrm>
            <a:off x="502920" y="2875970"/>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Embedding-similarity groundedness (input-output, response-source, input-source)  (3)</a:t>
            </a:r>
          </a:p>
        </p:txBody>
      </p:sp>
      <p:sp>
        <p:nvSpPr>
          <p:cNvPr id="16" name="Rectangle 15"/>
          <p:cNvSpPr/>
          <p:nvPr/>
        </p:nvSpPr>
        <p:spPr>
          <a:xfrm>
            <a:off x="502920" y="3205154"/>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Self-consistency sampling hallucination check (SelfCheckGPT style)  (1)</a:t>
            </a:r>
          </a:p>
        </p:txBody>
      </p:sp>
      <p:sp>
        <p:nvSpPr>
          <p:cNvPr id="18" name="Rectangle 17"/>
          <p:cNvSpPr/>
          <p:nvPr/>
        </p:nvSpPr>
        <p:spPr>
          <a:xfrm>
            <a:off x="502920" y="3534338"/>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Dedicated hallucination-evaluation models (Vectara, Patronus Lynx)  (2)</a:t>
            </a:r>
          </a:p>
        </p:txBody>
      </p:sp>
      <p:sp>
        <p:nvSpPr>
          <p:cNvPr id="20" name="Rectangle 19"/>
          <p:cNvSpPr/>
          <p:nvPr/>
        </p:nvSpPr>
        <p:spPr>
          <a:xfrm>
            <a:off x="502920" y="3863522"/>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Fabrication probes for fake citations, APIs, entities and statistics  (2)</a:t>
            </a:r>
          </a:p>
        </p:txBody>
      </p:sp>
      <p:sp>
        <p:nvSpPr>
          <p:cNvPr id="22" name="Rectangle 21"/>
          <p:cNvSpPr/>
          <p:nvPr/>
        </p:nvSpPr>
        <p:spPr>
          <a:xfrm>
            <a:off x="4130040" y="1888418"/>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29463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Package / dependency hallucination detection  (2)</a:t>
            </a:r>
          </a:p>
        </p:txBody>
      </p:sp>
      <p:sp>
        <p:nvSpPr>
          <p:cNvPr id="24" name="Rectangle 23"/>
          <p:cNvSpPr/>
          <p:nvPr/>
        </p:nvSpPr>
        <p:spPr>
          <a:xfrm>
            <a:off x="4130040" y="2217602"/>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463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Refusal and over-refusal detection (phrase list, ML classifier, LLM judge, NoRefusal)  (6)</a:t>
            </a:r>
          </a:p>
        </p:txBody>
      </p:sp>
      <p:sp>
        <p:nvSpPr>
          <p:cNvPr id="26" name="Rectangle 25"/>
          <p:cNvSpPr/>
          <p:nvPr/>
        </p:nvSpPr>
        <p:spPr>
          <a:xfrm>
            <a:off x="4130040" y="2546786"/>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463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Data and concept drift detection (PSI, Cramer's V, Wasserstein, KS, embedding drift)  (1)</a:t>
            </a:r>
          </a:p>
        </p:txBody>
      </p:sp>
      <p:sp>
        <p:nvSpPr>
          <p:cNvPr id="28" name="Rectangle 27"/>
          <p:cNvSpPr/>
          <p:nvPr/>
        </p:nvSpPr>
        <p:spPr>
          <a:xfrm>
            <a:off x="4130040" y="2875970"/>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463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Data integrity and dataset hygiene checks (nulls, mixed types, duplicates, unknown tokens,…  (1)</a:t>
            </a:r>
          </a:p>
        </p:txBody>
      </p:sp>
      <p:sp>
        <p:nvSpPr>
          <p:cNvPr id="30" name="Rectangle 29"/>
          <p:cNvSpPr/>
          <p:nvPr/>
        </p:nvSpPr>
        <p:spPr>
          <a:xfrm>
            <a:off x="4130040" y="3205154"/>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9463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Outlier and anomaly sample detection  (1)</a:t>
            </a:r>
          </a:p>
        </p:txBody>
      </p:sp>
      <p:sp>
        <p:nvSpPr>
          <p:cNvPr id="32" name="Rectangle 31"/>
          <p:cNvSpPr/>
          <p:nvPr/>
        </p:nvSpPr>
        <p:spPr>
          <a:xfrm>
            <a:off x="4130040" y="3534338"/>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463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Deterministic regression matchers (exact, fuzzy, includes, JSON match, schema validity)  (4)</a:t>
            </a:r>
          </a:p>
        </p:txBody>
      </p:sp>
      <p:sp>
        <p:nvSpPr>
          <p:cNvPr id="34" name="Rectangle 33"/>
          <p:cNvSpPr/>
          <p:nvPr/>
        </p:nvSpPr>
        <p:spPr>
          <a:xfrm>
            <a:off x="4130040" y="3863522"/>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9463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Classic NLP overlap and similarity metrics (ROUGE, BLEU, METEOR, BERTScore, Levenshtein)  (2)</a:t>
            </a:r>
          </a:p>
        </p:txBody>
      </p:sp>
      <p:sp>
        <p:nvSpPr>
          <p:cNvPr id="36" name="Rectangle 35"/>
          <p:cNvSpPr/>
          <p:nvPr/>
        </p:nvSpPr>
        <p:spPr>
          <a:xfrm>
            <a:off x="7757160" y="1888418"/>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92175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Agent loop, stagnation and knowledge-retention checks  (1)</a:t>
            </a:r>
          </a:p>
        </p:txBody>
      </p:sp>
      <p:sp>
        <p:nvSpPr>
          <p:cNvPr id="38" name="Rectangle 37"/>
          <p:cNvSpPr/>
          <p:nvPr/>
        </p:nvSpPr>
        <p:spPr>
          <a:xfrm>
            <a:off x="7757160" y="2217602"/>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92175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Academic capability and truthfulness benchmark harnesses (MMLU, TruthfulQA, HellaSwag, TrustLLM,…  (3)</a:t>
            </a:r>
          </a:p>
        </p:txBody>
      </p:sp>
      <p:sp>
        <p:nvSpPr>
          <p:cNvPr id="40" name="Rectangle 39"/>
          <p:cNvSpPr/>
          <p:nvPr/>
        </p:nvSpPr>
        <p:spPr>
          <a:xfrm>
            <a:off x="7757160" y="2546786"/>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2175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Copyright and verbatim-reproduction detection (MinHash sliding window, plagiarism scorer)  (3)</a:t>
            </a:r>
          </a:p>
        </p:txBody>
      </p:sp>
      <p:sp>
        <p:nvSpPr>
          <p:cNvPr id="42" name="Rectangle 41"/>
          <p:cNvSpPr/>
          <p:nvPr/>
        </p:nvSpPr>
        <p:spPr>
          <a:xfrm>
            <a:off x="7757160" y="2875970"/>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2175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Language consistency verification  (2)</a:t>
            </a:r>
          </a:p>
        </p:txBody>
      </p:sp>
      <p:sp>
        <p:nvSpPr>
          <p:cNvPr id="44" name="Rectangle 43"/>
          <p:cNvSpPr/>
          <p:nvPr/>
        </p:nvSpPr>
        <p:spPr>
          <a:xfrm>
            <a:off x="7757160" y="3205154"/>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2175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Structural output validation with automatic repair and re-ask  (4)</a:t>
            </a:r>
          </a:p>
        </p:txBody>
      </p:sp>
      <p:sp>
        <p:nvSpPr>
          <p:cNvPr id="46" name="Rectangle 45"/>
          <p:cNvSpPr/>
          <p:nvPr/>
        </p:nvSpPr>
        <p:spPr>
          <a:xfrm>
            <a:off x="7757160" y="3534338"/>
            <a:ext cx="82296" cy="82296"/>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2175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Text-quality properties (fluency, formality, frequent substrings, near-duplicates)  (1)</a:t>
            </a:r>
          </a:p>
        </p:txBody>
      </p:sp>
      <p:sp>
        <p:nvSpPr>
          <p:cNvPr id="48" name="Rectangle 4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50" name="TextBox 4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Checklist - Hallucination / Reliability</a:t>
            </a:r>
          </a:p>
        </p:txBody>
      </p:sp>
      <p:sp>
        <p:nvSpPr>
          <p:cNvPr id="51" name="TextBox 5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36</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4A6380"/>
                </a:solidFill>
                <a:latin typeface="Calibri"/>
              </a:rPr>
              <a:t>MASTER CHECKLIST</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Accountability</a:t>
            </a:r>
          </a:p>
        </p:txBody>
      </p:sp>
      <p:sp>
        <p:nvSpPr>
          <p:cNvPr id="6" name="Rectangle 5"/>
          <p:cNvSpPr/>
          <p:nvPr/>
        </p:nvSpPr>
        <p:spPr>
          <a:xfrm>
            <a:off x="502920" y="1207008"/>
            <a:ext cx="2011680" cy="32004"/>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298448"/>
            <a:ext cx="10789920" cy="292608"/>
          </a:xfrm>
          <a:prstGeom prst="rect">
            <a:avLst/>
          </a:prstGeom>
          <a:noFill/>
        </p:spPr>
        <p:txBody>
          <a:bodyPr wrap="square" anchor="t" lIns="0" rIns="0" tIns="0" bIns="0">
            <a:spAutoFit/>
          </a:bodyPr>
          <a:lstStyle/>
          <a:p>
            <a:pPr algn="l">
              <a:lnSpc>
                <a:spcPct val="100000"/>
              </a:lnSpc>
            </a:pPr>
            <a:r>
              <a:rPr sz="1150" b="0" i="0">
                <a:solidFill>
                  <a:srgbClr val="5B6B7D"/>
                </a:solidFill>
                <a:latin typeface="Calibri"/>
              </a:rPr>
              <a:t>24 concrete checks found across the 23 tools for this tenet - the number in brackets is how many tools provide it.</a:t>
            </a:r>
          </a:p>
        </p:txBody>
      </p:sp>
      <p:sp>
        <p:nvSpPr>
          <p:cNvPr id="8" name="Rectangle 7"/>
          <p:cNvSpPr/>
          <p:nvPr/>
        </p:nvSpPr>
        <p:spPr>
          <a:xfrm>
            <a:off x="502920" y="1888418"/>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Per-call execution history and persistent audit trail  (3)</a:t>
            </a:r>
          </a:p>
        </p:txBody>
      </p:sp>
      <p:sp>
        <p:nvSpPr>
          <p:cNvPr id="10" name="Rectangle 9"/>
          <p:cNvSpPr/>
          <p:nvPr/>
        </p:nvSpPr>
        <p:spPr>
          <a:xfrm>
            <a:off x="502920" y="2217602"/>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6751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Security-event emission to SIEM plus per-request audit log lines  (1)</a:t>
            </a:r>
          </a:p>
        </p:txBody>
      </p:sp>
      <p:sp>
        <p:nvSpPr>
          <p:cNvPr id="12" name="Rectangle 11"/>
          <p:cNvSpPr/>
          <p:nvPr/>
        </p:nvSpPr>
        <p:spPr>
          <a:xfrm>
            <a:off x="502920" y="2546786"/>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751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OpenTelemetry tracing of guardrail execution  (3)</a:t>
            </a:r>
          </a:p>
        </p:txBody>
      </p:sp>
      <p:sp>
        <p:nvSpPr>
          <p:cNvPr id="14" name="Rectangle 13"/>
          <p:cNvSpPr/>
          <p:nvPr/>
        </p:nvSpPr>
        <p:spPr>
          <a:xfrm>
            <a:off x="502920" y="2875970"/>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751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CI-gateable pass/fail condition system with JUnit and JSON export  (4)</a:t>
            </a:r>
          </a:p>
        </p:txBody>
      </p:sp>
      <p:sp>
        <p:nvSpPr>
          <p:cNvPr id="16" name="Rectangle 15"/>
          <p:cNvSpPr/>
          <p:nvPr/>
        </p:nvSpPr>
        <p:spPr>
          <a:xfrm>
            <a:off x="502920" y="3205154"/>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751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Threshold-based gating on measured failure rate  (2)</a:t>
            </a:r>
          </a:p>
        </p:txBody>
      </p:sp>
      <p:sp>
        <p:nvSpPr>
          <p:cNvPr id="18" name="Rectangle 17"/>
          <p:cNvSpPr/>
          <p:nvPr/>
        </p:nvSpPr>
        <p:spPr>
          <a:xfrm>
            <a:off x="502920" y="3534338"/>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6751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Policy-as-code rule evaluation (OPA / Rego)  (1)</a:t>
            </a:r>
          </a:p>
        </p:txBody>
      </p:sp>
      <p:sp>
        <p:nvSpPr>
          <p:cNvPr id="20" name="Rectangle 19"/>
          <p:cNvSpPr/>
          <p:nvPr/>
        </p:nvSpPr>
        <p:spPr>
          <a:xfrm>
            <a:off x="502920" y="3863522"/>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6751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Named on-fail remediation actions (allow, mask, block, filter, refrain, re-ask, fix)  (4)</a:t>
            </a:r>
          </a:p>
        </p:txBody>
      </p:sp>
      <p:sp>
        <p:nvSpPr>
          <p:cNvPr id="22" name="Rectangle 21"/>
          <p:cNvSpPr/>
          <p:nvPr/>
        </p:nvSpPr>
        <p:spPr>
          <a:xfrm>
            <a:off x="502920" y="4192706"/>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67512" y="408736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Fail-open versus fail-closed degraded-mode contract with unjudged reporting  (2)</a:t>
            </a:r>
          </a:p>
        </p:txBody>
      </p:sp>
      <p:sp>
        <p:nvSpPr>
          <p:cNvPr id="24" name="Rectangle 23"/>
          <p:cNvSpPr/>
          <p:nvPr/>
        </p:nvSpPr>
        <p:spPr>
          <a:xfrm>
            <a:off x="4130040" y="1888418"/>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9463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Multi-detector composition with explicit precedence  (3)</a:t>
            </a:r>
          </a:p>
        </p:txBody>
      </p:sp>
      <p:sp>
        <p:nvSpPr>
          <p:cNvPr id="26" name="Rectangle 25"/>
          <p:cNvSpPr/>
          <p:nvPr/>
        </p:nvSpPr>
        <p:spPr>
          <a:xfrm>
            <a:off x="4130040" y="2217602"/>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29463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Detector accuracy self-evaluation against human labels  (2)</a:t>
            </a:r>
          </a:p>
        </p:txBody>
      </p:sp>
      <p:sp>
        <p:nvSpPr>
          <p:cNvPr id="28" name="Rectangle 27"/>
          <p:cNvSpPr/>
          <p:nvPr/>
        </p:nvSpPr>
        <p:spPr>
          <a:xfrm>
            <a:off x="4130040" y="2546786"/>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463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Harm-category taxonomy files and risk register  (3)</a:t>
            </a:r>
          </a:p>
        </p:txBody>
      </p:sp>
      <p:sp>
        <p:nvSpPr>
          <p:cNvPr id="30" name="Rectangle 29"/>
          <p:cNvSpPr/>
          <p:nvPr/>
        </p:nvSpPr>
        <p:spPr>
          <a:xfrm>
            <a:off x="4130040" y="2875970"/>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29463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Compliance-framework mapping and reporting (OWASP LLM Top 10, NIST AI RMF, MITRE ATLAS, EU AI Act,…  (4)</a:t>
            </a:r>
          </a:p>
        </p:txBody>
      </p:sp>
      <p:sp>
        <p:nvSpPr>
          <p:cNvPr id="32" name="Rectangle 31"/>
          <p:cNvSpPr/>
          <p:nvPr/>
        </p:nvSpPr>
        <p:spPr>
          <a:xfrm>
            <a:off x="4130040" y="3205154"/>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29463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Domain and regulatory compliance plugin packs (medical FDA, SOX, COPPA/FERPA, fair housing,…  (1)</a:t>
            </a:r>
          </a:p>
        </p:txBody>
      </p:sp>
      <p:sp>
        <p:nvSpPr>
          <p:cNvPr id="34" name="Rectangle 33"/>
          <p:cNvSpPr/>
          <p:nvPr/>
        </p:nvSpPr>
        <p:spPr>
          <a:xfrm>
            <a:off x="4130040" y="3534338"/>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29463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Role, topic and scope adherence enforcement (misuse, non-advice, role violation)  (2)</a:t>
            </a:r>
          </a:p>
        </p:txBody>
      </p:sp>
      <p:sp>
        <p:nvSpPr>
          <p:cNvPr id="36" name="Rectangle 35"/>
          <p:cNvSpPr/>
          <p:nvPr/>
        </p:nvSpPr>
        <p:spPr>
          <a:xfrm>
            <a:off x="4130040" y="3863522"/>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29463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Competitor and brand mention control  (3)</a:t>
            </a:r>
          </a:p>
        </p:txBody>
      </p:sp>
      <p:sp>
        <p:nvSpPr>
          <p:cNvPr id="38" name="Rectangle 37"/>
          <p:cNvSpPr/>
          <p:nvPr/>
        </p:nvSpPr>
        <p:spPr>
          <a:xfrm>
            <a:off x="4130040" y="4192706"/>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94632" y="408736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Cost, token and rate-limit controls  (3)</a:t>
            </a:r>
          </a:p>
        </p:txBody>
      </p:sp>
      <p:sp>
        <p:nvSpPr>
          <p:cNvPr id="40" name="Rectangle 39"/>
          <p:cNvSpPr/>
          <p:nvPr/>
        </p:nvSpPr>
        <p:spPr>
          <a:xfrm>
            <a:off x="7757160" y="1888418"/>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921752" y="178308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Per-tenant threshold and policy configuration service  (2)</a:t>
            </a:r>
          </a:p>
        </p:txBody>
      </p:sp>
      <p:sp>
        <p:nvSpPr>
          <p:cNvPr id="42" name="Rectangle 41"/>
          <p:cNvSpPr/>
          <p:nvPr/>
        </p:nvSpPr>
        <p:spPr>
          <a:xfrm>
            <a:off x="7757160" y="2217602"/>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921752" y="211226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Agent trace and trajectory auditing after the fact  (2)</a:t>
            </a:r>
          </a:p>
        </p:txBody>
      </p:sp>
      <p:sp>
        <p:nvSpPr>
          <p:cNvPr id="44" name="Rectangle 43"/>
          <p:cNvSpPr/>
          <p:nvPr/>
        </p:nvSpPr>
        <p:spPr>
          <a:xfrm>
            <a:off x="7757160" y="2546786"/>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921752" y="244144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Deception, sandbagging and covert-persuasion evaluations  (1)</a:t>
            </a:r>
          </a:p>
        </p:txBody>
      </p:sp>
      <p:sp>
        <p:nvSpPr>
          <p:cNvPr id="46" name="Rectangle 45"/>
          <p:cNvSpPr/>
          <p:nvPr/>
        </p:nvSpPr>
        <p:spPr>
          <a:xfrm>
            <a:off x="7757160" y="2875970"/>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7921752" y="2770632"/>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Intellectual property, copyright and ethics violation checks  (2)</a:t>
            </a:r>
          </a:p>
        </p:txBody>
      </p:sp>
      <p:sp>
        <p:nvSpPr>
          <p:cNvPr id="48" name="Rectangle 47"/>
          <p:cNvSpPr/>
          <p:nvPr/>
        </p:nvSpPr>
        <p:spPr>
          <a:xfrm>
            <a:off x="7757160" y="3205154"/>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921752" y="3099815"/>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Excessive agency, debug access and tool-discovery checks  (2)</a:t>
            </a:r>
          </a:p>
        </p:txBody>
      </p:sp>
      <p:sp>
        <p:nvSpPr>
          <p:cNvPr id="50" name="Rectangle 49"/>
          <p:cNvSpPr/>
          <p:nvPr/>
        </p:nvSpPr>
        <p:spPr>
          <a:xfrm>
            <a:off x="7757160" y="3534338"/>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7921752" y="3429000"/>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Self-hardening attack-signature corpus that learns from confirmed incidents  (1)</a:t>
            </a:r>
          </a:p>
        </p:txBody>
      </p:sp>
      <p:sp>
        <p:nvSpPr>
          <p:cNvPr id="52" name="Rectangle 51"/>
          <p:cNvSpPr/>
          <p:nvPr/>
        </p:nvSpPr>
        <p:spPr>
          <a:xfrm>
            <a:off x="7757160" y="3863522"/>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7921752" y="3758184"/>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Vendor-neutral guardrail wire protocol and verdict schema  (1)</a:t>
            </a:r>
          </a:p>
        </p:txBody>
      </p:sp>
      <p:sp>
        <p:nvSpPr>
          <p:cNvPr id="54" name="Rectangle 53"/>
          <p:cNvSpPr/>
          <p:nvPr/>
        </p:nvSpPr>
        <p:spPr>
          <a:xfrm>
            <a:off x="7757160" y="4192706"/>
            <a:ext cx="82296" cy="82296"/>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7921752" y="4087368"/>
            <a:ext cx="3307080" cy="329184"/>
          </a:xfrm>
          <a:prstGeom prst="rect">
            <a:avLst/>
          </a:prstGeom>
          <a:noFill/>
        </p:spPr>
        <p:txBody>
          <a:bodyPr wrap="square" anchor="t" lIns="0" rIns="0" tIns="0" bIns="0">
            <a:spAutoFit/>
          </a:bodyPr>
          <a:lstStyle/>
          <a:p>
            <a:pPr algn="l">
              <a:lnSpc>
                <a:spcPct val="95000"/>
              </a:lnSpc>
            </a:pPr>
            <a:r>
              <a:rPr sz="930" b="0" i="0">
                <a:solidFill>
                  <a:srgbClr val="1A1A2E"/>
                </a:solidFill>
                <a:latin typeface="Calibri"/>
              </a:rPr>
              <a:t>Governance dashboards, leaderboards and report artefacts  (4)</a:t>
            </a:r>
          </a:p>
        </p:txBody>
      </p:sp>
      <p:sp>
        <p:nvSpPr>
          <p:cNvPr id="56" name="Rectangle 55"/>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58" name="TextBox 57"/>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Checklist - Accountability</a:t>
            </a:r>
          </a:p>
        </p:txBody>
      </p:sp>
      <p:sp>
        <p:nvSpPr>
          <p:cNvPr id="59" name="TextBox 58"/>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37</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880360"/>
            <a:ext cx="5486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058400" cy="365760"/>
          </a:xfrm>
          <a:prstGeom prst="rect">
            <a:avLst/>
          </a:prstGeom>
          <a:noFill/>
        </p:spPr>
        <p:txBody>
          <a:bodyPr wrap="square" anchor="t" lIns="0" rIns="0" tIns="0" bIns="0">
            <a:spAutoFit/>
          </a:bodyPr>
          <a:lstStyle/>
          <a:p>
            <a:pPr algn="l">
              <a:lnSpc>
                <a:spcPct val="100000"/>
              </a:lnSpc>
            </a:pPr>
            <a:r>
              <a:rPr sz="1400" b="1" i="0">
                <a:solidFill>
                  <a:srgbClr val="1B9AAA"/>
                </a:solidFill>
                <a:latin typeface="Calibri"/>
              </a:rPr>
              <a:t>SECTION</a:t>
            </a:r>
          </a:p>
        </p:txBody>
      </p:sp>
      <p:sp>
        <p:nvSpPr>
          <p:cNvPr id="6" name="TextBox 5"/>
          <p:cNvSpPr txBox="1"/>
          <p:nvPr/>
        </p:nvSpPr>
        <p:spPr>
          <a:xfrm>
            <a:off x="777240" y="3017520"/>
            <a:ext cx="10607040" cy="1005840"/>
          </a:xfrm>
          <a:prstGeom prst="rect">
            <a:avLst/>
          </a:prstGeom>
          <a:noFill/>
        </p:spPr>
        <p:txBody>
          <a:bodyPr wrap="square" anchor="t" lIns="0" rIns="0" tIns="0" bIns="0">
            <a:spAutoFit/>
          </a:bodyPr>
          <a:lstStyle/>
          <a:p>
            <a:pPr algn="l">
              <a:lnSpc>
                <a:spcPct val="100000"/>
              </a:lnSpc>
            </a:pPr>
            <a:r>
              <a:rPr sz="3400" b="1" i="0">
                <a:solidFill>
                  <a:srgbClr val="FFFFFF"/>
                </a:solidFill>
                <a:latin typeface="Calibri"/>
              </a:rPr>
              <a:t>Tenet-by-Tenet Recommendations</a:t>
            </a:r>
          </a:p>
        </p:txBody>
      </p:sp>
      <p:sp>
        <p:nvSpPr>
          <p:cNvPr id="7" name="TextBox 6"/>
          <p:cNvSpPr txBox="1"/>
          <p:nvPr/>
        </p:nvSpPr>
        <p:spPr>
          <a:xfrm>
            <a:off x="822960" y="3977639"/>
            <a:ext cx="9875520" cy="731520"/>
          </a:xfrm>
          <a:prstGeom prst="rect">
            <a:avLst/>
          </a:prstGeom>
          <a:noFill/>
        </p:spPr>
        <p:txBody>
          <a:bodyPr wrap="square" anchor="t" lIns="0" rIns="0" tIns="0" bIns="0">
            <a:spAutoFit/>
          </a:bodyPr>
          <a:lstStyle/>
          <a:p>
            <a:pPr algn="l">
              <a:lnSpc>
                <a:spcPct val="125000"/>
              </a:lnSpc>
            </a:pPr>
            <a:r>
              <a:rPr sz="1400" b="0" i="0">
                <a:solidFill>
                  <a:srgbClr val="CFDAE6"/>
                </a:solidFill>
                <a:latin typeface="Calibri"/>
              </a:rPr>
              <a:t>One slide per tenet: the open-source and cloud options, then a single AFNI recommendation stated in three layers - which repo to adopt, the engine under it, and the cloud second opinion beside it - so there is exactly one answer per tenet.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E86AB"/>
                </a:solidFill>
                <a:latin typeface="Calibri"/>
              </a:rPr>
              <a:t>TENET 1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Privacy &amp; PII Protection</a:t>
            </a:r>
          </a:p>
        </p:txBody>
      </p:sp>
      <p:sp>
        <p:nvSpPr>
          <p:cNvPr id="6" name="Rectangle 5"/>
          <p:cNvSpPr/>
          <p:nvPr/>
        </p:nvSpPr>
        <p:spPr>
          <a:xfrm>
            <a:off x="502920" y="1207008"/>
            <a:ext cx="2011680" cy="3200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80160"/>
            <a:ext cx="64008" cy="131673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7512" y="1289304"/>
            <a:ext cx="1481328" cy="219456"/>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89304"/>
            <a:ext cx="1481328" cy="219456"/>
          </a:xfrm>
          <a:prstGeom prst="rect">
            <a:avLst/>
          </a:prstGeom>
          <a:noFill/>
        </p:spPr>
        <p:txBody>
          <a:bodyPr wrap="none" anchor="ctr" lIns="0" rIns="0" tIns="0" bIns="0">
            <a:spAutoFit/>
          </a:bodyPr>
          <a:lstStyle/>
          <a:p>
            <a:pPr algn="ctr">
              <a:lnSpc>
                <a:spcPct val="100000"/>
              </a:lnSpc>
            </a:pPr>
            <a:r>
              <a:rPr sz="850" b="1" i="0">
                <a:solidFill>
                  <a:srgbClr val="FFFFFF"/>
                </a:solidFill>
                <a:latin typeface="Calibri"/>
              </a:rPr>
              <a:t>OPEN-SOURCE</a:t>
            </a:r>
          </a:p>
        </p:txBody>
      </p:sp>
      <p:sp>
        <p:nvSpPr>
          <p:cNvPr id="10" name="TextBox 9"/>
          <p:cNvSpPr txBox="1"/>
          <p:nvPr/>
        </p:nvSpPr>
        <p:spPr>
          <a:xfrm>
            <a:off x="667512" y="1536192"/>
            <a:ext cx="5193792" cy="219456"/>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Microsoft Presidio (MIT)</a:t>
            </a:r>
          </a:p>
        </p:txBody>
      </p:sp>
      <p:sp>
        <p:nvSpPr>
          <p:cNvPr id="11" name="TextBox 10"/>
          <p:cNvSpPr txBox="1"/>
          <p:nvPr/>
        </p:nvSpPr>
        <p:spPr>
          <a:xfrm>
            <a:off x="667512" y="1764792"/>
            <a:ext cx="5193792" cy="804671"/>
          </a:xfrm>
          <a:prstGeom prst="rect">
            <a:avLst/>
          </a:prstGeom>
          <a:noFill/>
        </p:spPr>
        <p:txBody>
          <a:bodyPr wrap="square" anchor="t" lIns="0" rIns="0" tIns="0" bIns="0">
            <a:spAutoFit/>
          </a:bodyPr>
          <a:lstStyle/>
          <a:p>
            <a:pPr algn="l">
              <a:lnSpc>
                <a:spcPct val="108000"/>
              </a:lnSpc>
            </a:pPr>
            <a:r>
              <a:rPr sz="819" b="0" i="0">
                <a:solidFill>
                  <a:srgbClr val="1A1A2E"/>
                </a:solidFill>
                <a:latin typeface="Calibri"/>
              </a:rPr>
              <a:t>18 country-recognizer packs built in, including India Aadhaar (Verhoeff checksum - not a custom-build gap), PAN, GSTIN, and US SSN/ITIN/passport. Anonymizer supports redact, mask, hash, AES-encrypt, or a custom operator, plus OCR and DICOM image redaction. Extending it is a ~50-130 line recognizer - this is exactly what Infosys, NeMo, and LLM Guard all wrap internally.</a:t>
            </a:r>
          </a:p>
        </p:txBody>
      </p:sp>
      <p:sp>
        <p:nvSpPr>
          <p:cNvPr id="12" name="Rectangle 11"/>
          <p:cNvSpPr/>
          <p:nvPr/>
        </p:nvSpPr>
        <p:spPr>
          <a:xfrm>
            <a:off x="6245352" y="1280160"/>
            <a:ext cx="64008" cy="1316736"/>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9944" y="1289304"/>
            <a:ext cx="1481328" cy="219456"/>
          </a:xfrm>
          <a:prstGeom prst="roundRect">
            <a:avLst>
              <a:gd name="adj" fmla="val 2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1289304"/>
            <a:ext cx="1481328" cy="219456"/>
          </a:xfrm>
          <a:prstGeom prst="rect">
            <a:avLst/>
          </a:prstGeom>
          <a:noFill/>
        </p:spPr>
        <p:txBody>
          <a:bodyPr wrap="none" anchor="ctr" lIns="0" rIns="0" tIns="0" bIns="0">
            <a:spAutoFit/>
          </a:bodyPr>
          <a:lstStyle/>
          <a:p>
            <a:pPr algn="ctr">
              <a:lnSpc>
                <a:spcPct val="100000"/>
              </a:lnSpc>
            </a:pPr>
            <a:r>
              <a:rPr sz="850" b="1" i="0">
                <a:solidFill>
                  <a:srgbClr val="FFFFFF"/>
                </a:solidFill>
                <a:latin typeface="Calibri"/>
              </a:rPr>
              <a:t>CLOUD &amp; PAID</a:t>
            </a:r>
          </a:p>
        </p:txBody>
      </p:sp>
      <p:sp>
        <p:nvSpPr>
          <p:cNvPr id="15" name="TextBox 14"/>
          <p:cNvSpPr txBox="1"/>
          <p:nvPr/>
        </p:nvSpPr>
        <p:spPr>
          <a:xfrm>
            <a:off x="6409944" y="1536192"/>
            <a:ext cx="5193792" cy="219456"/>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Azure AI Language - PII / Conversation PII</a:t>
            </a:r>
          </a:p>
        </p:txBody>
      </p:sp>
      <p:sp>
        <p:nvSpPr>
          <p:cNvPr id="16" name="TextBox 15"/>
          <p:cNvSpPr txBox="1"/>
          <p:nvPr/>
        </p:nvSpPr>
        <p:spPr>
          <a:xfrm>
            <a:off x="6409944" y="1764792"/>
            <a:ext cx="5193792" cy="804671"/>
          </a:xfrm>
          <a:prstGeom prst="rect">
            <a:avLst/>
          </a:prstGeom>
          <a:noFill/>
        </p:spPr>
        <p:txBody>
          <a:bodyPr wrap="square" anchor="t" lIns="0" rIns="0" tIns="0" bIns="0">
            <a:spAutoFit/>
          </a:bodyPr>
          <a:lstStyle/>
          <a:p>
            <a:pPr algn="l">
              <a:lnSpc>
                <a:spcPct val="108000"/>
              </a:lnSpc>
            </a:pPr>
            <a:r>
              <a:rPr sz="819" b="0" i="0">
                <a:solidFill>
                  <a:srgbClr val="1A1A2E"/>
                </a:solidFill>
                <a:latin typeface="Calibri"/>
              </a:rPr>
              <a:t>A dedicated Conversation PII mode built for contact-center transcripts - a direct match for AFNI's BPO workload. Document-based PII preserves .pdf/.docx layout. Free tier: 5,000 records/month; Standard tier around $0.38 per 1,000 records (verify the exact current rate).</a:t>
            </a:r>
          </a:p>
        </p:txBody>
      </p:sp>
      <p:sp>
        <p:nvSpPr>
          <p:cNvPr id="17" name="TextBox 16"/>
          <p:cNvSpPr txBox="1"/>
          <p:nvPr/>
        </p:nvSpPr>
        <p:spPr>
          <a:xfrm>
            <a:off x="502920" y="2688336"/>
            <a:ext cx="3840480" cy="182880"/>
          </a:xfrm>
          <a:prstGeom prst="rect">
            <a:avLst/>
          </a:prstGeom>
          <a:noFill/>
        </p:spPr>
        <p:txBody>
          <a:bodyPr wrap="square" anchor="t" lIns="0" rIns="0" tIns="0" bIns="0">
            <a:spAutoFit/>
          </a:bodyPr>
          <a:lstStyle/>
          <a:p>
            <a:pPr algn="l">
              <a:lnSpc>
                <a:spcPct val="100000"/>
              </a:lnSpc>
            </a:pPr>
            <a:r>
              <a:rPr sz="800" b="1" i="0">
                <a:solidFill>
                  <a:srgbClr val="5B6B7D"/>
                </a:solidFill>
                <a:latin typeface="Calibri"/>
              </a:rPr>
              <a:t>ALL OPTIONS FOUND (of the 23 reviewed)</a:t>
            </a:r>
          </a:p>
        </p:txBody>
      </p:sp>
      <p:sp>
        <p:nvSpPr>
          <p:cNvPr id="18" name="Rounded Rectangle 17"/>
          <p:cNvSpPr/>
          <p:nvPr/>
        </p:nvSpPr>
        <p:spPr>
          <a:xfrm>
            <a:off x="502920" y="2889504"/>
            <a:ext cx="65379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889504"/>
            <a:ext cx="65379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LLM Guard</a:t>
            </a:r>
          </a:p>
        </p:txBody>
      </p:sp>
      <p:sp>
        <p:nvSpPr>
          <p:cNvPr id="20" name="Rounded Rectangle 19"/>
          <p:cNvSpPr/>
          <p:nvPr/>
        </p:nvSpPr>
        <p:spPr>
          <a:xfrm>
            <a:off x="1211580" y="2889504"/>
            <a:ext cx="955547"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11580" y="2889504"/>
            <a:ext cx="955547"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NeMo Guardrails</a:t>
            </a:r>
          </a:p>
        </p:txBody>
      </p:sp>
      <p:sp>
        <p:nvSpPr>
          <p:cNvPr id="22" name="Rounded Rectangle 21"/>
          <p:cNvSpPr/>
          <p:nvPr/>
        </p:nvSpPr>
        <p:spPr>
          <a:xfrm>
            <a:off x="2221991" y="2889504"/>
            <a:ext cx="90525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21991" y="2889504"/>
            <a:ext cx="90525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hai-guardrails</a:t>
            </a:r>
          </a:p>
        </p:txBody>
      </p:sp>
      <p:sp>
        <p:nvSpPr>
          <p:cNvPr id="24" name="Rounded Rectangle 23"/>
          <p:cNvSpPr/>
          <p:nvPr/>
        </p:nvSpPr>
        <p:spPr>
          <a:xfrm>
            <a:off x="3182111" y="2889504"/>
            <a:ext cx="955547"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182111" y="2889504"/>
            <a:ext cx="955547"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Safe Zone (TSZ)</a:t>
            </a:r>
          </a:p>
        </p:txBody>
      </p:sp>
      <p:sp>
        <p:nvSpPr>
          <p:cNvPr id="26" name="Rounded Rectangle 25"/>
          <p:cNvSpPr/>
          <p:nvPr/>
        </p:nvSpPr>
        <p:spPr>
          <a:xfrm>
            <a:off x="4192523" y="2889504"/>
            <a:ext cx="115671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192523" y="2889504"/>
            <a:ext cx="115671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Infosys RAI Toolkit</a:t>
            </a:r>
          </a:p>
        </p:txBody>
      </p:sp>
      <p:sp>
        <p:nvSpPr>
          <p:cNvPr id="28" name="Rounded Rectangle 27"/>
          <p:cNvSpPr/>
          <p:nvPr/>
        </p:nvSpPr>
        <p:spPr>
          <a:xfrm>
            <a:off x="5404103" y="2889504"/>
            <a:ext cx="1005840"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404103" y="2889504"/>
            <a:ext cx="1005840"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Agentic Security</a:t>
            </a:r>
          </a:p>
        </p:txBody>
      </p:sp>
      <p:sp>
        <p:nvSpPr>
          <p:cNvPr id="30" name="Rounded Rectangle 29"/>
          <p:cNvSpPr/>
          <p:nvPr/>
        </p:nvSpPr>
        <p:spPr>
          <a:xfrm>
            <a:off x="6464807" y="2889504"/>
            <a:ext cx="452628"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64807" y="2889504"/>
            <a:ext cx="452628"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garak</a:t>
            </a:r>
          </a:p>
        </p:txBody>
      </p:sp>
      <p:sp>
        <p:nvSpPr>
          <p:cNvPr id="32" name="Rounded Rectangle 31"/>
          <p:cNvSpPr/>
          <p:nvPr/>
        </p:nvSpPr>
        <p:spPr>
          <a:xfrm>
            <a:off x="6972299" y="2889504"/>
            <a:ext cx="603504"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72299" y="2889504"/>
            <a:ext cx="60350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DeepEval</a:t>
            </a:r>
          </a:p>
        </p:txBody>
      </p:sp>
      <p:sp>
        <p:nvSpPr>
          <p:cNvPr id="34" name="Rounded Rectangle 33"/>
          <p:cNvSpPr/>
          <p:nvPr/>
        </p:nvSpPr>
        <p:spPr>
          <a:xfrm>
            <a:off x="7630667" y="2889504"/>
            <a:ext cx="603504"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30667" y="2889504"/>
            <a:ext cx="60350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DeepTeam</a:t>
            </a:r>
          </a:p>
        </p:txBody>
      </p:sp>
      <p:sp>
        <p:nvSpPr>
          <p:cNvPr id="36" name="Rounded Rectangle 35"/>
          <p:cNvSpPr/>
          <p:nvPr/>
        </p:nvSpPr>
        <p:spPr>
          <a:xfrm>
            <a:off x="8289036" y="2889504"/>
            <a:ext cx="65379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289036" y="2889504"/>
            <a:ext cx="65379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Promptfoo</a:t>
            </a:r>
          </a:p>
        </p:txBody>
      </p:sp>
      <p:sp>
        <p:nvSpPr>
          <p:cNvPr id="38" name="Rounded Rectangle 37"/>
          <p:cNvSpPr/>
          <p:nvPr/>
        </p:nvSpPr>
        <p:spPr>
          <a:xfrm>
            <a:off x="8997696" y="2889504"/>
            <a:ext cx="905256"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997696" y="2889504"/>
            <a:ext cx="90525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OpenGuardrails</a:t>
            </a:r>
          </a:p>
        </p:txBody>
      </p:sp>
      <p:sp>
        <p:nvSpPr>
          <p:cNvPr id="40" name="Rounded Rectangle 39"/>
          <p:cNvSpPr/>
          <p:nvPr/>
        </p:nvSpPr>
        <p:spPr>
          <a:xfrm>
            <a:off x="9957816" y="2889504"/>
            <a:ext cx="854964"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957816" y="2889504"/>
            <a:ext cx="85496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Guardrails AI</a:t>
            </a:r>
          </a:p>
        </p:txBody>
      </p:sp>
      <p:sp>
        <p:nvSpPr>
          <p:cNvPr id="42" name="Rounded Rectangle 41"/>
          <p:cNvSpPr/>
          <p:nvPr/>
        </p:nvSpPr>
        <p:spPr>
          <a:xfrm>
            <a:off x="10867644" y="2889504"/>
            <a:ext cx="704088" cy="256032"/>
          </a:xfrm>
          <a:prstGeom prst="roundRect">
            <a:avLst>
              <a:gd name="adj" fmla="val 50000"/>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10867644" y="2889504"/>
            <a:ext cx="704088"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Deepchecks</a:t>
            </a:r>
          </a:p>
        </p:txBody>
      </p:sp>
      <p:sp>
        <p:nvSpPr>
          <p:cNvPr id="44" name="Rounded Rectangle 43"/>
          <p:cNvSpPr/>
          <p:nvPr/>
        </p:nvSpPr>
        <p:spPr>
          <a:xfrm>
            <a:off x="502920" y="3200400"/>
            <a:ext cx="11155680" cy="1517904"/>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502920" y="3200400"/>
            <a:ext cx="64008" cy="151790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667512" y="3227832"/>
            <a:ext cx="2286000" cy="228600"/>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67512" y="3227832"/>
            <a:ext cx="2286000" cy="228600"/>
          </a:xfrm>
          <a:prstGeom prst="rect">
            <a:avLst/>
          </a:prstGeom>
          <a:noFill/>
        </p:spPr>
        <p:txBody>
          <a:bodyPr wrap="none" anchor="ctr" lIns="0" rIns="0" tIns="0" bIns="0">
            <a:spAutoFit/>
          </a:bodyPr>
          <a:lstStyle/>
          <a:p>
            <a:pPr algn="ctr">
              <a:lnSpc>
                <a:spcPct val="100000"/>
              </a:lnSpc>
            </a:pPr>
            <a:r>
              <a:rPr sz="869" b="1" i="0">
                <a:solidFill>
                  <a:srgbClr val="FFFFFF"/>
                </a:solidFill>
                <a:latin typeface="Calibri"/>
              </a:rPr>
              <a:t>AFNI RECOMMENDATION</a:t>
            </a:r>
          </a:p>
        </p:txBody>
      </p:sp>
      <p:sp>
        <p:nvSpPr>
          <p:cNvPr id="48" name="TextBox 47"/>
          <p:cNvSpPr txBox="1"/>
          <p:nvPr/>
        </p:nvSpPr>
        <p:spPr>
          <a:xfrm>
            <a:off x="3081528" y="3246120"/>
            <a:ext cx="914400" cy="182880"/>
          </a:xfrm>
          <a:prstGeom prst="rect">
            <a:avLst/>
          </a:prstGeom>
          <a:noFill/>
        </p:spPr>
        <p:txBody>
          <a:bodyPr wrap="square" anchor="t" lIns="0" rIns="0" tIns="0" bIns="0">
            <a:spAutoFit/>
          </a:bodyPr>
          <a:lstStyle/>
          <a:p>
            <a:pPr algn="l">
              <a:lnSpc>
                <a:spcPct val="100000"/>
              </a:lnSpc>
            </a:pPr>
            <a:r>
              <a:rPr sz="750" b="1" i="0">
                <a:solidFill>
                  <a:srgbClr val="5B6B7D"/>
                </a:solidFill>
                <a:latin typeface="Calibri"/>
              </a:rPr>
              <a:t>ADOPT</a:t>
            </a:r>
          </a:p>
        </p:txBody>
      </p:sp>
      <p:sp>
        <p:nvSpPr>
          <p:cNvPr id="49" name="Rounded Rectangle 48"/>
          <p:cNvSpPr/>
          <p:nvPr/>
        </p:nvSpPr>
        <p:spPr>
          <a:xfrm>
            <a:off x="3739896" y="3209544"/>
            <a:ext cx="848563"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739896" y="3209544"/>
            <a:ext cx="848563"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LLM Guard</a:t>
            </a:r>
          </a:p>
        </p:txBody>
      </p:sp>
      <p:sp>
        <p:nvSpPr>
          <p:cNvPr id="51" name="Rounded Rectangle 50"/>
          <p:cNvSpPr/>
          <p:nvPr/>
        </p:nvSpPr>
        <p:spPr>
          <a:xfrm>
            <a:off x="4670755" y="3209544"/>
            <a:ext cx="1243584"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670755" y="3209544"/>
            <a:ext cx="1243584"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NeMo Guardrails</a:t>
            </a:r>
          </a:p>
        </p:txBody>
      </p:sp>
      <p:sp>
        <p:nvSpPr>
          <p:cNvPr id="53" name="Rounded Rectangle 52"/>
          <p:cNvSpPr/>
          <p:nvPr/>
        </p:nvSpPr>
        <p:spPr>
          <a:xfrm>
            <a:off x="5996635" y="3209544"/>
            <a:ext cx="585216"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5996635" y="3209544"/>
            <a:ext cx="585216"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garak</a:t>
            </a:r>
          </a:p>
        </p:txBody>
      </p:sp>
      <p:sp>
        <p:nvSpPr>
          <p:cNvPr id="55" name="TextBox 54"/>
          <p:cNvSpPr txBox="1"/>
          <p:nvPr/>
        </p:nvSpPr>
        <p:spPr>
          <a:xfrm>
            <a:off x="685800" y="350215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ENGINE UNDER IT</a:t>
            </a:r>
          </a:p>
        </p:txBody>
      </p:sp>
      <p:sp>
        <p:nvSpPr>
          <p:cNvPr id="56" name="TextBox 55"/>
          <p:cNvSpPr txBox="1"/>
          <p:nvPr/>
        </p:nvSpPr>
        <p:spPr>
          <a:xfrm>
            <a:off x="2240280" y="3493008"/>
            <a:ext cx="9217151" cy="384048"/>
          </a:xfrm>
          <a:prstGeom prst="rect">
            <a:avLst/>
          </a:prstGeom>
          <a:noFill/>
        </p:spPr>
        <p:txBody>
          <a:bodyPr wrap="square" anchor="t" lIns="0" rIns="0" tIns="0" bIns="0">
            <a:spAutoFit/>
          </a:bodyPr>
          <a:lstStyle/>
          <a:p>
            <a:pPr algn="l">
              <a:lnSpc>
                <a:spcPct val="105000"/>
              </a:lnSpc>
            </a:pPr>
            <a:r>
              <a:rPr sz="780" b="0" i="0">
                <a:solidFill>
                  <a:srgbClr val="1A1A2E"/>
                </a:solidFill>
                <a:latin typeface="Calibri"/>
              </a:rPr>
              <a:t>Microsoft Presidio - 18 country packs including India Aadhaar (Verhoeff checksum), PAN, GSTIN, US SSN/ITIN - plus an ai4privacy DeBERTa NER. LLM Guard wraps both and adds a Vault, the only reversible redaction in the whole set.</a:t>
            </a:r>
          </a:p>
        </p:txBody>
      </p:sp>
      <p:sp>
        <p:nvSpPr>
          <p:cNvPr id="57" name="TextBox 56"/>
          <p:cNvSpPr txBox="1"/>
          <p:nvPr/>
        </p:nvSpPr>
        <p:spPr>
          <a:xfrm>
            <a:off x="685800" y="391363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CLOUD SECOND OPINION</a:t>
            </a:r>
          </a:p>
        </p:txBody>
      </p:sp>
      <p:sp>
        <p:nvSpPr>
          <p:cNvPr id="58" name="TextBox 57"/>
          <p:cNvSpPr txBox="1"/>
          <p:nvPr/>
        </p:nvSpPr>
        <p:spPr>
          <a:xfrm>
            <a:off x="2240280" y="3904488"/>
            <a:ext cx="9217151" cy="384048"/>
          </a:xfrm>
          <a:prstGeom prst="rect">
            <a:avLst/>
          </a:prstGeom>
          <a:noFill/>
        </p:spPr>
        <p:txBody>
          <a:bodyPr wrap="square" anchor="t" lIns="0" rIns="0" tIns="0" bIns="0">
            <a:spAutoFit/>
          </a:bodyPr>
          <a:lstStyle/>
          <a:p>
            <a:pPr algn="l">
              <a:lnSpc>
                <a:spcPct val="105000"/>
              </a:lnSpc>
            </a:pPr>
            <a:r>
              <a:rPr sz="780" b="0" i="0">
                <a:solidFill>
                  <a:srgbClr val="1A1A2E"/>
                </a:solidFill>
                <a:latin typeface="Calibri"/>
              </a:rPr>
              <a:t>Azure AI Language PII, in Conversation-PII mode for contact-centre transcripts - a direct match for AFNI's BPO workload. ~$0.38 per 1,000 records (verify the current rate).</a:t>
            </a:r>
          </a:p>
        </p:txBody>
      </p:sp>
      <p:sp>
        <p:nvSpPr>
          <p:cNvPr id="59" name="TextBox 58"/>
          <p:cNvSpPr txBox="1"/>
          <p:nvPr/>
        </p:nvSpPr>
        <p:spPr>
          <a:xfrm>
            <a:off x="685800" y="432511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WHERE IT RUNS</a:t>
            </a:r>
          </a:p>
        </p:txBody>
      </p:sp>
      <p:sp>
        <p:nvSpPr>
          <p:cNvPr id="60" name="TextBox 59"/>
          <p:cNvSpPr txBox="1"/>
          <p:nvPr/>
        </p:nvSpPr>
        <p:spPr>
          <a:xfrm>
            <a:off x="2240280" y="4315968"/>
            <a:ext cx="9217151" cy="274320"/>
          </a:xfrm>
          <a:prstGeom prst="rect">
            <a:avLst/>
          </a:prstGeom>
          <a:noFill/>
        </p:spPr>
        <p:txBody>
          <a:bodyPr wrap="square" anchor="t" lIns="0" rIns="0" tIns="0" bIns="0">
            <a:spAutoFit/>
          </a:bodyPr>
          <a:lstStyle/>
          <a:p>
            <a:pPr algn="l">
              <a:lnSpc>
                <a:spcPct val="105000"/>
              </a:lnSpc>
            </a:pPr>
            <a:r>
              <a:rPr sz="780" b="1" i="0">
                <a:solidFill>
                  <a:srgbClr val="10243E"/>
                </a:solidFill>
                <a:latin typeface="Calibri"/>
              </a:rPr>
              <a:t>Stage 1 LLM Guard + NeMo deterministic pass on every request  ·  Stage 2 Azure PII on Azure-native traffic  ·  Offline garak ProPILE leakage probes</a:t>
            </a:r>
          </a:p>
        </p:txBody>
      </p:sp>
      <p:sp>
        <p:nvSpPr>
          <p:cNvPr id="61" name="Rounded Rectangle 60"/>
          <p:cNvSpPr/>
          <p:nvPr/>
        </p:nvSpPr>
        <p:spPr>
          <a:xfrm>
            <a:off x="502920" y="4800600"/>
            <a:ext cx="11155680" cy="475488"/>
          </a:xfrm>
          <a:prstGeom prst="roundRect">
            <a:avLst>
              <a:gd name="adj" fmla="val 4000"/>
            </a:avLst>
          </a:prstGeom>
          <a:solidFill>
            <a:srgbClr val="FDF6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667512" y="4828032"/>
            <a:ext cx="1737360" cy="182880"/>
          </a:xfrm>
          <a:prstGeom prst="rect">
            <a:avLst/>
          </a:prstGeom>
          <a:noFill/>
        </p:spPr>
        <p:txBody>
          <a:bodyPr wrap="square" anchor="t" lIns="0" rIns="0" tIns="0" bIns="0">
            <a:spAutoFit/>
          </a:bodyPr>
          <a:lstStyle/>
          <a:p>
            <a:pPr algn="l">
              <a:lnSpc>
                <a:spcPct val="100000"/>
              </a:lnSpc>
            </a:pPr>
            <a:r>
              <a:rPr sz="700" b="1" i="0">
                <a:solidFill>
                  <a:srgbClr val="E88C00"/>
                </a:solidFill>
                <a:latin typeface="Calibri"/>
              </a:rPr>
              <a:t>RECONCILED</a:t>
            </a:r>
          </a:p>
        </p:txBody>
      </p:sp>
      <p:sp>
        <p:nvSpPr>
          <p:cNvPr id="63" name="TextBox 62"/>
          <p:cNvSpPr txBox="1"/>
          <p:nvPr/>
        </p:nvSpPr>
        <p:spPr>
          <a:xfrm>
            <a:off x="2240280" y="4818888"/>
            <a:ext cx="9217151" cy="429768"/>
          </a:xfrm>
          <a:prstGeom prst="rect">
            <a:avLst/>
          </a:prstGeom>
          <a:noFill/>
        </p:spPr>
        <p:txBody>
          <a:bodyPr wrap="square" anchor="t" lIns="0" rIns="0" tIns="0" bIns="0">
            <a:spAutoFit/>
          </a:bodyPr>
          <a:lstStyle/>
          <a:p>
            <a:pPr algn="l">
              <a:lnSpc>
                <a:spcPct val="105000"/>
              </a:lnSpc>
            </a:pPr>
            <a:r>
              <a:rPr sz="760" b="0" i="0">
                <a:solidFill>
                  <a:srgbClr val="1A1A2E"/>
                </a:solidFill>
                <a:latin typeface="Calibri"/>
              </a:rPr>
              <a:t>Presidio is the engine inside LLM Guard and NeMo, not a separate thing to adopt. That is the whole reason the earlier two slides read differently.</a:t>
            </a:r>
          </a:p>
        </p:txBody>
      </p:sp>
      <p:sp>
        <p:nvSpPr>
          <p:cNvPr id="64" name="Rounded Rectangle 63"/>
          <p:cNvSpPr/>
          <p:nvPr/>
        </p:nvSpPr>
        <p:spPr>
          <a:xfrm>
            <a:off x="502920" y="5358384"/>
            <a:ext cx="11155680" cy="420624"/>
          </a:xfrm>
          <a:prstGeom prst="roundRect">
            <a:avLst>
              <a:gd name="adj" fmla="val 10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731520" y="5358384"/>
            <a:ext cx="10698480" cy="420624"/>
          </a:xfrm>
          <a:prstGeom prst="rect">
            <a:avLst/>
          </a:prstGeom>
          <a:noFill/>
        </p:spPr>
        <p:txBody>
          <a:bodyPr wrap="square" anchor="ctr" lIns="0" rIns="0" tIns="0" bIns="0">
            <a:spAutoFit/>
          </a:bodyPr>
          <a:lstStyle/>
          <a:p>
            <a:pPr algn="ctr">
              <a:lnSpc>
                <a:spcPct val="105000"/>
              </a:lnSpc>
            </a:pPr>
            <a:r>
              <a:rPr sz="900" b="1" i="1">
                <a:solidFill>
                  <a:srgbClr val="FFFFFF"/>
                </a:solidFill>
                <a:latin typeface="Calibri"/>
              </a:rPr>
              <a:t>Privacy-by-design: data minimization, consent capture, a retention policy, and runtime redaction.</a:t>
            </a:r>
          </a:p>
        </p:txBody>
      </p:sp>
      <p:sp>
        <p:nvSpPr>
          <p:cNvPr id="66" name="Rectangle 65"/>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68" name="TextBox 67"/>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Tenet - Privacy</a:t>
            </a:r>
          </a:p>
        </p:txBody>
      </p:sp>
      <p:sp>
        <p:nvSpPr>
          <p:cNvPr id="69" name="TextBox 68"/>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39</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TENET 2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Security &amp; Injection Defense</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80160"/>
            <a:ext cx="64008" cy="131673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7512" y="1289304"/>
            <a:ext cx="1481328" cy="219456"/>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89304"/>
            <a:ext cx="1481328" cy="219456"/>
          </a:xfrm>
          <a:prstGeom prst="rect">
            <a:avLst/>
          </a:prstGeom>
          <a:noFill/>
        </p:spPr>
        <p:txBody>
          <a:bodyPr wrap="none" anchor="ctr" lIns="0" rIns="0" tIns="0" bIns="0">
            <a:spAutoFit/>
          </a:bodyPr>
          <a:lstStyle/>
          <a:p>
            <a:pPr algn="ctr">
              <a:lnSpc>
                <a:spcPct val="100000"/>
              </a:lnSpc>
            </a:pPr>
            <a:r>
              <a:rPr sz="850" b="1" i="0">
                <a:solidFill>
                  <a:srgbClr val="FFFFFF"/>
                </a:solidFill>
                <a:latin typeface="Calibri"/>
              </a:rPr>
              <a:t>OPEN-SOURCE</a:t>
            </a:r>
          </a:p>
        </p:txBody>
      </p:sp>
      <p:sp>
        <p:nvSpPr>
          <p:cNvPr id="10" name="TextBox 9"/>
          <p:cNvSpPr txBox="1"/>
          <p:nvPr/>
        </p:nvSpPr>
        <p:spPr>
          <a:xfrm>
            <a:off x="667512" y="1536192"/>
            <a:ext cx="5193792" cy="219456"/>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Microsoft PyRIT (MIT) + LLM Guard (MIT)</a:t>
            </a:r>
          </a:p>
        </p:txBody>
      </p:sp>
      <p:sp>
        <p:nvSpPr>
          <p:cNvPr id="11" name="TextBox 10"/>
          <p:cNvSpPr txBox="1"/>
          <p:nvPr/>
        </p:nvSpPr>
        <p:spPr>
          <a:xfrm>
            <a:off x="667512" y="1764792"/>
            <a:ext cx="5193792" cy="804671"/>
          </a:xfrm>
          <a:prstGeom prst="rect">
            <a:avLst/>
          </a:prstGeom>
          <a:noFill/>
        </p:spPr>
        <p:txBody>
          <a:bodyPr wrap="square" anchor="t" lIns="0" rIns="0" tIns="0" bIns="0">
            <a:spAutoFit/>
          </a:bodyPr>
          <a:lstStyle/>
          <a:p>
            <a:pPr algn="l">
              <a:lnSpc>
                <a:spcPct val="108000"/>
              </a:lnSpc>
            </a:pPr>
            <a:r>
              <a:rPr sz="819" b="0" i="0">
                <a:solidFill>
                  <a:srgbClr val="1A1A2E"/>
                </a:solidFill>
                <a:latin typeface="Calibri"/>
              </a:rPr>
              <a:t>PyRIT has the deepest red-team coverage found in this review: Crescendo, TAP, PAIR, and Skeleton-Key multi-turn jailbreak strategies, about 80 prompt-obfuscation converters, and free regex output-scorers for SQL injection, SSRF, and secret leaks. At runtime, LLM Guard's DeBERTa-v3 prompt-injection classifier runs locally at zero per-call cost, and NeMo Guardrails supplies YARA injection rules plus Colang-driven orchestration.</a:t>
            </a:r>
          </a:p>
        </p:txBody>
      </p:sp>
      <p:sp>
        <p:nvSpPr>
          <p:cNvPr id="12" name="Rectangle 11"/>
          <p:cNvSpPr/>
          <p:nvPr/>
        </p:nvSpPr>
        <p:spPr>
          <a:xfrm>
            <a:off x="6245352" y="1280160"/>
            <a:ext cx="64008" cy="1316736"/>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9944" y="1289304"/>
            <a:ext cx="1481328" cy="219456"/>
          </a:xfrm>
          <a:prstGeom prst="roundRect">
            <a:avLst>
              <a:gd name="adj" fmla="val 2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1289304"/>
            <a:ext cx="1481328" cy="219456"/>
          </a:xfrm>
          <a:prstGeom prst="rect">
            <a:avLst/>
          </a:prstGeom>
          <a:noFill/>
        </p:spPr>
        <p:txBody>
          <a:bodyPr wrap="none" anchor="ctr" lIns="0" rIns="0" tIns="0" bIns="0">
            <a:spAutoFit/>
          </a:bodyPr>
          <a:lstStyle/>
          <a:p>
            <a:pPr algn="ctr">
              <a:lnSpc>
                <a:spcPct val="100000"/>
              </a:lnSpc>
            </a:pPr>
            <a:r>
              <a:rPr sz="850" b="1" i="0">
                <a:solidFill>
                  <a:srgbClr val="FFFFFF"/>
                </a:solidFill>
                <a:latin typeface="Calibri"/>
              </a:rPr>
              <a:t>CLOUD &amp; PAID</a:t>
            </a:r>
          </a:p>
        </p:txBody>
      </p:sp>
      <p:sp>
        <p:nvSpPr>
          <p:cNvPr id="15" name="TextBox 14"/>
          <p:cNvSpPr txBox="1"/>
          <p:nvPr/>
        </p:nvSpPr>
        <p:spPr>
          <a:xfrm>
            <a:off x="6409944" y="1536192"/>
            <a:ext cx="5193792" cy="219456"/>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Azure AI Content Safety - Prompt Shields</a:t>
            </a:r>
          </a:p>
        </p:txBody>
      </p:sp>
      <p:sp>
        <p:nvSpPr>
          <p:cNvPr id="16" name="TextBox 15"/>
          <p:cNvSpPr txBox="1"/>
          <p:nvPr/>
        </p:nvSpPr>
        <p:spPr>
          <a:xfrm>
            <a:off x="6409944" y="1764792"/>
            <a:ext cx="5193792" cy="804671"/>
          </a:xfrm>
          <a:prstGeom prst="rect">
            <a:avLst/>
          </a:prstGeom>
          <a:noFill/>
        </p:spPr>
        <p:txBody>
          <a:bodyPr wrap="square" anchor="t" lIns="0" rIns="0" tIns="0" bIns="0">
            <a:spAutoFit/>
          </a:bodyPr>
          <a:lstStyle/>
          <a:p>
            <a:pPr algn="l">
              <a:lnSpc>
                <a:spcPct val="108000"/>
              </a:lnSpc>
            </a:pPr>
            <a:r>
              <a:rPr sz="819" b="0" i="0">
                <a:solidFill>
                  <a:srgbClr val="1A1A2E"/>
                </a:solidFill>
                <a:latin typeface="Calibri"/>
              </a:rPr>
              <a:t>Purpose-built for both direct and indirect (document-based) prompt injection - the most mature named capability for this specific attack class. AWS Bedrock Guardrails offers a comparable managed filter. Independent benchmarks show cloud filters lose ground on adversarial input versus specialised classifiers, so never rely on one filter alone.</a:t>
            </a:r>
          </a:p>
        </p:txBody>
      </p:sp>
      <p:sp>
        <p:nvSpPr>
          <p:cNvPr id="17" name="TextBox 16"/>
          <p:cNvSpPr txBox="1"/>
          <p:nvPr/>
        </p:nvSpPr>
        <p:spPr>
          <a:xfrm>
            <a:off x="502920" y="2688336"/>
            <a:ext cx="3840480" cy="182880"/>
          </a:xfrm>
          <a:prstGeom prst="rect">
            <a:avLst/>
          </a:prstGeom>
          <a:noFill/>
        </p:spPr>
        <p:txBody>
          <a:bodyPr wrap="square" anchor="t" lIns="0" rIns="0" tIns="0" bIns="0">
            <a:spAutoFit/>
          </a:bodyPr>
          <a:lstStyle/>
          <a:p>
            <a:pPr algn="l">
              <a:lnSpc>
                <a:spcPct val="100000"/>
              </a:lnSpc>
            </a:pPr>
            <a:r>
              <a:rPr sz="800" b="1" i="0">
                <a:solidFill>
                  <a:srgbClr val="5B6B7D"/>
                </a:solidFill>
                <a:latin typeface="Calibri"/>
              </a:rPr>
              <a:t>ALL OPTIONS FOUND (of the 23 reviewed)</a:t>
            </a:r>
          </a:p>
        </p:txBody>
      </p:sp>
      <p:sp>
        <p:nvSpPr>
          <p:cNvPr id="18" name="Rounded Rectangle 17"/>
          <p:cNvSpPr/>
          <p:nvPr/>
        </p:nvSpPr>
        <p:spPr>
          <a:xfrm>
            <a:off x="502920" y="2889504"/>
            <a:ext cx="955547"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889504"/>
            <a:ext cx="955547"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NeMo Guardrails</a:t>
            </a:r>
          </a:p>
        </p:txBody>
      </p:sp>
      <p:sp>
        <p:nvSpPr>
          <p:cNvPr id="20" name="Rounded Rectangle 19"/>
          <p:cNvSpPr/>
          <p:nvPr/>
        </p:nvSpPr>
        <p:spPr>
          <a:xfrm>
            <a:off x="1513332" y="2889504"/>
            <a:ext cx="653796"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513332" y="2889504"/>
            <a:ext cx="65379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LLM Guard</a:t>
            </a:r>
          </a:p>
        </p:txBody>
      </p:sp>
      <p:sp>
        <p:nvSpPr>
          <p:cNvPr id="22" name="Rounded Rectangle 21"/>
          <p:cNvSpPr/>
          <p:nvPr/>
        </p:nvSpPr>
        <p:spPr>
          <a:xfrm>
            <a:off x="2221991" y="2889504"/>
            <a:ext cx="452628"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21991" y="2889504"/>
            <a:ext cx="452628"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PyRIT</a:t>
            </a:r>
          </a:p>
        </p:txBody>
      </p:sp>
      <p:sp>
        <p:nvSpPr>
          <p:cNvPr id="24" name="Rounded Rectangle 23"/>
          <p:cNvSpPr/>
          <p:nvPr/>
        </p:nvSpPr>
        <p:spPr>
          <a:xfrm>
            <a:off x="2729483" y="2889504"/>
            <a:ext cx="452628"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29483" y="2889504"/>
            <a:ext cx="452628"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garak</a:t>
            </a:r>
          </a:p>
        </p:txBody>
      </p:sp>
      <p:sp>
        <p:nvSpPr>
          <p:cNvPr id="26" name="Rounded Rectangle 25"/>
          <p:cNvSpPr/>
          <p:nvPr/>
        </p:nvSpPr>
        <p:spPr>
          <a:xfrm>
            <a:off x="3236975" y="2889504"/>
            <a:ext cx="603504"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36975" y="2889504"/>
            <a:ext cx="60350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DeepTeam</a:t>
            </a:r>
          </a:p>
        </p:txBody>
      </p:sp>
      <p:sp>
        <p:nvSpPr>
          <p:cNvPr id="28" name="Rounded Rectangle 27"/>
          <p:cNvSpPr/>
          <p:nvPr/>
        </p:nvSpPr>
        <p:spPr>
          <a:xfrm>
            <a:off x="3895343" y="2889504"/>
            <a:ext cx="653796"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95343" y="2889504"/>
            <a:ext cx="65379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Promptfoo</a:t>
            </a:r>
          </a:p>
        </p:txBody>
      </p:sp>
      <p:sp>
        <p:nvSpPr>
          <p:cNvPr id="30" name="Rounded Rectangle 29"/>
          <p:cNvSpPr/>
          <p:nvPr/>
        </p:nvSpPr>
        <p:spPr>
          <a:xfrm>
            <a:off x="4604003" y="2889504"/>
            <a:ext cx="502920"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604003" y="2889504"/>
            <a:ext cx="502920"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Rebuff</a:t>
            </a:r>
          </a:p>
        </p:txBody>
      </p:sp>
      <p:sp>
        <p:nvSpPr>
          <p:cNvPr id="32" name="Rounded Rectangle 31"/>
          <p:cNvSpPr/>
          <p:nvPr/>
        </p:nvSpPr>
        <p:spPr>
          <a:xfrm>
            <a:off x="5161787" y="2889504"/>
            <a:ext cx="955547"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161787" y="2889504"/>
            <a:ext cx="955547"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Safe Zone (TSZ)</a:t>
            </a:r>
          </a:p>
        </p:txBody>
      </p:sp>
      <p:sp>
        <p:nvSpPr>
          <p:cNvPr id="34" name="Rounded Rectangle 33"/>
          <p:cNvSpPr/>
          <p:nvPr/>
        </p:nvSpPr>
        <p:spPr>
          <a:xfrm>
            <a:off x="6172199" y="2889504"/>
            <a:ext cx="905256"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72199" y="2889504"/>
            <a:ext cx="90525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hai-guardrails</a:t>
            </a:r>
          </a:p>
        </p:txBody>
      </p:sp>
      <p:sp>
        <p:nvSpPr>
          <p:cNvPr id="36" name="Rounded Rectangle 35"/>
          <p:cNvSpPr/>
          <p:nvPr/>
        </p:nvSpPr>
        <p:spPr>
          <a:xfrm>
            <a:off x="7132319" y="2889504"/>
            <a:ext cx="1005840"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132319" y="2889504"/>
            <a:ext cx="1005840"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Agentic Security</a:t>
            </a:r>
          </a:p>
        </p:txBody>
      </p:sp>
      <p:sp>
        <p:nvSpPr>
          <p:cNvPr id="38" name="Rounded Rectangle 37"/>
          <p:cNvSpPr/>
          <p:nvPr/>
        </p:nvSpPr>
        <p:spPr>
          <a:xfrm>
            <a:off x="8193023" y="2889504"/>
            <a:ext cx="553212"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193023" y="2889504"/>
            <a:ext cx="553212"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FuzzyAI</a:t>
            </a:r>
          </a:p>
        </p:txBody>
      </p:sp>
      <p:sp>
        <p:nvSpPr>
          <p:cNvPr id="40" name="Rounded Rectangle 39"/>
          <p:cNvSpPr/>
          <p:nvPr/>
        </p:nvSpPr>
        <p:spPr>
          <a:xfrm>
            <a:off x="8801099" y="2889504"/>
            <a:ext cx="352044"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801099" y="2889504"/>
            <a:ext cx="35204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JCB</a:t>
            </a:r>
          </a:p>
        </p:txBody>
      </p:sp>
      <p:sp>
        <p:nvSpPr>
          <p:cNvPr id="42" name="Rounded Rectangle 41"/>
          <p:cNvSpPr/>
          <p:nvPr/>
        </p:nvSpPr>
        <p:spPr>
          <a:xfrm>
            <a:off x="9208007" y="2889504"/>
            <a:ext cx="653796"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208007" y="2889504"/>
            <a:ext cx="65379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LLMFuzzer</a:t>
            </a:r>
          </a:p>
        </p:txBody>
      </p:sp>
      <p:sp>
        <p:nvSpPr>
          <p:cNvPr id="44" name="Rounded Rectangle 43"/>
          <p:cNvSpPr/>
          <p:nvPr/>
        </p:nvSpPr>
        <p:spPr>
          <a:xfrm>
            <a:off x="9916667" y="2889504"/>
            <a:ext cx="553212"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916667" y="2889504"/>
            <a:ext cx="553212"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Giskard</a:t>
            </a:r>
          </a:p>
        </p:txBody>
      </p:sp>
      <p:sp>
        <p:nvSpPr>
          <p:cNvPr id="46" name="Rounded Rectangle 45"/>
          <p:cNvSpPr/>
          <p:nvPr/>
        </p:nvSpPr>
        <p:spPr>
          <a:xfrm>
            <a:off x="10524743" y="2889504"/>
            <a:ext cx="905256"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0524743" y="2889504"/>
            <a:ext cx="90525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OpenGuardrails</a:t>
            </a:r>
          </a:p>
        </p:txBody>
      </p:sp>
      <p:sp>
        <p:nvSpPr>
          <p:cNvPr id="48" name="Rounded Rectangle 47"/>
          <p:cNvSpPr/>
          <p:nvPr/>
        </p:nvSpPr>
        <p:spPr>
          <a:xfrm>
            <a:off x="502920" y="3118104"/>
            <a:ext cx="1156716"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3118104"/>
            <a:ext cx="115671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Infosys RAI Toolkit</a:t>
            </a:r>
          </a:p>
        </p:txBody>
      </p:sp>
      <p:sp>
        <p:nvSpPr>
          <p:cNvPr id="50" name="Rounded Rectangle 49"/>
          <p:cNvSpPr/>
          <p:nvPr/>
        </p:nvSpPr>
        <p:spPr>
          <a:xfrm>
            <a:off x="1714500" y="3118104"/>
            <a:ext cx="804672" cy="256032"/>
          </a:xfrm>
          <a:prstGeom prst="roundRect">
            <a:avLst>
              <a:gd name="adj" fmla="val 50000"/>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1714500" y="3118104"/>
            <a:ext cx="804672"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OpenAI Evals</a:t>
            </a:r>
          </a:p>
        </p:txBody>
      </p:sp>
      <p:sp>
        <p:nvSpPr>
          <p:cNvPr id="52" name="Rounded Rectangle 51"/>
          <p:cNvSpPr/>
          <p:nvPr/>
        </p:nvSpPr>
        <p:spPr>
          <a:xfrm>
            <a:off x="502920" y="3429000"/>
            <a:ext cx="11155680" cy="1517904"/>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502920" y="3429000"/>
            <a:ext cx="64008" cy="151790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667512" y="3456432"/>
            <a:ext cx="2286000" cy="228600"/>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67512" y="3456432"/>
            <a:ext cx="2286000" cy="228600"/>
          </a:xfrm>
          <a:prstGeom prst="rect">
            <a:avLst/>
          </a:prstGeom>
          <a:noFill/>
        </p:spPr>
        <p:txBody>
          <a:bodyPr wrap="none" anchor="ctr" lIns="0" rIns="0" tIns="0" bIns="0">
            <a:spAutoFit/>
          </a:bodyPr>
          <a:lstStyle/>
          <a:p>
            <a:pPr algn="ctr">
              <a:lnSpc>
                <a:spcPct val="100000"/>
              </a:lnSpc>
            </a:pPr>
            <a:r>
              <a:rPr sz="869" b="1" i="0">
                <a:solidFill>
                  <a:srgbClr val="FFFFFF"/>
                </a:solidFill>
                <a:latin typeface="Calibri"/>
              </a:rPr>
              <a:t>AFNI RECOMMENDATION</a:t>
            </a:r>
          </a:p>
        </p:txBody>
      </p:sp>
      <p:sp>
        <p:nvSpPr>
          <p:cNvPr id="56" name="TextBox 55"/>
          <p:cNvSpPr txBox="1"/>
          <p:nvPr/>
        </p:nvSpPr>
        <p:spPr>
          <a:xfrm>
            <a:off x="3081528" y="3474720"/>
            <a:ext cx="914400" cy="182880"/>
          </a:xfrm>
          <a:prstGeom prst="rect">
            <a:avLst/>
          </a:prstGeom>
          <a:noFill/>
        </p:spPr>
        <p:txBody>
          <a:bodyPr wrap="square" anchor="t" lIns="0" rIns="0" tIns="0" bIns="0">
            <a:spAutoFit/>
          </a:bodyPr>
          <a:lstStyle/>
          <a:p>
            <a:pPr algn="l">
              <a:lnSpc>
                <a:spcPct val="100000"/>
              </a:lnSpc>
            </a:pPr>
            <a:r>
              <a:rPr sz="750" b="1" i="0">
                <a:solidFill>
                  <a:srgbClr val="5B6B7D"/>
                </a:solidFill>
                <a:latin typeface="Calibri"/>
              </a:rPr>
              <a:t>ADOPT</a:t>
            </a:r>
          </a:p>
        </p:txBody>
      </p:sp>
      <p:sp>
        <p:nvSpPr>
          <p:cNvPr id="57" name="Rounded Rectangle 56"/>
          <p:cNvSpPr/>
          <p:nvPr/>
        </p:nvSpPr>
        <p:spPr>
          <a:xfrm>
            <a:off x="3739896" y="3438144"/>
            <a:ext cx="848563"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39896" y="3438144"/>
            <a:ext cx="848563"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LLM Guard</a:t>
            </a:r>
          </a:p>
        </p:txBody>
      </p:sp>
      <p:sp>
        <p:nvSpPr>
          <p:cNvPr id="59" name="Rounded Rectangle 58"/>
          <p:cNvSpPr/>
          <p:nvPr/>
        </p:nvSpPr>
        <p:spPr>
          <a:xfrm>
            <a:off x="4670755" y="3438144"/>
            <a:ext cx="1243584"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4670755" y="3438144"/>
            <a:ext cx="1243584"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NeMo Guardrails</a:t>
            </a:r>
          </a:p>
        </p:txBody>
      </p:sp>
      <p:sp>
        <p:nvSpPr>
          <p:cNvPr id="61" name="Rounded Rectangle 60"/>
          <p:cNvSpPr/>
          <p:nvPr/>
        </p:nvSpPr>
        <p:spPr>
          <a:xfrm>
            <a:off x="5996635" y="3438144"/>
            <a:ext cx="585216"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96635" y="3438144"/>
            <a:ext cx="585216"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PyRIT</a:t>
            </a:r>
          </a:p>
        </p:txBody>
      </p:sp>
      <p:sp>
        <p:nvSpPr>
          <p:cNvPr id="63" name="TextBox 62"/>
          <p:cNvSpPr txBox="1"/>
          <p:nvPr/>
        </p:nvSpPr>
        <p:spPr>
          <a:xfrm>
            <a:off x="685800" y="373075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ENGINE UNDER IT</a:t>
            </a:r>
          </a:p>
        </p:txBody>
      </p:sp>
      <p:sp>
        <p:nvSpPr>
          <p:cNvPr id="64" name="TextBox 63"/>
          <p:cNvSpPr txBox="1"/>
          <p:nvPr/>
        </p:nvSpPr>
        <p:spPr>
          <a:xfrm>
            <a:off x="2240280" y="3721608"/>
            <a:ext cx="9217151" cy="384048"/>
          </a:xfrm>
          <a:prstGeom prst="rect">
            <a:avLst/>
          </a:prstGeom>
          <a:noFill/>
        </p:spPr>
        <p:txBody>
          <a:bodyPr wrap="square" anchor="t" lIns="0" rIns="0" tIns="0" bIns="0">
            <a:spAutoFit/>
          </a:bodyPr>
          <a:lstStyle/>
          <a:p>
            <a:pPr algn="l">
              <a:lnSpc>
                <a:spcPct val="105000"/>
              </a:lnSpc>
            </a:pPr>
            <a:r>
              <a:rPr sz="780" b="0" i="0">
                <a:solidFill>
                  <a:srgbClr val="1A1A2E"/>
                </a:solidFill>
                <a:latin typeface="Calibri"/>
              </a:rPr>
              <a:t>LLM Guard's protectai/deberta-v3-base-prompt-injection-v2 and bc-detect-secrets (95 pattern plugins); NeMo's YARA sqli/code/template/xss rules and its NemoGuard-JailbreakDetect ONNX classifier.</a:t>
            </a:r>
          </a:p>
        </p:txBody>
      </p:sp>
      <p:sp>
        <p:nvSpPr>
          <p:cNvPr id="65" name="TextBox 64"/>
          <p:cNvSpPr txBox="1"/>
          <p:nvPr/>
        </p:nvSpPr>
        <p:spPr>
          <a:xfrm>
            <a:off x="685800" y="414223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CLOUD SECOND OPINION</a:t>
            </a:r>
          </a:p>
        </p:txBody>
      </p:sp>
      <p:sp>
        <p:nvSpPr>
          <p:cNvPr id="66" name="TextBox 65"/>
          <p:cNvSpPr txBox="1"/>
          <p:nvPr/>
        </p:nvSpPr>
        <p:spPr>
          <a:xfrm>
            <a:off x="2240280" y="4133088"/>
            <a:ext cx="9217151" cy="384048"/>
          </a:xfrm>
          <a:prstGeom prst="rect">
            <a:avLst/>
          </a:prstGeom>
          <a:noFill/>
        </p:spPr>
        <p:txBody>
          <a:bodyPr wrap="square" anchor="t" lIns="0" rIns="0" tIns="0" bIns="0">
            <a:spAutoFit/>
          </a:bodyPr>
          <a:lstStyle/>
          <a:p>
            <a:pPr algn="l">
              <a:lnSpc>
                <a:spcPct val="105000"/>
              </a:lnSpc>
            </a:pPr>
            <a:r>
              <a:rPr sz="780" b="0" i="0">
                <a:solidFill>
                  <a:srgbClr val="1A1A2E"/>
                </a:solidFill>
                <a:latin typeface="Calibri"/>
              </a:rPr>
              <a:t>Azure AI Content Safety Prompt Shields - the most mature named capability for direct and indirect (document-borne) injection. Never the only filter.</a:t>
            </a:r>
          </a:p>
        </p:txBody>
      </p:sp>
      <p:sp>
        <p:nvSpPr>
          <p:cNvPr id="67" name="TextBox 66"/>
          <p:cNvSpPr txBox="1"/>
          <p:nvPr/>
        </p:nvSpPr>
        <p:spPr>
          <a:xfrm>
            <a:off x="685800" y="455371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WHERE IT RUNS</a:t>
            </a:r>
          </a:p>
        </p:txBody>
      </p:sp>
      <p:sp>
        <p:nvSpPr>
          <p:cNvPr id="68" name="TextBox 67"/>
          <p:cNvSpPr txBox="1"/>
          <p:nvPr/>
        </p:nvSpPr>
        <p:spPr>
          <a:xfrm>
            <a:off x="2240280" y="4544568"/>
            <a:ext cx="9217151" cy="274320"/>
          </a:xfrm>
          <a:prstGeom prst="rect">
            <a:avLst/>
          </a:prstGeom>
          <a:noFill/>
        </p:spPr>
        <p:txBody>
          <a:bodyPr wrap="square" anchor="t" lIns="0" rIns="0" tIns="0" bIns="0">
            <a:spAutoFit/>
          </a:bodyPr>
          <a:lstStyle/>
          <a:p>
            <a:pPr algn="l">
              <a:lnSpc>
                <a:spcPct val="105000"/>
              </a:lnSpc>
            </a:pPr>
            <a:r>
              <a:rPr sz="780" b="1" i="0">
                <a:solidFill>
                  <a:srgbClr val="10243E"/>
                </a:solidFill>
                <a:latin typeface="Calibri"/>
              </a:rPr>
              <a:t>Stage 1 secrets, invisible-text, YARA rules  ·  Stage 2 DeBERTa injection classifier  ·  Stage 3 Prompt Shields on high-risk traffic  ·  Offline PyRIT and garak</a:t>
            </a:r>
          </a:p>
        </p:txBody>
      </p:sp>
      <p:sp>
        <p:nvSpPr>
          <p:cNvPr id="69" name="Rounded Rectangle 68"/>
          <p:cNvSpPr/>
          <p:nvPr/>
        </p:nvSpPr>
        <p:spPr>
          <a:xfrm>
            <a:off x="502920" y="5029200"/>
            <a:ext cx="11155680" cy="475488"/>
          </a:xfrm>
          <a:prstGeom prst="roundRect">
            <a:avLst>
              <a:gd name="adj" fmla="val 4000"/>
            </a:avLst>
          </a:prstGeom>
          <a:solidFill>
            <a:srgbClr val="FDF6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67512" y="5056632"/>
            <a:ext cx="1737360" cy="182880"/>
          </a:xfrm>
          <a:prstGeom prst="rect">
            <a:avLst/>
          </a:prstGeom>
          <a:noFill/>
        </p:spPr>
        <p:txBody>
          <a:bodyPr wrap="square" anchor="t" lIns="0" rIns="0" tIns="0" bIns="0">
            <a:spAutoFit/>
          </a:bodyPr>
          <a:lstStyle/>
          <a:p>
            <a:pPr algn="l">
              <a:lnSpc>
                <a:spcPct val="100000"/>
              </a:lnSpc>
            </a:pPr>
            <a:r>
              <a:rPr sz="700" b="1" i="0">
                <a:solidFill>
                  <a:srgbClr val="E88C00"/>
                </a:solidFill>
                <a:latin typeface="Calibri"/>
              </a:rPr>
              <a:t>RECONCILED</a:t>
            </a:r>
          </a:p>
        </p:txBody>
      </p:sp>
      <p:sp>
        <p:nvSpPr>
          <p:cNvPr id="71" name="TextBox 70"/>
          <p:cNvSpPr txBox="1"/>
          <p:nvPr/>
        </p:nvSpPr>
        <p:spPr>
          <a:xfrm>
            <a:off x="2240280" y="5047488"/>
            <a:ext cx="9217151" cy="429768"/>
          </a:xfrm>
          <a:prstGeom prst="rect">
            <a:avLst/>
          </a:prstGeom>
          <a:noFill/>
        </p:spPr>
        <p:txBody>
          <a:bodyPr wrap="square" anchor="t" lIns="0" rIns="0" tIns="0" bIns="0">
            <a:spAutoFit/>
          </a:bodyPr>
          <a:lstStyle/>
          <a:p>
            <a:pPr algn="l">
              <a:lnSpc>
                <a:spcPct val="105000"/>
              </a:lnSpc>
            </a:pPr>
            <a:r>
              <a:rPr sz="760" b="0" i="0">
                <a:solidFill>
                  <a:srgbClr val="1A1A2E"/>
                </a:solidFill>
                <a:latin typeface="Calibri"/>
              </a:rPr>
              <a:t>Both earlier slides agreed here. Note from the source read: NeMo's jailbreak rail defaults to fail-OPEN and must be explicitly flipped.</a:t>
            </a:r>
          </a:p>
        </p:txBody>
      </p:sp>
      <p:sp>
        <p:nvSpPr>
          <p:cNvPr id="72" name="Rounded Rectangle 71"/>
          <p:cNvSpPr/>
          <p:nvPr/>
        </p:nvSpPr>
        <p:spPr>
          <a:xfrm>
            <a:off x="502920" y="5586984"/>
            <a:ext cx="11155680" cy="420624"/>
          </a:xfrm>
          <a:prstGeom prst="roundRect">
            <a:avLst>
              <a:gd name="adj" fmla="val 10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731520" y="5586984"/>
            <a:ext cx="10698480" cy="420624"/>
          </a:xfrm>
          <a:prstGeom prst="rect">
            <a:avLst/>
          </a:prstGeom>
          <a:noFill/>
        </p:spPr>
        <p:txBody>
          <a:bodyPr wrap="square" anchor="ctr" lIns="0" rIns="0" tIns="0" bIns="0">
            <a:spAutoFit/>
          </a:bodyPr>
          <a:lstStyle/>
          <a:p>
            <a:pPr algn="ctr">
              <a:lnSpc>
                <a:spcPct val="105000"/>
              </a:lnSpc>
            </a:pPr>
            <a:r>
              <a:rPr sz="900" b="1" i="1">
                <a:solidFill>
                  <a:srgbClr val="FFFFFF"/>
                </a:solidFill>
                <a:latin typeface="Calibri"/>
              </a:rPr>
              <a:t>Defense-in-depth: cheap local checks first, a paid model only on borderline input, and continuous offline red-teaming to keep every layer honest.</a:t>
            </a:r>
          </a:p>
        </p:txBody>
      </p:sp>
      <p:sp>
        <p:nvSpPr>
          <p:cNvPr id="74" name="Rectangle 73"/>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76" name="TextBox 75"/>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Tenet - Security</a:t>
            </a:r>
          </a:p>
        </p:txBody>
      </p:sp>
      <p:sp>
        <p:nvSpPr>
          <p:cNvPr id="77" name="TextBox 76"/>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6A4C93"/>
                </a:solidFill>
                <a:latin typeface="Calibri"/>
              </a:rPr>
              <a:t>TENET 3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Fairness &amp; Bias Mitigation</a:t>
            </a:r>
          </a:p>
        </p:txBody>
      </p:sp>
      <p:sp>
        <p:nvSpPr>
          <p:cNvPr id="6" name="Rectangle 5"/>
          <p:cNvSpPr/>
          <p:nvPr/>
        </p:nvSpPr>
        <p:spPr>
          <a:xfrm>
            <a:off x="502920" y="1207008"/>
            <a:ext cx="2011680" cy="32004"/>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80160"/>
            <a:ext cx="64008" cy="131673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7512" y="1289304"/>
            <a:ext cx="1481328" cy="219456"/>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89304"/>
            <a:ext cx="1481328" cy="219456"/>
          </a:xfrm>
          <a:prstGeom prst="rect">
            <a:avLst/>
          </a:prstGeom>
          <a:noFill/>
        </p:spPr>
        <p:txBody>
          <a:bodyPr wrap="none" anchor="ctr" lIns="0" rIns="0" tIns="0" bIns="0">
            <a:spAutoFit/>
          </a:bodyPr>
          <a:lstStyle/>
          <a:p>
            <a:pPr algn="ctr">
              <a:lnSpc>
                <a:spcPct val="100000"/>
              </a:lnSpc>
            </a:pPr>
            <a:r>
              <a:rPr sz="850" b="1" i="0">
                <a:solidFill>
                  <a:srgbClr val="FFFFFF"/>
                </a:solidFill>
                <a:latin typeface="Calibri"/>
              </a:rPr>
              <a:t>OPEN-SOURCE</a:t>
            </a:r>
          </a:p>
        </p:txBody>
      </p:sp>
      <p:sp>
        <p:nvSpPr>
          <p:cNvPr id="10" name="TextBox 9"/>
          <p:cNvSpPr txBox="1"/>
          <p:nvPr/>
        </p:nvSpPr>
        <p:spPr>
          <a:xfrm>
            <a:off x="667512" y="1536192"/>
            <a:ext cx="5193792" cy="219456"/>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Microsoft Fairlearn (MIT) + IBM AIF360 (Apache-2.0)</a:t>
            </a:r>
          </a:p>
        </p:txBody>
      </p:sp>
      <p:sp>
        <p:nvSpPr>
          <p:cNvPr id="11" name="TextBox 10"/>
          <p:cNvSpPr txBox="1"/>
          <p:nvPr/>
        </p:nvSpPr>
        <p:spPr>
          <a:xfrm>
            <a:off x="667512" y="1764792"/>
            <a:ext cx="5193792" cy="804671"/>
          </a:xfrm>
          <a:prstGeom prst="rect">
            <a:avLst/>
          </a:prstGeom>
          <a:noFill/>
        </p:spPr>
        <p:txBody>
          <a:bodyPr wrap="square" anchor="t" lIns="0" rIns="0" tIns="0" bIns="0">
            <a:spAutoFit/>
          </a:bodyPr>
          <a:lstStyle/>
          <a:p>
            <a:pPr algn="l">
              <a:lnSpc>
                <a:spcPct val="108000"/>
              </a:lnSpc>
            </a:pPr>
            <a:r>
              <a:rPr sz="819" b="0" i="0">
                <a:solidFill>
                  <a:srgbClr val="1A1A2E"/>
                </a:solidFill>
                <a:latin typeface="Calibri"/>
              </a:rPr>
              <a:t>Fairlearn covers everyday group-fairness metrics and mitigation on structured decisioning models - Azure-aligned, lower overhead, and backed by a 62-file test suite with warnings-as-errors CI. AIF360 goes deeper: its MDSS and FACTS scanners find which subgroup is biased instead of requiring AFNI to already know which group to check.</a:t>
            </a:r>
          </a:p>
        </p:txBody>
      </p:sp>
      <p:sp>
        <p:nvSpPr>
          <p:cNvPr id="12" name="Rectangle 11"/>
          <p:cNvSpPr/>
          <p:nvPr/>
        </p:nvSpPr>
        <p:spPr>
          <a:xfrm>
            <a:off x="6245352" y="1280160"/>
            <a:ext cx="64008" cy="1316736"/>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9944" y="1289304"/>
            <a:ext cx="1481328" cy="219456"/>
          </a:xfrm>
          <a:prstGeom prst="roundRect">
            <a:avLst>
              <a:gd name="adj" fmla="val 2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1289304"/>
            <a:ext cx="1481328" cy="219456"/>
          </a:xfrm>
          <a:prstGeom prst="rect">
            <a:avLst/>
          </a:prstGeom>
          <a:noFill/>
        </p:spPr>
        <p:txBody>
          <a:bodyPr wrap="none" anchor="ctr" lIns="0" rIns="0" tIns="0" bIns="0">
            <a:spAutoFit/>
          </a:bodyPr>
          <a:lstStyle/>
          <a:p>
            <a:pPr algn="ctr">
              <a:lnSpc>
                <a:spcPct val="100000"/>
              </a:lnSpc>
            </a:pPr>
            <a:r>
              <a:rPr sz="850" b="1" i="0">
                <a:solidFill>
                  <a:srgbClr val="FFFFFF"/>
                </a:solidFill>
                <a:latin typeface="Calibri"/>
              </a:rPr>
              <a:t>CLOUD &amp; PAID</a:t>
            </a:r>
          </a:p>
        </p:txBody>
      </p:sp>
      <p:sp>
        <p:nvSpPr>
          <p:cNvPr id="15" name="TextBox 14"/>
          <p:cNvSpPr txBox="1"/>
          <p:nvPr/>
        </p:nvSpPr>
        <p:spPr>
          <a:xfrm>
            <a:off x="6409944" y="1536192"/>
            <a:ext cx="5193792" cy="219456"/>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Azure ML Responsible AI dashboard + Fiddler AI / Arthur AI</a:t>
            </a:r>
          </a:p>
        </p:txBody>
      </p:sp>
      <p:sp>
        <p:nvSpPr>
          <p:cNvPr id="16" name="TextBox 15"/>
          <p:cNvSpPr txBox="1"/>
          <p:nvPr/>
        </p:nvSpPr>
        <p:spPr>
          <a:xfrm>
            <a:off x="6409944" y="1764792"/>
            <a:ext cx="5193792" cy="804671"/>
          </a:xfrm>
          <a:prstGeom prst="rect">
            <a:avLst/>
          </a:prstGeom>
          <a:noFill/>
        </p:spPr>
        <p:txBody>
          <a:bodyPr wrap="square" anchor="t" lIns="0" rIns="0" tIns="0" bIns="0">
            <a:spAutoFit/>
          </a:bodyPr>
          <a:lstStyle/>
          <a:p>
            <a:pPr algn="l">
              <a:lnSpc>
                <a:spcPct val="108000"/>
              </a:lnSpc>
            </a:pPr>
            <a:r>
              <a:rPr sz="819" b="0" i="0">
                <a:solidFill>
                  <a:srgbClr val="1A1A2E"/>
                </a:solidFill>
                <a:latin typeface="Calibri"/>
              </a:rPr>
              <a:t>Azure's RAI dashboard is built on Fairlearn itself, giving a managed, client-facing fairness view for free. Fiddler AI and Arthur AI add continuous production bias-drift monitoring and alerting, worth the spend only if AFNI needs always-on alerts rather than scheduled batch checks.</a:t>
            </a:r>
          </a:p>
        </p:txBody>
      </p:sp>
      <p:sp>
        <p:nvSpPr>
          <p:cNvPr id="17" name="TextBox 16"/>
          <p:cNvSpPr txBox="1"/>
          <p:nvPr/>
        </p:nvSpPr>
        <p:spPr>
          <a:xfrm>
            <a:off x="502920" y="2688336"/>
            <a:ext cx="3840480" cy="182880"/>
          </a:xfrm>
          <a:prstGeom prst="rect">
            <a:avLst/>
          </a:prstGeom>
          <a:noFill/>
        </p:spPr>
        <p:txBody>
          <a:bodyPr wrap="square" anchor="t" lIns="0" rIns="0" tIns="0" bIns="0">
            <a:spAutoFit/>
          </a:bodyPr>
          <a:lstStyle/>
          <a:p>
            <a:pPr algn="l">
              <a:lnSpc>
                <a:spcPct val="100000"/>
              </a:lnSpc>
            </a:pPr>
            <a:r>
              <a:rPr sz="800" b="1" i="0">
                <a:solidFill>
                  <a:srgbClr val="5B6B7D"/>
                </a:solidFill>
                <a:latin typeface="Calibri"/>
              </a:rPr>
              <a:t>ALL OPTIONS FOUND (of the 23 reviewed)</a:t>
            </a:r>
          </a:p>
        </p:txBody>
      </p:sp>
      <p:sp>
        <p:nvSpPr>
          <p:cNvPr id="18" name="Rounded Rectangle 17"/>
          <p:cNvSpPr/>
          <p:nvPr/>
        </p:nvSpPr>
        <p:spPr>
          <a:xfrm>
            <a:off x="502920" y="2889504"/>
            <a:ext cx="653796"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889504"/>
            <a:ext cx="65379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Fairlearn</a:t>
            </a:r>
          </a:p>
        </p:txBody>
      </p:sp>
      <p:sp>
        <p:nvSpPr>
          <p:cNvPr id="20" name="Rounded Rectangle 19"/>
          <p:cNvSpPr/>
          <p:nvPr/>
        </p:nvSpPr>
        <p:spPr>
          <a:xfrm>
            <a:off x="1211580" y="2889504"/>
            <a:ext cx="502920"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11580" y="2889504"/>
            <a:ext cx="502920"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AIF360</a:t>
            </a:r>
          </a:p>
        </p:txBody>
      </p:sp>
      <p:sp>
        <p:nvSpPr>
          <p:cNvPr id="22" name="Rounded Rectangle 21"/>
          <p:cNvSpPr/>
          <p:nvPr/>
        </p:nvSpPr>
        <p:spPr>
          <a:xfrm>
            <a:off x="1769364" y="2889504"/>
            <a:ext cx="704088"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769364" y="2889504"/>
            <a:ext cx="704088"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Deepchecks</a:t>
            </a:r>
          </a:p>
        </p:txBody>
      </p:sp>
      <p:sp>
        <p:nvSpPr>
          <p:cNvPr id="24" name="Rounded Rectangle 23"/>
          <p:cNvSpPr/>
          <p:nvPr/>
        </p:nvSpPr>
        <p:spPr>
          <a:xfrm>
            <a:off x="2528316" y="2889504"/>
            <a:ext cx="653796"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528316" y="2889504"/>
            <a:ext cx="65379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Promptfoo</a:t>
            </a:r>
          </a:p>
        </p:txBody>
      </p:sp>
      <p:sp>
        <p:nvSpPr>
          <p:cNvPr id="26" name="Rounded Rectangle 25"/>
          <p:cNvSpPr/>
          <p:nvPr/>
        </p:nvSpPr>
        <p:spPr>
          <a:xfrm>
            <a:off x="3236976" y="2889504"/>
            <a:ext cx="603504"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236976" y="2889504"/>
            <a:ext cx="60350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DeepEval</a:t>
            </a:r>
          </a:p>
        </p:txBody>
      </p:sp>
      <p:sp>
        <p:nvSpPr>
          <p:cNvPr id="28" name="Rounded Rectangle 27"/>
          <p:cNvSpPr/>
          <p:nvPr/>
        </p:nvSpPr>
        <p:spPr>
          <a:xfrm>
            <a:off x="3895344" y="2889504"/>
            <a:ext cx="603504"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895344" y="2889504"/>
            <a:ext cx="60350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DeepTeam</a:t>
            </a:r>
          </a:p>
        </p:txBody>
      </p:sp>
      <p:sp>
        <p:nvSpPr>
          <p:cNvPr id="30" name="Rounded Rectangle 29"/>
          <p:cNvSpPr/>
          <p:nvPr/>
        </p:nvSpPr>
        <p:spPr>
          <a:xfrm>
            <a:off x="4553712" y="2889504"/>
            <a:ext cx="905256"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553712" y="2889504"/>
            <a:ext cx="90525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hai-guardrails</a:t>
            </a:r>
          </a:p>
        </p:txBody>
      </p:sp>
      <p:sp>
        <p:nvSpPr>
          <p:cNvPr id="32" name="Rounded Rectangle 31"/>
          <p:cNvSpPr/>
          <p:nvPr/>
        </p:nvSpPr>
        <p:spPr>
          <a:xfrm>
            <a:off x="5513831" y="2889504"/>
            <a:ext cx="553212"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513831" y="2889504"/>
            <a:ext cx="553212"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Giskard</a:t>
            </a:r>
          </a:p>
        </p:txBody>
      </p:sp>
      <p:sp>
        <p:nvSpPr>
          <p:cNvPr id="34" name="Rounded Rectangle 33"/>
          <p:cNvSpPr/>
          <p:nvPr/>
        </p:nvSpPr>
        <p:spPr>
          <a:xfrm>
            <a:off x="6121907" y="2889504"/>
            <a:ext cx="402335"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121907" y="2889504"/>
            <a:ext cx="402335"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SHAP</a:t>
            </a:r>
          </a:p>
        </p:txBody>
      </p:sp>
      <p:sp>
        <p:nvSpPr>
          <p:cNvPr id="36" name="Rounded Rectangle 35"/>
          <p:cNvSpPr/>
          <p:nvPr/>
        </p:nvSpPr>
        <p:spPr>
          <a:xfrm>
            <a:off x="6579107" y="2889504"/>
            <a:ext cx="452628"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579107" y="2889504"/>
            <a:ext cx="452628"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PyRIT</a:t>
            </a:r>
          </a:p>
        </p:txBody>
      </p:sp>
      <p:sp>
        <p:nvSpPr>
          <p:cNvPr id="38" name="Rounded Rectangle 37"/>
          <p:cNvSpPr/>
          <p:nvPr/>
        </p:nvSpPr>
        <p:spPr>
          <a:xfrm>
            <a:off x="7086599" y="2889504"/>
            <a:ext cx="452628"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7086599" y="2889504"/>
            <a:ext cx="452628"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garak</a:t>
            </a:r>
          </a:p>
        </p:txBody>
      </p:sp>
      <p:sp>
        <p:nvSpPr>
          <p:cNvPr id="40" name="Rounded Rectangle 39"/>
          <p:cNvSpPr/>
          <p:nvPr/>
        </p:nvSpPr>
        <p:spPr>
          <a:xfrm>
            <a:off x="7594092" y="2889504"/>
            <a:ext cx="1156716" cy="256032"/>
          </a:xfrm>
          <a:prstGeom prst="roundRect">
            <a:avLst>
              <a:gd name="adj" fmla="val 50000"/>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594092" y="2889504"/>
            <a:ext cx="115671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Infosys RAI Toolkit</a:t>
            </a:r>
          </a:p>
        </p:txBody>
      </p:sp>
      <p:sp>
        <p:nvSpPr>
          <p:cNvPr id="42" name="Rounded Rectangle 41"/>
          <p:cNvSpPr/>
          <p:nvPr/>
        </p:nvSpPr>
        <p:spPr>
          <a:xfrm>
            <a:off x="502920" y="3200400"/>
            <a:ext cx="11155680" cy="1517904"/>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502920" y="3200400"/>
            <a:ext cx="64008" cy="151790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667512" y="3227832"/>
            <a:ext cx="2286000" cy="228600"/>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67512" y="3227832"/>
            <a:ext cx="2286000" cy="228600"/>
          </a:xfrm>
          <a:prstGeom prst="rect">
            <a:avLst/>
          </a:prstGeom>
          <a:noFill/>
        </p:spPr>
        <p:txBody>
          <a:bodyPr wrap="none" anchor="ctr" lIns="0" rIns="0" tIns="0" bIns="0">
            <a:spAutoFit/>
          </a:bodyPr>
          <a:lstStyle/>
          <a:p>
            <a:pPr algn="ctr">
              <a:lnSpc>
                <a:spcPct val="100000"/>
              </a:lnSpc>
            </a:pPr>
            <a:r>
              <a:rPr sz="869" b="1" i="0">
                <a:solidFill>
                  <a:srgbClr val="FFFFFF"/>
                </a:solidFill>
                <a:latin typeface="Calibri"/>
              </a:rPr>
              <a:t>AFNI RECOMMENDATION</a:t>
            </a:r>
          </a:p>
        </p:txBody>
      </p:sp>
      <p:sp>
        <p:nvSpPr>
          <p:cNvPr id="46" name="TextBox 45"/>
          <p:cNvSpPr txBox="1"/>
          <p:nvPr/>
        </p:nvSpPr>
        <p:spPr>
          <a:xfrm>
            <a:off x="3081528" y="3246120"/>
            <a:ext cx="914400" cy="182880"/>
          </a:xfrm>
          <a:prstGeom prst="rect">
            <a:avLst/>
          </a:prstGeom>
          <a:noFill/>
        </p:spPr>
        <p:txBody>
          <a:bodyPr wrap="square" anchor="t" lIns="0" rIns="0" tIns="0" bIns="0">
            <a:spAutoFit/>
          </a:bodyPr>
          <a:lstStyle/>
          <a:p>
            <a:pPr algn="l">
              <a:lnSpc>
                <a:spcPct val="100000"/>
              </a:lnSpc>
            </a:pPr>
            <a:r>
              <a:rPr sz="750" b="1" i="0">
                <a:solidFill>
                  <a:srgbClr val="5B6B7D"/>
                </a:solidFill>
                <a:latin typeface="Calibri"/>
              </a:rPr>
              <a:t>ADOPT</a:t>
            </a:r>
          </a:p>
        </p:txBody>
      </p:sp>
      <p:sp>
        <p:nvSpPr>
          <p:cNvPr id="47" name="Rounded Rectangle 46"/>
          <p:cNvSpPr/>
          <p:nvPr/>
        </p:nvSpPr>
        <p:spPr>
          <a:xfrm>
            <a:off x="3739896" y="3209544"/>
            <a:ext cx="848563"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739896" y="3209544"/>
            <a:ext cx="848563"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Fairlearn</a:t>
            </a:r>
          </a:p>
        </p:txBody>
      </p:sp>
      <p:sp>
        <p:nvSpPr>
          <p:cNvPr id="49" name="Rounded Rectangle 48"/>
          <p:cNvSpPr/>
          <p:nvPr/>
        </p:nvSpPr>
        <p:spPr>
          <a:xfrm>
            <a:off x="4670755" y="3209544"/>
            <a:ext cx="651052"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670755" y="3209544"/>
            <a:ext cx="651052"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AIF360</a:t>
            </a:r>
          </a:p>
        </p:txBody>
      </p:sp>
      <p:sp>
        <p:nvSpPr>
          <p:cNvPr id="51" name="Rounded Rectangle 50"/>
          <p:cNvSpPr/>
          <p:nvPr/>
        </p:nvSpPr>
        <p:spPr>
          <a:xfrm>
            <a:off x="5404103" y="3209544"/>
            <a:ext cx="848563"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04103" y="3209544"/>
            <a:ext cx="848563"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Promptfoo</a:t>
            </a:r>
          </a:p>
        </p:txBody>
      </p:sp>
      <p:sp>
        <p:nvSpPr>
          <p:cNvPr id="53" name="TextBox 52"/>
          <p:cNvSpPr txBox="1"/>
          <p:nvPr/>
        </p:nvSpPr>
        <p:spPr>
          <a:xfrm>
            <a:off x="685800" y="350215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ENGINE UNDER IT</a:t>
            </a:r>
          </a:p>
        </p:txBody>
      </p:sp>
      <p:sp>
        <p:nvSpPr>
          <p:cNvPr id="54" name="TextBox 53"/>
          <p:cNvSpPr txBox="1"/>
          <p:nvPr/>
        </p:nvSpPr>
        <p:spPr>
          <a:xfrm>
            <a:off x="2240280" y="3493008"/>
            <a:ext cx="9217151" cy="384048"/>
          </a:xfrm>
          <a:prstGeom prst="rect">
            <a:avLst/>
          </a:prstGeom>
          <a:noFill/>
        </p:spPr>
        <p:txBody>
          <a:bodyPr wrap="square" anchor="t" lIns="0" rIns="0" tIns="0" bIns="0">
            <a:spAutoFit/>
          </a:bodyPr>
          <a:lstStyle/>
          <a:p>
            <a:pPr algn="l">
              <a:lnSpc>
                <a:spcPct val="105000"/>
              </a:lnSpc>
            </a:pPr>
            <a:r>
              <a:rPr sz="780" b="0" i="0">
                <a:solidFill>
                  <a:srgbClr val="1A1A2E"/>
                </a:solidFill>
                <a:latin typeface="Calibri"/>
              </a:rPr>
              <a:t>Fairlearn MetricFrame plus ThresholdOptimizer/ExponentiatedGradient; AIF360's MDSS and FACTS scanners, which discover which subgroup is biased instead of requiring AFNI to name it first.</a:t>
            </a:r>
          </a:p>
        </p:txBody>
      </p:sp>
      <p:sp>
        <p:nvSpPr>
          <p:cNvPr id="55" name="TextBox 54"/>
          <p:cNvSpPr txBox="1"/>
          <p:nvPr/>
        </p:nvSpPr>
        <p:spPr>
          <a:xfrm>
            <a:off x="685800" y="391363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CLOUD SECOND OPINION</a:t>
            </a:r>
          </a:p>
        </p:txBody>
      </p:sp>
      <p:sp>
        <p:nvSpPr>
          <p:cNvPr id="56" name="TextBox 55"/>
          <p:cNvSpPr txBox="1"/>
          <p:nvPr/>
        </p:nvSpPr>
        <p:spPr>
          <a:xfrm>
            <a:off x="2240280" y="3904488"/>
            <a:ext cx="9217151" cy="384048"/>
          </a:xfrm>
          <a:prstGeom prst="rect">
            <a:avLst/>
          </a:prstGeom>
          <a:noFill/>
        </p:spPr>
        <p:txBody>
          <a:bodyPr wrap="square" anchor="t" lIns="0" rIns="0" tIns="0" bIns="0">
            <a:spAutoFit/>
          </a:bodyPr>
          <a:lstStyle/>
          <a:p>
            <a:pPr algn="l">
              <a:lnSpc>
                <a:spcPct val="105000"/>
              </a:lnSpc>
            </a:pPr>
            <a:r>
              <a:rPr sz="780" b="0" i="0">
                <a:solidFill>
                  <a:srgbClr val="1A1A2E"/>
                </a:solidFill>
                <a:latin typeface="Calibri"/>
              </a:rPr>
              <a:t>Azure ML Responsible AI dashboard - built on Fairlearn itself, so a managed client-facing view at no extra licence. Fiddler or Arthur only if always-on drift alerting is needed.</a:t>
            </a:r>
          </a:p>
        </p:txBody>
      </p:sp>
      <p:sp>
        <p:nvSpPr>
          <p:cNvPr id="57" name="TextBox 56"/>
          <p:cNvSpPr txBox="1"/>
          <p:nvPr/>
        </p:nvSpPr>
        <p:spPr>
          <a:xfrm>
            <a:off x="685800" y="432511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WHERE IT RUNS</a:t>
            </a:r>
          </a:p>
        </p:txBody>
      </p:sp>
      <p:sp>
        <p:nvSpPr>
          <p:cNvPr id="58" name="TextBox 57"/>
          <p:cNvSpPr txBox="1"/>
          <p:nvPr/>
        </p:nvSpPr>
        <p:spPr>
          <a:xfrm>
            <a:off x="2240280" y="4315968"/>
            <a:ext cx="9217151" cy="274320"/>
          </a:xfrm>
          <a:prstGeom prst="rect">
            <a:avLst/>
          </a:prstGeom>
          <a:noFill/>
        </p:spPr>
        <p:txBody>
          <a:bodyPr wrap="square" anchor="t" lIns="0" rIns="0" tIns="0" bIns="0">
            <a:spAutoFit/>
          </a:bodyPr>
          <a:lstStyle/>
          <a:p>
            <a:pPr algn="l">
              <a:lnSpc>
                <a:spcPct val="105000"/>
              </a:lnSpc>
            </a:pPr>
            <a:r>
              <a:rPr sz="780" b="1" i="0">
                <a:solidFill>
                  <a:srgbClr val="10243E"/>
                </a:solidFill>
                <a:latin typeface="Calibri"/>
              </a:rPr>
              <a:t>Batch only. 11 of the 13 tools reviewed for this tenet cannot run inline at all - bias is a pattern, not an event, so this is never a live per-response check.</a:t>
            </a:r>
          </a:p>
        </p:txBody>
      </p:sp>
      <p:sp>
        <p:nvSpPr>
          <p:cNvPr id="59" name="Rounded Rectangle 58"/>
          <p:cNvSpPr/>
          <p:nvPr/>
        </p:nvSpPr>
        <p:spPr>
          <a:xfrm>
            <a:off x="502920" y="4800600"/>
            <a:ext cx="11155680" cy="475488"/>
          </a:xfrm>
          <a:prstGeom prst="roundRect">
            <a:avLst>
              <a:gd name="adj" fmla="val 4000"/>
            </a:avLst>
          </a:prstGeom>
          <a:solidFill>
            <a:srgbClr val="FDF6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67512" y="4828032"/>
            <a:ext cx="1737360" cy="182880"/>
          </a:xfrm>
          <a:prstGeom prst="rect">
            <a:avLst/>
          </a:prstGeom>
          <a:noFill/>
        </p:spPr>
        <p:txBody>
          <a:bodyPr wrap="square" anchor="t" lIns="0" rIns="0" tIns="0" bIns="0">
            <a:spAutoFit/>
          </a:bodyPr>
          <a:lstStyle/>
          <a:p>
            <a:pPr algn="l">
              <a:lnSpc>
                <a:spcPct val="100000"/>
              </a:lnSpc>
            </a:pPr>
            <a:r>
              <a:rPr sz="700" b="1" i="0">
                <a:solidFill>
                  <a:srgbClr val="E88C00"/>
                </a:solidFill>
                <a:latin typeface="Calibri"/>
              </a:rPr>
              <a:t>RECONCILED</a:t>
            </a:r>
          </a:p>
        </p:txBody>
      </p:sp>
      <p:sp>
        <p:nvSpPr>
          <p:cNvPr id="61" name="TextBox 60"/>
          <p:cNvSpPr txBox="1"/>
          <p:nvPr/>
        </p:nvSpPr>
        <p:spPr>
          <a:xfrm>
            <a:off x="2240280" y="4818888"/>
            <a:ext cx="9217151" cy="429768"/>
          </a:xfrm>
          <a:prstGeom prst="rect">
            <a:avLst/>
          </a:prstGeom>
          <a:noFill/>
        </p:spPr>
        <p:txBody>
          <a:bodyPr wrap="square" anchor="t" lIns="0" rIns="0" tIns="0" bIns="0">
            <a:spAutoFit/>
          </a:bodyPr>
          <a:lstStyle/>
          <a:p>
            <a:pPr algn="l">
              <a:lnSpc>
                <a:spcPct val="105000"/>
              </a:lnSpc>
            </a:pPr>
            <a:r>
              <a:rPr sz="760" b="0" i="0">
                <a:solidFill>
                  <a:srgbClr val="1A1A2E"/>
                </a:solidFill>
                <a:latin typeface="Calibri"/>
              </a:rPr>
              <a:t>Both earlier slides agreed. Every metric here needs a labelled ground truth and a declared protected attribute, which is what makes it structurally offline.</a:t>
            </a:r>
          </a:p>
        </p:txBody>
      </p:sp>
      <p:sp>
        <p:nvSpPr>
          <p:cNvPr id="62" name="Rounded Rectangle 61"/>
          <p:cNvSpPr/>
          <p:nvPr/>
        </p:nvSpPr>
        <p:spPr>
          <a:xfrm>
            <a:off x="502920" y="5358384"/>
            <a:ext cx="11155680" cy="420624"/>
          </a:xfrm>
          <a:prstGeom prst="roundRect">
            <a:avLst>
              <a:gd name="adj" fmla="val 10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731520" y="5358384"/>
            <a:ext cx="10698480" cy="420624"/>
          </a:xfrm>
          <a:prstGeom prst="rect">
            <a:avLst/>
          </a:prstGeom>
          <a:noFill/>
        </p:spPr>
        <p:txBody>
          <a:bodyPr wrap="square" anchor="ctr" lIns="0" rIns="0" tIns="0" bIns="0">
            <a:spAutoFit/>
          </a:bodyPr>
          <a:lstStyle/>
          <a:p>
            <a:pPr algn="ctr">
              <a:lnSpc>
                <a:spcPct val="105000"/>
              </a:lnSpc>
            </a:pPr>
            <a:r>
              <a:rPr sz="900" b="1" i="1">
                <a:solidFill>
                  <a:srgbClr val="FFFFFF"/>
                </a:solidFill>
                <a:latin typeface="Calibri"/>
              </a:rPr>
              <a:t>Measure before you mitigate: every fairness metric needs a labelled ground truth and a defined protected group - there is no automatic detector for “unfair” without one.</a:t>
            </a:r>
          </a:p>
        </p:txBody>
      </p:sp>
      <p:sp>
        <p:nvSpPr>
          <p:cNvPr id="64" name="Rectangle 63"/>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66" name="TextBox 65"/>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Tenet - Fairness &amp; Bias</a:t>
            </a:r>
          </a:p>
        </p:txBody>
      </p:sp>
      <p:sp>
        <p:nvSpPr>
          <p:cNvPr id="67" name="TextBox 66"/>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08E45"/>
                </a:solidFill>
                <a:latin typeface="Calibri"/>
              </a:rPr>
              <a:t>TENET 4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Explainability &amp; Transparency</a:t>
            </a:r>
          </a:p>
        </p:txBody>
      </p:sp>
      <p:sp>
        <p:nvSpPr>
          <p:cNvPr id="6" name="Rectangle 5"/>
          <p:cNvSpPr/>
          <p:nvPr/>
        </p:nvSpPr>
        <p:spPr>
          <a:xfrm>
            <a:off x="502920" y="1207008"/>
            <a:ext cx="2011680" cy="32004"/>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80160"/>
            <a:ext cx="64008" cy="131673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7512" y="1289304"/>
            <a:ext cx="1481328" cy="219456"/>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89304"/>
            <a:ext cx="1481328" cy="219456"/>
          </a:xfrm>
          <a:prstGeom prst="rect">
            <a:avLst/>
          </a:prstGeom>
          <a:noFill/>
        </p:spPr>
        <p:txBody>
          <a:bodyPr wrap="none" anchor="ctr" lIns="0" rIns="0" tIns="0" bIns="0">
            <a:spAutoFit/>
          </a:bodyPr>
          <a:lstStyle/>
          <a:p>
            <a:pPr algn="ctr">
              <a:lnSpc>
                <a:spcPct val="100000"/>
              </a:lnSpc>
            </a:pPr>
            <a:r>
              <a:rPr sz="850" b="1" i="0">
                <a:solidFill>
                  <a:srgbClr val="FFFFFF"/>
                </a:solidFill>
                <a:latin typeface="Calibri"/>
              </a:rPr>
              <a:t>OPEN-SOURCE</a:t>
            </a:r>
          </a:p>
        </p:txBody>
      </p:sp>
      <p:sp>
        <p:nvSpPr>
          <p:cNvPr id="10" name="TextBox 9"/>
          <p:cNvSpPr txBox="1"/>
          <p:nvPr/>
        </p:nvSpPr>
        <p:spPr>
          <a:xfrm>
            <a:off x="667512" y="1536192"/>
            <a:ext cx="5193792" cy="219456"/>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SHAP (MIT)</a:t>
            </a:r>
          </a:p>
        </p:txBody>
      </p:sp>
      <p:sp>
        <p:nvSpPr>
          <p:cNvPr id="11" name="TextBox 10"/>
          <p:cNvSpPr txBox="1"/>
          <p:nvPr/>
        </p:nvSpPr>
        <p:spPr>
          <a:xfrm>
            <a:off x="667512" y="1764792"/>
            <a:ext cx="5193792" cy="804671"/>
          </a:xfrm>
          <a:prstGeom prst="rect">
            <a:avLst/>
          </a:prstGeom>
          <a:noFill/>
        </p:spPr>
        <p:txBody>
          <a:bodyPr wrap="square" anchor="t" lIns="0" rIns="0" tIns="0" bIns="0">
            <a:spAutoFit/>
          </a:bodyPr>
          <a:lstStyle/>
          <a:p>
            <a:pPr algn="l">
              <a:lnSpc>
                <a:spcPct val="108000"/>
              </a:lnSpc>
            </a:pPr>
            <a:r>
              <a:rPr sz="819" b="0" i="0">
                <a:solidFill>
                  <a:srgbClr val="1A1A2E"/>
                </a:solidFill>
                <a:latin typeface="Calibri"/>
              </a:rPr>
              <a:t>The tool Kiran asked about by name. Twelve Shapley-value estimation algorithms sit behind one auto-dispatching API - exact for tree and linear models, approximate elsewhere - and it is Nature-published, industry-standard, with its own benchmark for judging whether an explanation is trustworthy at all. DeepEval's G-Eval/DAG add a second, LLM-native layer: versioned, CI-runnable rubrics instead of an ad hoc prompt-based explainer.</a:t>
            </a:r>
          </a:p>
        </p:txBody>
      </p:sp>
      <p:sp>
        <p:nvSpPr>
          <p:cNvPr id="12" name="Rectangle 11"/>
          <p:cNvSpPr/>
          <p:nvPr/>
        </p:nvSpPr>
        <p:spPr>
          <a:xfrm>
            <a:off x="6245352" y="1280160"/>
            <a:ext cx="64008" cy="1316736"/>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9944" y="1289304"/>
            <a:ext cx="1481328" cy="219456"/>
          </a:xfrm>
          <a:prstGeom prst="roundRect">
            <a:avLst>
              <a:gd name="adj" fmla="val 2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1289304"/>
            <a:ext cx="1481328" cy="219456"/>
          </a:xfrm>
          <a:prstGeom prst="rect">
            <a:avLst/>
          </a:prstGeom>
          <a:noFill/>
        </p:spPr>
        <p:txBody>
          <a:bodyPr wrap="none" anchor="ctr" lIns="0" rIns="0" tIns="0" bIns="0">
            <a:spAutoFit/>
          </a:bodyPr>
          <a:lstStyle/>
          <a:p>
            <a:pPr algn="ctr">
              <a:lnSpc>
                <a:spcPct val="100000"/>
              </a:lnSpc>
            </a:pPr>
            <a:r>
              <a:rPr sz="850" b="1" i="0">
                <a:solidFill>
                  <a:srgbClr val="FFFFFF"/>
                </a:solidFill>
                <a:latin typeface="Calibri"/>
              </a:rPr>
              <a:t>CLOUD &amp; PAID</a:t>
            </a:r>
          </a:p>
        </p:txBody>
      </p:sp>
      <p:sp>
        <p:nvSpPr>
          <p:cNvPr id="15" name="TextBox 14"/>
          <p:cNvSpPr txBox="1"/>
          <p:nvPr/>
        </p:nvSpPr>
        <p:spPr>
          <a:xfrm>
            <a:off x="6409944" y="1536192"/>
            <a:ext cx="5193792" cy="219456"/>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Azure ML Responsible AI dashboard + IBM AIX360 / InterpretML</a:t>
            </a:r>
          </a:p>
        </p:txBody>
      </p:sp>
      <p:sp>
        <p:nvSpPr>
          <p:cNvPr id="16" name="TextBox 15"/>
          <p:cNvSpPr txBox="1"/>
          <p:nvPr/>
        </p:nvSpPr>
        <p:spPr>
          <a:xfrm>
            <a:off x="6409944" y="1764792"/>
            <a:ext cx="5193792" cy="804671"/>
          </a:xfrm>
          <a:prstGeom prst="rect">
            <a:avLst/>
          </a:prstGeom>
          <a:noFill/>
        </p:spPr>
        <p:txBody>
          <a:bodyPr wrap="square" anchor="t" lIns="0" rIns="0" tIns="0" bIns="0">
            <a:spAutoFit/>
          </a:bodyPr>
          <a:lstStyle/>
          <a:p>
            <a:pPr algn="l">
              <a:lnSpc>
                <a:spcPct val="108000"/>
              </a:lnSpc>
            </a:pPr>
            <a:r>
              <a:rPr sz="819" b="0" i="0">
                <a:solidFill>
                  <a:srgbClr val="1A1A2E"/>
                </a:solidFill>
                <a:latin typeface="Calibri"/>
              </a:rPr>
              <a:t>Azure's RAI dashboard surfaces SHAP-based explanations in a client-facing UI at no extra licensing cost. IBM AIX360 and Microsoft InterpretML add other explanation families - counterfactual and rule-based - for when feature attribution alone doesn't answer the question being asked.</a:t>
            </a:r>
          </a:p>
        </p:txBody>
      </p:sp>
      <p:sp>
        <p:nvSpPr>
          <p:cNvPr id="17" name="TextBox 16"/>
          <p:cNvSpPr txBox="1"/>
          <p:nvPr/>
        </p:nvSpPr>
        <p:spPr>
          <a:xfrm>
            <a:off x="502920" y="2688336"/>
            <a:ext cx="3840480" cy="182880"/>
          </a:xfrm>
          <a:prstGeom prst="rect">
            <a:avLst/>
          </a:prstGeom>
          <a:noFill/>
        </p:spPr>
        <p:txBody>
          <a:bodyPr wrap="square" anchor="t" lIns="0" rIns="0" tIns="0" bIns="0">
            <a:spAutoFit/>
          </a:bodyPr>
          <a:lstStyle/>
          <a:p>
            <a:pPr algn="l">
              <a:lnSpc>
                <a:spcPct val="100000"/>
              </a:lnSpc>
            </a:pPr>
            <a:r>
              <a:rPr sz="800" b="1" i="0">
                <a:solidFill>
                  <a:srgbClr val="5B6B7D"/>
                </a:solidFill>
                <a:latin typeface="Calibri"/>
              </a:rPr>
              <a:t>ALL OPTIONS FOUND (of the 23 reviewed)</a:t>
            </a:r>
          </a:p>
        </p:txBody>
      </p:sp>
      <p:sp>
        <p:nvSpPr>
          <p:cNvPr id="18" name="Rounded Rectangle 17"/>
          <p:cNvSpPr/>
          <p:nvPr/>
        </p:nvSpPr>
        <p:spPr>
          <a:xfrm>
            <a:off x="502920" y="2889504"/>
            <a:ext cx="402335"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889504"/>
            <a:ext cx="402335"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SHAP</a:t>
            </a:r>
          </a:p>
        </p:txBody>
      </p:sp>
      <p:sp>
        <p:nvSpPr>
          <p:cNvPr id="20" name="Rounded Rectangle 19"/>
          <p:cNvSpPr/>
          <p:nvPr/>
        </p:nvSpPr>
        <p:spPr>
          <a:xfrm>
            <a:off x="960120" y="2889504"/>
            <a:ext cx="1156716"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2889504"/>
            <a:ext cx="115671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Infosys RAI Toolkit</a:t>
            </a:r>
          </a:p>
        </p:txBody>
      </p:sp>
      <p:sp>
        <p:nvSpPr>
          <p:cNvPr id="22" name="Rounded Rectangle 21"/>
          <p:cNvSpPr/>
          <p:nvPr/>
        </p:nvSpPr>
        <p:spPr>
          <a:xfrm>
            <a:off x="2171700" y="2889504"/>
            <a:ext cx="502920"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171700" y="2889504"/>
            <a:ext cx="502920"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AIF360</a:t>
            </a:r>
          </a:p>
        </p:txBody>
      </p:sp>
      <p:sp>
        <p:nvSpPr>
          <p:cNvPr id="24" name="Rounded Rectangle 23"/>
          <p:cNvSpPr/>
          <p:nvPr/>
        </p:nvSpPr>
        <p:spPr>
          <a:xfrm>
            <a:off x="2729484" y="2889504"/>
            <a:ext cx="854964"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29484" y="2889504"/>
            <a:ext cx="85496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Guardrails AI</a:t>
            </a:r>
          </a:p>
        </p:txBody>
      </p:sp>
      <p:sp>
        <p:nvSpPr>
          <p:cNvPr id="26" name="Rounded Rectangle 25"/>
          <p:cNvSpPr/>
          <p:nvPr/>
        </p:nvSpPr>
        <p:spPr>
          <a:xfrm>
            <a:off x="3639312" y="2889504"/>
            <a:ext cx="603504"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39312" y="2889504"/>
            <a:ext cx="60350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DeepEval</a:t>
            </a:r>
          </a:p>
        </p:txBody>
      </p:sp>
      <p:sp>
        <p:nvSpPr>
          <p:cNvPr id="28" name="Rounded Rectangle 27"/>
          <p:cNvSpPr/>
          <p:nvPr/>
        </p:nvSpPr>
        <p:spPr>
          <a:xfrm>
            <a:off x="4297680" y="2889504"/>
            <a:ext cx="653796"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7680" y="2889504"/>
            <a:ext cx="65379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Promptfoo</a:t>
            </a:r>
          </a:p>
        </p:txBody>
      </p:sp>
      <p:sp>
        <p:nvSpPr>
          <p:cNvPr id="30" name="Rounded Rectangle 29"/>
          <p:cNvSpPr/>
          <p:nvPr/>
        </p:nvSpPr>
        <p:spPr>
          <a:xfrm>
            <a:off x="5006340" y="2889504"/>
            <a:ext cx="553212"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006340" y="2889504"/>
            <a:ext cx="553212"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Giskard</a:t>
            </a:r>
          </a:p>
        </p:txBody>
      </p:sp>
      <p:sp>
        <p:nvSpPr>
          <p:cNvPr id="32" name="Rounded Rectangle 31"/>
          <p:cNvSpPr/>
          <p:nvPr/>
        </p:nvSpPr>
        <p:spPr>
          <a:xfrm>
            <a:off x="5614416" y="2889504"/>
            <a:ext cx="905256"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14416" y="2889504"/>
            <a:ext cx="90525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OpenGuardrails</a:t>
            </a:r>
          </a:p>
        </p:txBody>
      </p:sp>
      <p:sp>
        <p:nvSpPr>
          <p:cNvPr id="34" name="Rounded Rectangle 33"/>
          <p:cNvSpPr/>
          <p:nvPr/>
        </p:nvSpPr>
        <p:spPr>
          <a:xfrm>
            <a:off x="6574536" y="2889504"/>
            <a:ext cx="955547"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574536" y="2889504"/>
            <a:ext cx="955547"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Safe Zone (TSZ)</a:t>
            </a:r>
          </a:p>
        </p:txBody>
      </p:sp>
      <p:sp>
        <p:nvSpPr>
          <p:cNvPr id="36" name="Rounded Rectangle 35"/>
          <p:cNvSpPr/>
          <p:nvPr/>
        </p:nvSpPr>
        <p:spPr>
          <a:xfrm>
            <a:off x="7584948" y="2889504"/>
            <a:ext cx="653796"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584948" y="2889504"/>
            <a:ext cx="65379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LLM Guard</a:t>
            </a:r>
          </a:p>
        </p:txBody>
      </p:sp>
      <p:sp>
        <p:nvSpPr>
          <p:cNvPr id="38" name="Rounded Rectangle 37"/>
          <p:cNvSpPr/>
          <p:nvPr/>
        </p:nvSpPr>
        <p:spPr>
          <a:xfrm>
            <a:off x="8293608" y="2889504"/>
            <a:ext cx="704088" cy="256032"/>
          </a:xfrm>
          <a:prstGeom prst="roundRect">
            <a:avLst>
              <a:gd name="adj" fmla="val 50000"/>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93608" y="2889504"/>
            <a:ext cx="704088"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Deepchecks</a:t>
            </a:r>
          </a:p>
        </p:txBody>
      </p:sp>
      <p:sp>
        <p:nvSpPr>
          <p:cNvPr id="40" name="Rounded Rectangle 39"/>
          <p:cNvSpPr/>
          <p:nvPr/>
        </p:nvSpPr>
        <p:spPr>
          <a:xfrm>
            <a:off x="502920" y="3200400"/>
            <a:ext cx="11155680" cy="1517904"/>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502920" y="3200400"/>
            <a:ext cx="64008" cy="151790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667512" y="3227832"/>
            <a:ext cx="2286000" cy="228600"/>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67512" y="3227832"/>
            <a:ext cx="2286000" cy="228600"/>
          </a:xfrm>
          <a:prstGeom prst="rect">
            <a:avLst/>
          </a:prstGeom>
          <a:noFill/>
        </p:spPr>
        <p:txBody>
          <a:bodyPr wrap="none" anchor="ctr" lIns="0" rIns="0" tIns="0" bIns="0">
            <a:spAutoFit/>
          </a:bodyPr>
          <a:lstStyle/>
          <a:p>
            <a:pPr algn="ctr">
              <a:lnSpc>
                <a:spcPct val="100000"/>
              </a:lnSpc>
            </a:pPr>
            <a:r>
              <a:rPr sz="869" b="1" i="0">
                <a:solidFill>
                  <a:srgbClr val="FFFFFF"/>
                </a:solidFill>
                <a:latin typeface="Calibri"/>
              </a:rPr>
              <a:t>AFNI RECOMMENDATION</a:t>
            </a:r>
          </a:p>
        </p:txBody>
      </p:sp>
      <p:sp>
        <p:nvSpPr>
          <p:cNvPr id="44" name="TextBox 43"/>
          <p:cNvSpPr txBox="1"/>
          <p:nvPr/>
        </p:nvSpPr>
        <p:spPr>
          <a:xfrm>
            <a:off x="3081528" y="3246120"/>
            <a:ext cx="914400" cy="182880"/>
          </a:xfrm>
          <a:prstGeom prst="rect">
            <a:avLst/>
          </a:prstGeom>
          <a:noFill/>
        </p:spPr>
        <p:txBody>
          <a:bodyPr wrap="square" anchor="t" lIns="0" rIns="0" tIns="0" bIns="0">
            <a:spAutoFit/>
          </a:bodyPr>
          <a:lstStyle/>
          <a:p>
            <a:pPr algn="l">
              <a:lnSpc>
                <a:spcPct val="100000"/>
              </a:lnSpc>
            </a:pPr>
            <a:r>
              <a:rPr sz="750" b="1" i="0">
                <a:solidFill>
                  <a:srgbClr val="5B6B7D"/>
                </a:solidFill>
                <a:latin typeface="Calibri"/>
              </a:rPr>
              <a:t>ADOPT</a:t>
            </a:r>
          </a:p>
        </p:txBody>
      </p:sp>
      <p:sp>
        <p:nvSpPr>
          <p:cNvPr id="45" name="Rounded Rectangle 44"/>
          <p:cNvSpPr/>
          <p:nvPr/>
        </p:nvSpPr>
        <p:spPr>
          <a:xfrm>
            <a:off x="3739896" y="3209544"/>
            <a:ext cx="519379"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739896" y="3209544"/>
            <a:ext cx="519379"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SHAP</a:t>
            </a:r>
          </a:p>
        </p:txBody>
      </p:sp>
      <p:sp>
        <p:nvSpPr>
          <p:cNvPr id="47" name="Rounded Rectangle 46"/>
          <p:cNvSpPr/>
          <p:nvPr/>
        </p:nvSpPr>
        <p:spPr>
          <a:xfrm>
            <a:off x="4341571" y="3209544"/>
            <a:ext cx="782726"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341571" y="3209544"/>
            <a:ext cx="782726"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DeepEval</a:t>
            </a:r>
          </a:p>
        </p:txBody>
      </p:sp>
      <p:sp>
        <p:nvSpPr>
          <p:cNvPr id="49" name="TextBox 48"/>
          <p:cNvSpPr txBox="1"/>
          <p:nvPr/>
        </p:nvSpPr>
        <p:spPr>
          <a:xfrm>
            <a:off x="685800" y="350215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ENGINE UNDER IT</a:t>
            </a:r>
          </a:p>
        </p:txBody>
      </p:sp>
      <p:sp>
        <p:nvSpPr>
          <p:cNvPr id="50" name="TextBox 49"/>
          <p:cNvSpPr txBox="1"/>
          <p:nvPr/>
        </p:nvSpPr>
        <p:spPr>
          <a:xfrm>
            <a:off x="2240280" y="3493008"/>
            <a:ext cx="9217151" cy="384048"/>
          </a:xfrm>
          <a:prstGeom prst="rect">
            <a:avLst/>
          </a:prstGeom>
          <a:noFill/>
        </p:spPr>
        <p:txBody>
          <a:bodyPr wrap="square" anchor="t" lIns="0" rIns="0" tIns="0" bIns="0">
            <a:spAutoFit/>
          </a:bodyPr>
          <a:lstStyle/>
          <a:p>
            <a:pPr algn="l">
              <a:lnSpc>
                <a:spcPct val="105000"/>
              </a:lnSpc>
            </a:pPr>
            <a:r>
              <a:rPr sz="780" b="0" i="0">
                <a:solidFill>
                  <a:srgbClr val="1A1A2E"/>
                </a:solidFill>
                <a:latin typeface="Calibri"/>
              </a:rPr>
              <a:t>SHAP's auto-dispatching Explainer - exact for tree and linear models, approximate (Kernel/Deep) elsewhere; DeepEval's G-Eval and DAG rubrics, versioned and CI-runnable instead of an ad-hoc judge prompt.</a:t>
            </a:r>
          </a:p>
        </p:txBody>
      </p:sp>
      <p:sp>
        <p:nvSpPr>
          <p:cNvPr id="51" name="TextBox 50"/>
          <p:cNvSpPr txBox="1"/>
          <p:nvPr/>
        </p:nvSpPr>
        <p:spPr>
          <a:xfrm>
            <a:off x="685800" y="391363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CLOUD SECOND OPINION</a:t>
            </a:r>
          </a:p>
        </p:txBody>
      </p:sp>
      <p:sp>
        <p:nvSpPr>
          <p:cNvPr id="52" name="TextBox 51"/>
          <p:cNvSpPr txBox="1"/>
          <p:nvPr/>
        </p:nvSpPr>
        <p:spPr>
          <a:xfrm>
            <a:off x="2240280" y="3904488"/>
            <a:ext cx="9217151" cy="384048"/>
          </a:xfrm>
          <a:prstGeom prst="rect">
            <a:avLst/>
          </a:prstGeom>
          <a:noFill/>
        </p:spPr>
        <p:txBody>
          <a:bodyPr wrap="square" anchor="t" lIns="0" rIns="0" tIns="0" bIns="0">
            <a:spAutoFit/>
          </a:bodyPr>
          <a:lstStyle/>
          <a:p>
            <a:pPr algn="l">
              <a:lnSpc>
                <a:spcPct val="105000"/>
              </a:lnSpc>
            </a:pPr>
            <a:r>
              <a:rPr sz="780" b="0" i="0">
                <a:solidFill>
                  <a:srgbClr val="1A1A2E"/>
                </a:solidFill>
                <a:latin typeface="Calibri"/>
              </a:rPr>
              <a:t>Azure ML RAI dashboard surfaces SHAP client-facing at no extra licence cost; IBM AIX360 and InterpretML add counterfactual and rule-based families.</a:t>
            </a:r>
          </a:p>
        </p:txBody>
      </p:sp>
      <p:sp>
        <p:nvSpPr>
          <p:cNvPr id="53" name="TextBox 52"/>
          <p:cNvSpPr txBox="1"/>
          <p:nvPr/>
        </p:nvSpPr>
        <p:spPr>
          <a:xfrm>
            <a:off x="685800" y="432511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WHERE IT RUNS</a:t>
            </a:r>
          </a:p>
        </p:txBody>
      </p:sp>
      <p:sp>
        <p:nvSpPr>
          <p:cNvPr id="54" name="TextBox 53"/>
          <p:cNvSpPr txBox="1"/>
          <p:nvPr/>
        </p:nvSpPr>
        <p:spPr>
          <a:xfrm>
            <a:off x="2240280" y="4315968"/>
            <a:ext cx="9217151" cy="274320"/>
          </a:xfrm>
          <a:prstGeom prst="rect">
            <a:avLst/>
          </a:prstGeom>
          <a:noFill/>
        </p:spPr>
        <p:txBody>
          <a:bodyPr wrap="square" anchor="t" lIns="0" rIns="0" tIns="0" bIns="0">
            <a:spAutoFit/>
          </a:bodyPr>
          <a:lstStyle/>
          <a:p>
            <a:pPr algn="l">
              <a:lnSpc>
                <a:spcPct val="105000"/>
              </a:lnSpc>
            </a:pPr>
            <a:r>
              <a:rPr sz="780" b="1" i="0">
                <a:solidFill>
                  <a:srgbClr val="10243E"/>
                </a:solidFill>
                <a:latin typeface="Calibri"/>
              </a:rPr>
              <a:t>Async explain endpoint, never synchronous - SHAP's Kernel cost scales samples × features. DeepEval rubrics run in CI.</a:t>
            </a:r>
          </a:p>
        </p:txBody>
      </p:sp>
      <p:sp>
        <p:nvSpPr>
          <p:cNvPr id="55" name="Rounded Rectangle 54"/>
          <p:cNvSpPr/>
          <p:nvPr/>
        </p:nvSpPr>
        <p:spPr>
          <a:xfrm>
            <a:off x="502920" y="4800600"/>
            <a:ext cx="11155680" cy="475488"/>
          </a:xfrm>
          <a:prstGeom prst="roundRect">
            <a:avLst>
              <a:gd name="adj" fmla="val 4000"/>
            </a:avLst>
          </a:prstGeom>
          <a:solidFill>
            <a:srgbClr val="FDF6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667512" y="4828032"/>
            <a:ext cx="1737360" cy="182880"/>
          </a:xfrm>
          <a:prstGeom prst="rect">
            <a:avLst/>
          </a:prstGeom>
          <a:noFill/>
        </p:spPr>
        <p:txBody>
          <a:bodyPr wrap="square" anchor="t" lIns="0" rIns="0" tIns="0" bIns="0">
            <a:spAutoFit/>
          </a:bodyPr>
          <a:lstStyle/>
          <a:p>
            <a:pPr algn="l">
              <a:lnSpc>
                <a:spcPct val="100000"/>
              </a:lnSpc>
            </a:pPr>
            <a:r>
              <a:rPr sz="700" b="1" i="0">
                <a:solidFill>
                  <a:srgbClr val="E88C00"/>
                </a:solidFill>
                <a:latin typeface="Calibri"/>
              </a:rPr>
              <a:t>RECONCILED</a:t>
            </a:r>
          </a:p>
        </p:txBody>
      </p:sp>
      <p:sp>
        <p:nvSpPr>
          <p:cNvPr id="57" name="TextBox 56"/>
          <p:cNvSpPr txBox="1"/>
          <p:nvPr/>
        </p:nvSpPr>
        <p:spPr>
          <a:xfrm>
            <a:off x="2240280" y="4818888"/>
            <a:ext cx="9217151" cy="429768"/>
          </a:xfrm>
          <a:prstGeom prst="rect">
            <a:avLst/>
          </a:prstGeom>
          <a:noFill/>
        </p:spPr>
        <p:txBody>
          <a:bodyPr wrap="square" anchor="t" lIns="0" rIns="0" tIns="0" bIns="0">
            <a:spAutoFit/>
          </a:bodyPr>
          <a:lstStyle/>
          <a:p>
            <a:pPr algn="l">
              <a:lnSpc>
                <a:spcPct val="105000"/>
              </a:lnSpc>
            </a:pPr>
            <a:r>
              <a:rPr sz="760" b="0" i="0">
                <a:solidFill>
                  <a:srgbClr val="1A1A2E"/>
                </a:solidFill>
                <a:latin typeface="Calibri"/>
              </a:rPr>
              <a:t>Both earlier slides agreed. Three different questions need three different tools: SHAP explains the model, the Verdict schema explains the guardrail, a rubric explains a policy call.</a:t>
            </a:r>
          </a:p>
        </p:txBody>
      </p:sp>
      <p:sp>
        <p:nvSpPr>
          <p:cNvPr id="58" name="Rounded Rectangle 57"/>
          <p:cNvSpPr/>
          <p:nvPr/>
        </p:nvSpPr>
        <p:spPr>
          <a:xfrm>
            <a:off x="502920" y="5358384"/>
            <a:ext cx="11155680" cy="420624"/>
          </a:xfrm>
          <a:prstGeom prst="roundRect">
            <a:avLst>
              <a:gd name="adj" fmla="val 10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731520" y="5358384"/>
            <a:ext cx="10698480" cy="420624"/>
          </a:xfrm>
          <a:prstGeom prst="rect">
            <a:avLst/>
          </a:prstGeom>
          <a:noFill/>
        </p:spPr>
        <p:txBody>
          <a:bodyPr wrap="square" anchor="ctr" lIns="0" rIns="0" tIns="0" bIns="0">
            <a:spAutoFit/>
          </a:bodyPr>
          <a:lstStyle/>
          <a:p>
            <a:pPr algn="ctr">
              <a:lnSpc>
                <a:spcPct val="105000"/>
              </a:lnSpc>
            </a:pPr>
            <a:r>
              <a:rPr sz="900" b="1" i="1">
                <a:solidFill>
                  <a:srgbClr val="FFFFFF"/>
                </a:solidFill>
                <a:latin typeface="Calibri"/>
              </a:rPr>
              <a:t>Explain the model with SHAP, explain the guardrail with a structured verdict, explain a policy judgment with a versioned rubric - three different questions, three different tools.</a:t>
            </a:r>
          </a:p>
        </p:txBody>
      </p:sp>
      <p:sp>
        <p:nvSpPr>
          <p:cNvPr id="60" name="Rectangle 5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62" name="TextBox 6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Tenet - Explainability &amp; Transparency</a:t>
            </a:r>
          </a:p>
        </p:txBody>
      </p:sp>
      <p:sp>
        <p:nvSpPr>
          <p:cNvPr id="63" name="TextBox 6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42</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76F51"/>
                </a:solidFill>
                <a:latin typeface="Calibri"/>
              </a:rPr>
              <a:t>TENET 5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Content Safety &amp; Profanity</a:t>
            </a:r>
          </a:p>
        </p:txBody>
      </p:sp>
      <p:sp>
        <p:nvSpPr>
          <p:cNvPr id="6" name="Rectangle 5"/>
          <p:cNvSpPr/>
          <p:nvPr/>
        </p:nvSpPr>
        <p:spPr>
          <a:xfrm>
            <a:off x="502920" y="1207008"/>
            <a:ext cx="2011680" cy="3200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80160"/>
            <a:ext cx="64008" cy="131673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7512" y="1289304"/>
            <a:ext cx="1481328" cy="219456"/>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89304"/>
            <a:ext cx="1481328" cy="219456"/>
          </a:xfrm>
          <a:prstGeom prst="rect">
            <a:avLst/>
          </a:prstGeom>
          <a:noFill/>
        </p:spPr>
        <p:txBody>
          <a:bodyPr wrap="none" anchor="ctr" lIns="0" rIns="0" tIns="0" bIns="0">
            <a:spAutoFit/>
          </a:bodyPr>
          <a:lstStyle/>
          <a:p>
            <a:pPr algn="ctr">
              <a:lnSpc>
                <a:spcPct val="100000"/>
              </a:lnSpc>
            </a:pPr>
            <a:r>
              <a:rPr sz="850" b="1" i="0">
                <a:solidFill>
                  <a:srgbClr val="FFFFFF"/>
                </a:solidFill>
                <a:latin typeface="Calibri"/>
              </a:rPr>
              <a:t>OPEN-SOURCE</a:t>
            </a:r>
          </a:p>
        </p:txBody>
      </p:sp>
      <p:sp>
        <p:nvSpPr>
          <p:cNvPr id="10" name="TextBox 9"/>
          <p:cNvSpPr txBox="1"/>
          <p:nvPr/>
        </p:nvSpPr>
        <p:spPr>
          <a:xfrm>
            <a:off x="667512" y="1536192"/>
            <a:ext cx="5193792" cy="219456"/>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LLM Guard (MIT)</a:t>
            </a:r>
          </a:p>
        </p:txBody>
      </p:sp>
      <p:sp>
        <p:nvSpPr>
          <p:cNvPr id="11" name="TextBox 10"/>
          <p:cNvSpPr txBox="1"/>
          <p:nvPr/>
        </p:nvSpPr>
        <p:spPr>
          <a:xfrm>
            <a:off x="667512" y="1764792"/>
            <a:ext cx="5193792" cy="804671"/>
          </a:xfrm>
          <a:prstGeom prst="rect">
            <a:avLst/>
          </a:prstGeom>
          <a:noFill/>
        </p:spPr>
        <p:txBody>
          <a:bodyPr wrap="square" anchor="t" lIns="0" rIns="0" tIns="0" bIns="0">
            <a:spAutoFit/>
          </a:bodyPr>
          <a:lstStyle/>
          <a:p>
            <a:pPr algn="l">
              <a:lnSpc>
                <a:spcPct val="108000"/>
              </a:lnSpc>
            </a:pPr>
            <a:r>
              <a:rPr sz="819" b="0" i="0">
                <a:solidFill>
                  <a:srgbClr val="1A1A2E"/>
                </a:solidFill>
                <a:latin typeface="Calibri"/>
              </a:rPr>
              <a:t>The broadest free scanner set found in this review: toxicity (unitary/unbiased-toxic-roberta), bias (valurank/distilroberta-bias), zero-shot ban-topics that need no retraining for a new restricted topic, plus gibberish, sentiment, and language-consistency detectors found nowhere else. Infosys's safety module adds NudeNet/nsfw_detector for image and video nudity if AFNI ever ships media generation or uploads.</a:t>
            </a:r>
          </a:p>
        </p:txBody>
      </p:sp>
      <p:sp>
        <p:nvSpPr>
          <p:cNvPr id="12" name="Rectangle 11"/>
          <p:cNvSpPr/>
          <p:nvPr/>
        </p:nvSpPr>
        <p:spPr>
          <a:xfrm>
            <a:off x="6245352" y="1280160"/>
            <a:ext cx="64008" cy="1316736"/>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9944" y="1289304"/>
            <a:ext cx="1481328" cy="219456"/>
          </a:xfrm>
          <a:prstGeom prst="roundRect">
            <a:avLst>
              <a:gd name="adj" fmla="val 2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1289304"/>
            <a:ext cx="1481328" cy="219456"/>
          </a:xfrm>
          <a:prstGeom prst="rect">
            <a:avLst/>
          </a:prstGeom>
          <a:noFill/>
        </p:spPr>
        <p:txBody>
          <a:bodyPr wrap="none" anchor="ctr" lIns="0" rIns="0" tIns="0" bIns="0">
            <a:spAutoFit/>
          </a:bodyPr>
          <a:lstStyle/>
          <a:p>
            <a:pPr algn="ctr">
              <a:lnSpc>
                <a:spcPct val="100000"/>
              </a:lnSpc>
            </a:pPr>
            <a:r>
              <a:rPr sz="850" b="1" i="0">
                <a:solidFill>
                  <a:srgbClr val="FFFFFF"/>
                </a:solidFill>
                <a:latin typeface="Calibri"/>
              </a:rPr>
              <a:t>CLOUD &amp; PAID</a:t>
            </a:r>
          </a:p>
        </p:txBody>
      </p:sp>
      <p:sp>
        <p:nvSpPr>
          <p:cNvPr id="15" name="TextBox 14"/>
          <p:cNvSpPr txBox="1"/>
          <p:nvPr/>
        </p:nvSpPr>
        <p:spPr>
          <a:xfrm>
            <a:off x="6409944" y="1536192"/>
            <a:ext cx="5193792" cy="219456"/>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Azure AI Content Safety + OpenAI Moderation</a:t>
            </a:r>
          </a:p>
        </p:txBody>
      </p:sp>
      <p:sp>
        <p:nvSpPr>
          <p:cNvPr id="16" name="TextBox 15"/>
          <p:cNvSpPr txBox="1"/>
          <p:nvPr/>
        </p:nvSpPr>
        <p:spPr>
          <a:xfrm>
            <a:off x="6409944" y="1764792"/>
            <a:ext cx="5193792" cy="804671"/>
          </a:xfrm>
          <a:prstGeom prst="rect">
            <a:avLst/>
          </a:prstGeom>
          <a:noFill/>
        </p:spPr>
        <p:txBody>
          <a:bodyPr wrap="square" anchor="t" lIns="0" rIns="0" tIns="0" bIns="0">
            <a:spAutoFit/>
          </a:bodyPr>
          <a:lstStyle/>
          <a:p>
            <a:pPr algn="l">
              <a:lnSpc>
                <a:spcPct val="108000"/>
              </a:lnSpc>
            </a:pPr>
            <a:r>
              <a:rPr sz="819" b="0" i="0">
                <a:solidFill>
                  <a:srgbClr val="1A1A2E"/>
                </a:solidFill>
                <a:latin typeface="Calibri"/>
              </a:rPr>
              <a:t>Azure gives managed, multi-modal, severity-graded moderation (hate, self-harm, sexual, violence) with custom blocklists. OpenAI's Moderation API is a lightweight, free second opinion if AFNI already calls OpenAI models for anything else.</a:t>
            </a:r>
          </a:p>
        </p:txBody>
      </p:sp>
      <p:sp>
        <p:nvSpPr>
          <p:cNvPr id="17" name="TextBox 16"/>
          <p:cNvSpPr txBox="1"/>
          <p:nvPr/>
        </p:nvSpPr>
        <p:spPr>
          <a:xfrm>
            <a:off x="502920" y="2688336"/>
            <a:ext cx="3840480" cy="182880"/>
          </a:xfrm>
          <a:prstGeom prst="rect">
            <a:avLst/>
          </a:prstGeom>
          <a:noFill/>
        </p:spPr>
        <p:txBody>
          <a:bodyPr wrap="square" anchor="t" lIns="0" rIns="0" tIns="0" bIns="0">
            <a:spAutoFit/>
          </a:bodyPr>
          <a:lstStyle/>
          <a:p>
            <a:pPr algn="l">
              <a:lnSpc>
                <a:spcPct val="100000"/>
              </a:lnSpc>
            </a:pPr>
            <a:r>
              <a:rPr sz="800" b="1" i="0">
                <a:solidFill>
                  <a:srgbClr val="5B6B7D"/>
                </a:solidFill>
                <a:latin typeface="Calibri"/>
              </a:rPr>
              <a:t>ALL OPTIONS FOUND (of the 23 reviewed)</a:t>
            </a:r>
          </a:p>
        </p:txBody>
      </p:sp>
      <p:sp>
        <p:nvSpPr>
          <p:cNvPr id="18" name="Rounded Rectangle 17"/>
          <p:cNvSpPr/>
          <p:nvPr/>
        </p:nvSpPr>
        <p:spPr>
          <a:xfrm>
            <a:off x="502920" y="2889504"/>
            <a:ext cx="653796"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889504"/>
            <a:ext cx="65379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LLM Guard</a:t>
            </a:r>
          </a:p>
        </p:txBody>
      </p:sp>
      <p:sp>
        <p:nvSpPr>
          <p:cNvPr id="20" name="Rounded Rectangle 19"/>
          <p:cNvSpPr/>
          <p:nvPr/>
        </p:nvSpPr>
        <p:spPr>
          <a:xfrm>
            <a:off x="1211580" y="2889504"/>
            <a:ext cx="955547"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11580" y="2889504"/>
            <a:ext cx="955547"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NeMo Guardrails</a:t>
            </a:r>
          </a:p>
        </p:txBody>
      </p:sp>
      <p:sp>
        <p:nvSpPr>
          <p:cNvPr id="22" name="Rounded Rectangle 21"/>
          <p:cNvSpPr/>
          <p:nvPr/>
        </p:nvSpPr>
        <p:spPr>
          <a:xfrm>
            <a:off x="2221991" y="2889504"/>
            <a:ext cx="653796"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221991" y="2889504"/>
            <a:ext cx="65379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Promptfoo</a:t>
            </a:r>
          </a:p>
        </p:txBody>
      </p:sp>
      <p:sp>
        <p:nvSpPr>
          <p:cNvPr id="24" name="Rounded Rectangle 23"/>
          <p:cNvSpPr/>
          <p:nvPr/>
        </p:nvSpPr>
        <p:spPr>
          <a:xfrm>
            <a:off x="2930651" y="2889504"/>
            <a:ext cx="603504"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30651" y="2889504"/>
            <a:ext cx="60350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DeepTeam</a:t>
            </a:r>
          </a:p>
        </p:txBody>
      </p:sp>
      <p:sp>
        <p:nvSpPr>
          <p:cNvPr id="26" name="Rounded Rectangle 25"/>
          <p:cNvSpPr/>
          <p:nvPr/>
        </p:nvSpPr>
        <p:spPr>
          <a:xfrm>
            <a:off x="3589020" y="2889504"/>
            <a:ext cx="452628"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89020" y="2889504"/>
            <a:ext cx="452628"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garak</a:t>
            </a:r>
          </a:p>
        </p:txBody>
      </p:sp>
      <p:sp>
        <p:nvSpPr>
          <p:cNvPr id="28" name="Rounded Rectangle 27"/>
          <p:cNvSpPr/>
          <p:nvPr/>
        </p:nvSpPr>
        <p:spPr>
          <a:xfrm>
            <a:off x="4096511" y="2889504"/>
            <a:ext cx="55321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096511" y="2889504"/>
            <a:ext cx="553212"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Giskard</a:t>
            </a:r>
          </a:p>
        </p:txBody>
      </p:sp>
      <p:sp>
        <p:nvSpPr>
          <p:cNvPr id="30" name="Rounded Rectangle 29"/>
          <p:cNvSpPr/>
          <p:nvPr/>
        </p:nvSpPr>
        <p:spPr>
          <a:xfrm>
            <a:off x="4704588" y="2889504"/>
            <a:ext cx="905256"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704588" y="2889504"/>
            <a:ext cx="90525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hai-guardrails</a:t>
            </a:r>
          </a:p>
        </p:txBody>
      </p:sp>
      <p:sp>
        <p:nvSpPr>
          <p:cNvPr id="32" name="Rounded Rectangle 31"/>
          <p:cNvSpPr/>
          <p:nvPr/>
        </p:nvSpPr>
        <p:spPr>
          <a:xfrm>
            <a:off x="5664707" y="2889504"/>
            <a:ext cx="603504"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4707" y="2889504"/>
            <a:ext cx="60350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DeepEval</a:t>
            </a:r>
          </a:p>
        </p:txBody>
      </p:sp>
      <p:sp>
        <p:nvSpPr>
          <p:cNvPr id="34" name="Rounded Rectangle 33"/>
          <p:cNvSpPr/>
          <p:nvPr/>
        </p:nvSpPr>
        <p:spPr>
          <a:xfrm>
            <a:off x="6323075" y="2889504"/>
            <a:ext cx="704088"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23075" y="2889504"/>
            <a:ext cx="704088"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Deepchecks</a:t>
            </a:r>
          </a:p>
        </p:txBody>
      </p:sp>
      <p:sp>
        <p:nvSpPr>
          <p:cNvPr id="36" name="Rounded Rectangle 35"/>
          <p:cNvSpPr/>
          <p:nvPr/>
        </p:nvSpPr>
        <p:spPr>
          <a:xfrm>
            <a:off x="7082027" y="2889504"/>
            <a:ext cx="1156716"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082027" y="2889504"/>
            <a:ext cx="115671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Infosys RAI Toolkit</a:t>
            </a:r>
          </a:p>
        </p:txBody>
      </p:sp>
      <p:sp>
        <p:nvSpPr>
          <p:cNvPr id="38" name="Rounded Rectangle 37"/>
          <p:cNvSpPr/>
          <p:nvPr/>
        </p:nvSpPr>
        <p:spPr>
          <a:xfrm>
            <a:off x="8293608" y="2889504"/>
            <a:ext cx="452628"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93608" y="2889504"/>
            <a:ext cx="452628"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PyRIT</a:t>
            </a:r>
          </a:p>
        </p:txBody>
      </p:sp>
      <p:sp>
        <p:nvSpPr>
          <p:cNvPr id="40" name="Rounded Rectangle 39"/>
          <p:cNvSpPr/>
          <p:nvPr/>
        </p:nvSpPr>
        <p:spPr>
          <a:xfrm>
            <a:off x="8801100" y="2889504"/>
            <a:ext cx="553212"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801100" y="2889504"/>
            <a:ext cx="553212"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FuzzyAI</a:t>
            </a:r>
          </a:p>
        </p:txBody>
      </p:sp>
      <p:sp>
        <p:nvSpPr>
          <p:cNvPr id="42" name="Rounded Rectangle 41"/>
          <p:cNvSpPr/>
          <p:nvPr/>
        </p:nvSpPr>
        <p:spPr>
          <a:xfrm>
            <a:off x="9409176" y="2889504"/>
            <a:ext cx="905256"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409176" y="2889504"/>
            <a:ext cx="90525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OpenGuardrails</a:t>
            </a:r>
          </a:p>
        </p:txBody>
      </p:sp>
      <p:sp>
        <p:nvSpPr>
          <p:cNvPr id="44" name="Rounded Rectangle 43"/>
          <p:cNvSpPr/>
          <p:nvPr/>
        </p:nvSpPr>
        <p:spPr>
          <a:xfrm>
            <a:off x="10369296" y="2889504"/>
            <a:ext cx="352044"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369296" y="2889504"/>
            <a:ext cx="35204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JCB</a:t>
            </a:r>
          </a:p>
        </p:txBody>
      </p:sp>
      <p:sp>
        <p:nvSpPr>
          <p:cNvPr id="46" name="Rounded Rectangle 45"/>
          <p:cNvSpPr/>
          <p:nvPr/>
        </p:nvSpPr>
        <p:spPr>
          <a:xfrm>
            <a:off x="502920" y="3118104"/>
            <a:ext cx="955547" cy="256032"/>
          </a:xfrm>
          <a:prstGeom prst="roundRect">
            <a:avLst>
              <a:gd name="adj" fmla="val 50000"/>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502920" y="3118104"/>
            <a:ext cx="955547"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Safe Zone (TSZ)</a:t>
            </a:r>
          </a:p>
        </p:txBody>
      </p:sp>
      <p:sp>
        <p:nvSpPr>
          <p:cNvPr id="48" name="Rounded Rectangle 47"/>
          <p:cNvSpPr/>
          <p:nvPr/>
        </p:nvSpPr>
        <p:spPr>
          <a:xfrm>
            <a:off x="502920" y="3429000"/>
            <a:ext cx="11155680" cy="1517904"/>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502920" y="3429000"/>
            <a:ext cx="64008" cy="151790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667512" y="3456432"/>
            <a:ext cx="2286000" cy="228600"/>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67512" y="3456432"/>
            <a:ext cx="2286000" cy="228600"/>
          </a:xfrm>
          <a:prstGeom prst="rect">
            <a:avLst/>
          </a:prstGeom>
          <a:noFill/>
        </p:spPr>
        <p:txBody>
          <a:bodyPr wrap="none" anchor="ctr" lIns="0" rIns="0" tIns="0" bIns="0">
            <a:spAutoFit/>
          </a:bodyPr>
          <a:lstStyle/>
          <a:p>
            <a:pPr algn="ctr">
              <a:lnSpc>
                <a:spcPct val="100000"/>
              </a:lnSpc>
            </a:pPr>
            <a:r>
              <a:rPr sz="869" b="1" i="0">
                <a:solidFill>
                  <a:srgbClr val="FFFFFF"/>
                </a:solidFill>
                <a:latin typeface="Calibri"/>
              </a:rPr>
              <a:t>AFNI RECOMMENDATION</a:t>
            </a:r>
          </a:p>
        </p:txBody>
      </p:sp>
      <p:sp>
        <p:nvSpPr>
          <p:cNvPr id="52" name="TextBox 51"/>
          <p:cNvSpPr txBox="1"/>
          <p:nvPr/>
        </p:nvSpPr>
        <p:spPr>
          <a:xfrm>
            <a:off x="3081528" y="3474720"/>
            <a:ext cx="914400" cy="182880"/>
          </a:xfrm>
          <a:prstGeom prst="rect">
            <a:avLst/>
          </a:prstGeom>
          <a:noFill/>
        </p:spPr>
        <p:txBody>
          <a:bodyPr wrap="square" anchor="t" lIns="0" rIns="0" tIns="0" bIns="0">
            <a:spAutoFit/>
          </a:bodyPr>
          <a:lstStyle/>
          <a:p>
            <a:pPr algn="l">
              <a:lnSpc>
                <a:spcPct val="100000"/>
              </a:lnSpc>
            </a:pPr>
            <a:r>
              <a:rPr sz="750" b="1" i="0">
                <a:solidFill>
                  <a:srgbClr val="5B6B7D"/>
                </a:solidFill>
                <a:latin typeface="Calibri"/>
              </a:rPr>
              <a:t>ADOPT</a:t>
            </a:r>
          </a:p>
        </p:txBody>
      </p:sp>
      <p:sp>
        <p:nvSpPr>
          <p:cNvPr id="53" name="Rounded Rectangle 52"/>
          <p:cNvSpPr/>
          <p:nvPr/>
        </p:nvSpPr>
        <p:spPr>
          <a:xfrm>
            <a:off x="3739896" y="3438144"/>
            <a:ext cx="848563"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3739896" y="3438144"/>
            <a:ext cx="848563"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LLM Guard</a:t>
            </a:r>
          </a:p>
        </p:txBody>
      </p:sp>
      <p:sp>
        <p:nvSpPr>
          <p:cNvPr id="55" name="Rounded Rectangle 54"/>
          <p:cNvSpPr/>
          <p:nvPr/>
        </p:nvSpPr>
        <p:spPr>
          <a:xfrm>
            <a:off x="4670755" y="3438144"/>
            <a:ext cx="1243584"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670755" y="3438144"/>
            <a:ext cx="1243584"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NeMo Guardrails</a:t>
            </a:r>
          </a:p>
        </p:txBody>
      </p:sp>
      <p:sp>
        <p:nvSpPr>
          <p:cNvPr id="57" name="Rounded Rectangle 56"/>
          <p:cNvSpPr/>
          <p:nvPr/>
        </p:nvSpPr>
        <p:spPr>
          <a:xfrm>
            <a:off x="5996635" y="3438144"/>
            <a:ext cx="848563"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5996635" y="3438144"/>
            <a:ext cx="848563"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Promptfoo</a:t>
            </a:r>
          </a:p>
        </p:txBody>
      </p:sp>
      <p:sp>
        <p:nvSpPr>
          <p:cNvPr id="59" name="TextBox 58"/>
          <p:cNvSpPr txBox="1"/>
          <p:nvPr/>
        </p:nvSpPr>
        <p:spPr>
          <a:xfrm>
            <a:off x="685800" y="373075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ENGINE UNDER IT</a:t>
            </a:r>
          </a:p>
        </p:txBody>
      </p:sp>
      <p:sp>
        <p:nvSpPr>
          <p:cNvPr id="60" name="TextBox 59"/>
          <p:cNvSpPr txBox="1"/>
          <p:nvPr/>
        </p:nvSpPr>
        <p:spPr>
          <a:xfrm>
            <a:off x="2240280" y="3721608"/>
            <a:ext cx="9217151" cy="384048"/>
          </a:xfrm>
          <a:prstGeom prst="rect">
            <a:avLst/>
          </a:prstGeom>
          <a:noFill/>
        </p:spPr>
        <p:txBody>
          <a:bodyPr wrap="square" anchor="t" lIns="0" rIns="0" tIns="0" bIns="0">
            <a:spAutoFit/>
          </a:bodyPr>
          <a:lstStyle/>
          <a:p>
            <a:pPr algn="l">
              <a:lnSpc>
                <a:spcPct val="105000"/>
              </a:lnSpc>
            </a:pPr>
            <a:r>
              <a:rPr sz="780" b="0" i="0">
                <a:solidFill>
                  <a:srgbClr val="1A1A2E"/>
                </a:solidFill>
                <a:latin typeface="Calibri"/>
              </a:rPr>
              <a:t>LLM Guard's unitary/unbiased-toxic-roberta and valurank/distilroberta-bias, plus zero-shot BanTopics that needs no retraining for a new restricted topic; NeMo routes borderline cases to Llama Guard 3 or ShieldGemma.</a:t>
            </a:r>
          </a:p>
        </p:txBody>
      </p:sp>
      <p:sp>
        <p:nvSpPr>
          <p:cNvPr id="61" name="TextBox 60"/>
          <p:cNvSpPr txBox="1"/>
          <p:nvPr/>
        </p:nvSpPr>
        <p:spPr>
          <a:xfrm>
            <a:off x="685800" y="414223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CLOUD SECOND OPINION</a:t>
            </a:r>
          </a:p>
        </p:txBody>
      </p:sp>
      <p:sp>
        <p:nvSpPr>
          <p:cNvPr id="62" name="TextBox 61"/>
          <p:cNvSpPr txBox="1"/>
          <p:nvPr/>
        </p:nvSpPr>
        <p:spPr>
          <a:xfrm>
            <a:off x="2240280" y="4133088"/>
            <a:ext cx="9217151" cy="384048"/>
          </a:xfrm>
          <a:prstGeom prst="rect">
            <a:avLst/>
          </a:prstGeom>
          <a:noFill/>
        </p:spPr>
        <p:txBody>
          <a:bodyPr wrap="square" anchor="t" lIns="0" rIns="0" tIns="0" bIns="0">
            <a:spAutoFit/>
          </a:bodyPr>
          <a:lstStyle/>
          <a:p>
            <a:pPr algn="l">
              <a:lnSpc>
                <a:spcPct val="105000"/>
              </a:lnSpc>
            </a:pPr>
            <a:r>
              <a:rPr sz="780" b="0" i="0">
                <a:solidFill>
                  <a:srgbClr val="1A1A2E"/>
                </a:solidFill>
                <a:latin typeface="Calibri"/>
              </a:rPr>
              <a:t>Azure AI Content Safety - managed, multi-modal, severity-graded, with custom blocklists and the audit evidence a client reviewer will ask to see.</a:t>
            </a:r>
          </a:p>
        </p:txBody>
      </p:sp>
      <p:sp>
        <p:nvSpPr>
          <p:cNvPr id="63" name="TextBox 62"/>
          <p:cNvSpPr txBox="1"/>
          <p:nvPr/>
        </p:nvSpPr>
        <p:spPr>
          <a:xfrm>
            <a:off x="685800" y="455371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WHERE IT RUNS</a:t>
            </a:r>
          </a:p>
        </p:txBody>
      </p:sp>
      <p:sp>
        <p:nvSpPr>
          <p:cNvPr id="64" name="TextBox 63"/>
          <p:cNvSpPr txBox="1"/>
          <p:nvPr/>
        </p:nvSpPr>
        <p:spPr>
          <a:xfrm>
            <a:off x="2240280" y="4544568"/>
            <a:ext cx="9217151" cy="274320"/>
          </a:xfrm>
          <a:prstGeom prst="rect">
            <a:avLst/>
          </a:prstGeom>
          <a:noFill/>
        </p:spPr>
        <p:txBody>
          <a:bodyPr wrap="square" anchor="t" lIns="0" rIns="0" tIns="0" bIns="0">
            <a:spAutoFit/>
          </a:bodyPr>
          <a:lstStyle/>
          <a:p>
            <a:pPr algn="l">
              <a:lnSpc>
                <a:spcPct val="105000"/>
              </a:lnSpc>
            </a:pPr>
            <a:r>
              <a:rPr sz="780" b="1" i="0">
                <a:solidFill>
                  <a:srgbClr val="10243E"/>
                </a:solidFill>
                <a:latin typeface="Calibri"/>
              </a:rPr>
              <a:t>Stage 1 BanSubstrings blocklist  ·  Stage 2 local toxicity classifier  ·  Stage 3 Azure or a guard model on borderline input  ·  Offline promptfoo HarmBench / BeaverTails / XSTest</a:t>
            </a:r>
          </a:p>
        </p:txBody>
      </p:sp>
      <p:sp>
        <p:nvSpPr>
          <p:cNvPr id="65" name="Rounded Rectangle 64"/>
          <p:cNvSpPr/>
          <p:nvPr/>
        </p:nvSpPr>
        <p:spPr>
          <a:xfrm>
            <a:off x="502920" y="5029200"/>
            <a:ext cx="11155680" cy="475488"/>
          </a:xfrm>
          <a:prstGeom prst="roundRect">
            <a:avLst>
              <a:gd name="adj" fmla="val 4000"/>
            </a:avLst>
          </a:prstGeom>
          <a:solidFill>
            <a:srgbClr val="FDF6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67512" y="5056632"/>
            <a:ext cx="1737360" cy="182880"/>
          </a:xfrm>
          <a:prstGeom prst="rect">
            <a:avLst/>
          </a:prstGeom>
          <a:noFill/>
        </p:spPr>
        <p:txBody>
          <a:bodyPr wrap="square" anchor="t" lIns="0" rIns="0" tIns="0" bIns="0">
            <a:spAutoFit/>
          </a:bodyPr>
          <a:lstStyle/>
          <a:p>
            <a:pPr algn="l">
              <a:lnSpc>
                <a:spcPct val="100000"/>
              </a:lnSpc>
            </a:pPr>
            <a:r>
              <a:rPr sz="700" b="1" i="0">
                <a:solidFill>
                  <a:srgbClr val="E88C00"/>
                </a:solidFill>
                <a:latin typeface="Calibri"/>
              </a:rPr>
              <a:t>RECONCILED</a:t>
            </a:r>
          </a:p>
        </p:txBody>
      </p:sp>
      <p:sp>
        <p:nvSpPr>
          <p:cNvPr id="67" name="TextBox 66"/>
          <p:cNvSpPr txBox="1"/>
          <p:nvPr/>
        </p:nvSpPr>
        <p:spPr>
          <a:xfrm>
            <a:off x="2240280" y="5047488"/>
            <a:ext cx="9217151" cy="429768"/>
          </a:xfrm>
          <a:prstGeom prst="rect">
            <a:avLst/>
          </a:prstGeom>
          <a:noFill/>
        </p:spPr>
        <p:txBody>
          <a:bodyPr wrap="square" anchor="t" lIns="0" rIns="0" tIns="0" bIns="0">
            <a:spAutoFit/>
          </a:bodyPr>
          <a:lstStyle/>
          <a:p>
            <a:pPr algn="l">
              <a:lnSpc>
                <a:spcPct val="105000"/>
              </a:lnSpc>
            </a:pPr>
            <a:r>
              <a:rPr sz="760" b="0" i="0">
                <a:solidFill>
                  <a:srgbClr val="1A1A2E"/>
                </a:solidFill>
                <a:latin typeface="Calibri"/>
              </a:rPr>
              <a:t>The cheat sheet named only LLM Guard + Azure; the recommendation slide named LLM Guard + NeMo + Promptfoo. The union is correct - NeMo does the routing, Promptfoo does the CI corpus.</a:t>
            </a:r>
          </a:p>
        </p:txBody>
      </p:sp>
      <p:sp>
        <p:nvSpPr>
          <p:cNvPr id="68" name="Rounded Rectangle 67"/>
          <p:cNvSpPr/>
          <p:nvPr/>
        </p:nvSpPr>
        <p:spPr>
          <a:xfrm>
            <a:off x="502920" y="5586984"/>
            <a:ext cx="11155680" cy="420624"/>
          </a:xfrm>
          <a:prstGeom prst="roundRect">
            <a:avLst>
              <a:gd name="adj" fmla="val 10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31520" y="5586984"/>
            <a:ext cx="10698480" cy="420624"/>
          </a:xfrm>
          <a:prstGeom prst="rect">
            <a:avLst/>
          </a:prstGeom>
          <a:noFill/>
        </p:spPr>
        <p:txBody>
          <a:bodyPr wrap="square" anchor="ctr" lIns="0" rIns="0" tIns="0" bIns="0">
            <a:spAutoFit/>
          </a:bodyPr>
          <a:lstStyle/>
          <a:p>
            <a:pPr algn="ctr">
              <a:lnSpc>
                <a:spcPct val="105000"/>
              </a:lnSpc>
            </a:pPr>
            <a:r>
              <a:rPr sz="900" b="1" i="1">
                <a:solidFill>
                  <a:srgbClr val="FFFFFF"/>
                </a:solidFill>
                <a:latin typeface="Calibri"/>
              </a:rPr>
              <a:t>Don't overpay for commodity checks: profanity filtering is free in five or more of the tools reviewed - spend the budget on the harder problems instead.</a:t>
            </a:r>
          </a:p>
        </p:txBody>
      </p:sp>
      <p:sp>
        <p:nvSpPr>
          <p:cNvPr id="70" name="Rectangle 6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72" name="TextBox 7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Tenet - Profanity / Content Safety</a:t>
            </a:r>
          </a:p>
        </p:txBody>
      </p:sp>
      <p:sp>
        <p:nvSpPr>
          <p:cNvPr id="73" name="TextBox 7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43</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18A7E"/>
                </a:solidFill>
                <a:latin typeface="Calibri"/>
              </a:rPr>
              <a:t>TENET 6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Hallucination &amp; Reliability</a:t>
            </a:r>
          </a:p>
        </p:txBody>
      </p:sp>
      <p:sp>
        <p:nvSpPr>
          <p:cNvPr id="6" name="Rectangle 5"/>
          <p:cNvSpPr/>
          <p:nvPr/>
        </p:nvSpPr>
        <p:spPr>
          <a:xfrm>
            <a:off x="502920" y="1207008"/>
            <a:ext cx="2011680" cy="32004"/>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80160"/>
            <a:ext cx="64008" cy="131673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7512" y="1289304"/>
            <a:ext cx="1481328" cy="219456"/>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89304"/>
            <a:ext cx="1481328" cy="219456"/>
          </a:xfrm>
          <a:prstGeom prst="rect">
            <a:avLst/>
          </a:prstGeom>
          <a:noFill/>
        </p:spPr>
        <p:txBody>
          <a:bodyPr wrap="none" anchor="ctr" lIns="0" rIns="0" tIns="0" bIns="0">
            <a:spAutoFit/>
          </a:bodyPr>
          <a:lstStyle/>
          <a:p>
            <a:pPr algn="ctr">
              <a:lnSpc>
                <a:spcPct val="100000"/>
              </a:lnSpc>
            </a:pPr>
            <a:r>
              <a:rPr sz="850" b="1" i="0">
                <a:solidFill>
                  <a:srgbClr val="FFFFFF"/>
                </a:solidFill>
                <a:latin typeface="Calibri"/>
              </a:rPr>
              <a:t>OPEN-SOURCE</a:t>
            </a:r>
          </a:p>
        </p:txBody>
      </p:sp>
      <p:sp>
        <p:nvSpPr>
          <p:cNvPr id="10" name="TextBox 9"/>
          <p:cNvSpPr txBox="1"/>
          <p:nvPr/>
        </p:nvSpPr>
        <p:spPr>
          <a:xfrm>
            <a:off x="667512" y="1536192"/>
            <a:ext cx="5193792" cy="219456"/>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LLM Guard's FactualConsistency scanner (MIT)</a:t>
            </a:r>
          </a:p>
        </p:txBody>
      </p:sp>
      <p:sp>
        <p:nvSpPr>
          <p:cNvPr id="11" name="TextBox 10"/>
          <p:cNvSpPr txBox="1"/>
          <p:nvPr/>
        </p:nvSpPr>
        <p:spPr>
          <a:xfrm>
            <a:off x="667512" y="1764792"/>
            <a:ext cx="5193792" cy="804671"/>
          </a:xfrm>
          <a:prstGeom prst="rect">
            <a:avLst/>
          </a:prstGeom>
          <a:noFill/>
        </p:spPr>
        <p:txBody>
          <a:bodyPr wrap="square" anchor="t" lIns="0" rIns="0" tIns="0" bIns="0">
            <a:spAutoFit/>
          </a:bodyPr>
          <a:lstStyle/>
          <a:p>
            <a:pPr algn="l">
              <a:lnSpc>
                <a:spcPct val="108000"/>
              </a:lnSpc>
            </a:pPr>
            <a:r>
              <a:rPr sz="819" b="0" i="0">
                <a:solidFill>
                  <a:srgbClr val="1A1A2E"/>
                </a:solidFill>
                <a:latin typeface="Calibri"/>
              </a:rPr>
              <a:t>A cross-encoder NLI model that scores entailment between a source and the model's answer entirely locally - no judge-LLM call - the only groundedness check in this review cheap enough to run on every single response. DeepEval and Giskard add the deeper CI-side diagnostics (faithfulness, contextual precision/recall, and sycophancy - a check unique to Giskard) for pre-release gating.</a:t>
            </a:r>
          </a:p>
        </p:txBody>
      </p:sp>
      <p:sp>
        <p:nvSpPr>
          <p:cNvPr id="12" name="Rectangle 11"/>
          <p:cNvSpPr/>
          <p:nvPr/>
        </p:nvSpPr>
        <p:spPr>
          <a:xfrm>
            <a:off x="6245352" y="1280160"/>
            <a:ext cx="64008" cy="1316736"/>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9944" y="1289304"/>
            <a:ext cx="1481328" cy="219456"/>
          </a:xfrm>
          <a:prstGeom prst="roundRect">
            <a:avLst>
              <a:gd name="adj" fmla="val 2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1289304"/>
            <a:ext cx="1481328" cy="219456"/>
          </a:xfrm>
          <a:prstGeom prst="rect">
            <a:avLst/>
          </a:prstGeom>
          <a:noFill/>
        </p:spPr>
        <p:txBody>
          <a:bodyPr wrap="none" anchor="ctr" lIns="0" rIns="0" tIns="0" bIns="0">
            <a:spAutoFit/>
          </a:bodyPr>
          <a:lstStyle/>
          <a:p>
            <a:pPr algn="ctr">
              <a:lnSpc>
                <a:spcPct val="100000"/>
              </a:lnSpc>
            </a:pPr>
            <a:r>
              <a:rPr sz="850" b="1" i="0">
                <a:solidFill>
                  <a:srgbClr val="FFFFFF"/>
                </a:solidFill>
                <a:latin typeface="Calibri"/>
              </a:rPr>
              <a:t>CLOUD &amp; PAID</a:t>
            </a:r>
          </a:p>
        </p:txBody>
      </p:sp>
      <p:sp>
        <p:nvSpPr>
          <p:cNvPr id="15" name="TextBox 14"/>
          <p:cNvSpPr txBox="1"/>
          <p:nvPr/>
        </p:nvSpPr>
        <p:spPr>
          <a:xfrm>
            <a:off x="6409944" y="1536192"/>
            <a:ext cx="5193792" cy="219456"/>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Azure AI Content Safety - Groundedness Detection</a:t>
            </a:r>
          </a:p>
        </p:txBody>
      </p:sp>
      <p:sp>
        <p:nvSpPr>
          <p:cNvPr id="16" name="TextBox 15"/>
          <p:cNvSpPr txBox="1"/>
          <p:nvPr/>
        </p:nvSpPr>
        <p:spPr>
          <a:xfrm>
            <a:off x="6409944" y="1764792"/>
            <a:ext cx="5193792" cy="804671"/>
          </a:xfrm>
          <a:prstGeom prst="rect">
            <a:avLst/>
          </a:prstGeom>
          <a:noFill/>
        </p:spPr>
        <p:txBody>
          <a:bodyPr wrap="square" anchor="t" lIns="0" rIns="0" tIns="0" bIns="0">
            <a:spAutoFit/>
          </a:bodyPr>
          <a:lstStyle/>
          <a:p>
            <a:pPr algn="l">
              <a:lnSpc>
                <a:spcPct val="108000"/>
              </a:lnSpc>
            </a:pPr>
            <a:r>
              <a:rPr sz="819" b="0" i="0">
                <a:solidFill>
                  <a:srgbClr val="1A1A2E"/>
                </a:solidFill>
                <a:latin typeface="Calibri"/>
              </a:rPr>
              <a:t>Verifies an answer against its source documents, built for regulated RAG flows. Patronus AI's Lynx model and Cleanlab's trustworthiness score are both available as ready-made NeMo Guardrails rails if a second, managed opinion is wanted.</a:t>
            </a:r>
          </a:p>
        </p:txBody>
      </p:sp>
      <p:sp>
        <p:nvSpPr>
          <p:cNvPr id="17" name="TextBox 16"/>
          <p:cNvSpPr txBox="1"/>
          <p:nvPr/>
        </p:nvSpPr>
        <p:spPr>
          <a:xfrm>
            <a:off x="502920" y="2688336"/>
            <a:ext cx="3840480" cy="182880"/>
          </a:xfrm>
          <a:prstGeom prst="rect">
            <a:avLst/>
          </a:prstGeom>
          <a:noFill/>
        </p:spPr>
        <p:txBody>
          <a:bodyPr wrap="square" anchor="t" lIns="0" rIns="0" tIns="0" bIns="0">
            <a:spAutoFit/>
          </a:bodyPr>
          <a:lstStyle/>
          <a:p>
            <a:pPr algn="l">
              <a:lnSpc>
                <a:spcPct val="100000"/>
              </a:lnSpc>
            </a:pPr>
            <a:r>
              <a:rPr sz="800" b="1" i="0">
                <a:solidFill>
                  <a:srgbClr val="5B6B7D"/>
                </a:solidFill>
                <a:latin typeface="Calibri"/>
              </a:rPr>
              <a:t>ALL OPTIONS FOUND (of the 23 reviewed)</a:t>
            </a:r>
          </a:p>
        </p:txBody>
      </p:sp>
      <p:sp>
        <p:nvSpPr>
          <p:cNvPr id="18" name="Rounded Rectangle 17"/>
          <p:cNvSpPr/>
          <p:nvPr/>
        </p:nvSpPr>
        <p:spPr>
          <a:xfrm>
            <a:off x="502920" y="2889504"/>
            <a:ext cx="653796"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889504"/>
            <a:ext cx="65379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LLM Guard</a:t>
            </a:r>
          </a:p>
        </p:txBody>
      </p:sp>
      <p:sp>
        <p:nvSpPr>
          <p:cNvPr id="20" name="Rounded Rectangle 19"/>
          <p:cNvSpPr/>
          <p:nvPr/>
        </p:nvSpPr>
        <p:spPr>
          <a:xfrm>
            <a:off x="1211580" y="2889504"/>
            <a:ext cx="603504"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211580" y="2889504"/>
            <a:ext cx="60350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DeepEval</a:t>
            </a:r>
          </a:p>
        </p:txBody>
      </p:sp>
      <p:sp>
        <p:nvSpPr>
          <p:cNvPr id="22" name="Rounded Rectangle 21"/>
          <p:cNvSpPr/>
          <p:nvPr/>
        </p:nvSpPr>
        <p:spPr>
          <a:xfrm>
            <a:off x="1869948" y="2889504"/>
            <a:ext cx="955547"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869948" y="2889504"/>
            <a:ext cx="955547"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NeMo Guardrails</a:t>
            </a:r>
          </a:p>
        </p:txBody>
      </p:sp>
      <p:sp>
        <p:nvSpPr>
          <p:cNvPr id="24" name="Rounded Rectangle 23"/>
          <p:cNvSpPr/>
          <p:nvPr/>
        </p:nvSpPr>
        <p:spPr>
          <a:xfrm>
            <a:off x="2880360" y="2889504"/>
            <a:ext cx="553212"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880360" y="2889504"/>
            <a:ext cx="553212"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Giskard</a:t>
            </a:r>
          </a:p>
        </p:txBody>
      </p:sp>
      <p:sp>
        <p:nvSpPr>
          <p:cNvPr id="26" name="Rounded Rectangle 25"/>
          <p:cNvSpPr/>
          <p:nvPr/>
        </p:nvSpPr>
        <p:spPr>
          <a:xfrm>
            <a:off x="3488436" y="2889504"/>
            <a:ext cx="704088"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488436" y="2889504"/>
            <a:ext cx="704088"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Deepchecks</a:t>
            </a:r>
          </a:p>
        </p:txBody>
      </p:sp>
      <p:sp>
        <p:nvSpPr>
          <p:cNvPr id="28" name="Rounded Rectangle 27"/>
          <p:cNvSpPr/>
          <p:nvPr/>
        </p:nvSpPr>
        <p:spPr>
          <a:xfrm>
            <a:off x="4247388" y="2889504"/>
            <a:ext cx="653796"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47388" y="2889504"/>
            <a:ext cx="65379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Promptfoo</a:t>
            </a:r>
          </a:p>
        </p:txBody>
      </p:sp>
      <p:sp>
        <p:nvSpPr>
          <p:cNvPr id="30" name="Rounded Rectangle 29"/>
          <p:cNvSpPr/>
          <p:nvPr/>
        </p:nvSpPr>
        <p:spPr>
          <a:xfrm>
            <a:off x="4956048" y="2889504"/>
            <a:ext cx="603504"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956048" y="2889504"/>
            <a:ext cx="60350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DeepTeam</a:t>
            </a:r>
          </a:p>
        </p:txBody>
      </p:sp>
      <p:sp>
        <p:nvSpPr>
          <p:cNvPr id="32" name="Rounded Rectangle 31"/>
          <p:cNvSpPr/>
          <p:nvPr/>
        </p:nvSpPr>
        <p:spPr>
          <a:xfrm>
            <a:off x="5614416" y="2889504"/>
            <a:ext cx="1156716"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14416" y="2889504"/>
            <a:ext cx="115671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Infosys RAI Toolkit</a:t>
            </a:r>
          </a:p>
        </p:txBody>
      </p:sp>
      <p:sp>
        <p:nvSpPr>
          <p:cNvPr id="34" name="Rounded Rectangle 33"/>
          <p:cNvSpPr/>
          <p:nvPr/>
        </p:nvSpPr>
        <p:spPr>
          <a:xfrm>
            <a:off x="6825996" y="2889504"/>
            <a:ext cx="452628"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825996" y="2889504"/>
            <a:ext cx="452628"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garak</a:t>
            </a:r>
          </a:p>
        </p:txBody>
      </p:sp>
      <p:sp>
        <p:nvSpPr>
          <p:cNvPr id="36" name="Rounded Rectangle 35"/>
          <p:cNvSpPr/>
          <p:nvPr/>
        </p:nvSpPr>
        <p:spPr>
          <a:xfrm>
            <a:off x="7333488" y="2889504"/>
            <a:ext cx="854964"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333488" y="2889504"/>
            <a:ext cx="85496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Guardrails AI</a:t>
            </a:r>
          </a:p>
        </p:txBody>
      </p:sp>
      <p:sp>
        <p:nvSpPr>
          <p:cNvPr id="38" name="Rounded Rectangle 37"/>
          <p:cNvSpPr/>
          <p:nvPr/>
        </p:nvSpPr>
        <p:spPr>
          <a:xfrm>
            <a:off x="8243315" y="2889504"/>
            <a:ext cx="804672"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43315" y="2889504"/>
            <a:ext cx="804672"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OpenAI Evals</a:t>
            </a:r>
          </a:p>
        </p:txBody>
      </p:sp>
      <p:sp>
        <p:nvSpPr>
          <p:cNvPr id="40" name="Rounded Rectangle 39"/>
          <p:cNvSpPr/>
          <p:nvPr/>
        </p:nvSpPr>
        <p:spPr>
          <a:xfrm>
            <a:off x="9102851" y="2889504"/>
            <a:ext cx="452628"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102851" y="2889504"/>
            <a:ext cx="452628"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PyRIT</a:t>
            </a:r>
          </a:p>
        </p:txBody>
      </p:sp>
      <p:sp>
        <p:nvSpPr>
          <p:cNvPr id="42" name="Rounded Rectangle 41"/>
          <p:cNvSpPr/>
          <p:nvPr/>
        </p:nvSpPr>
        <p:spPr>
          <a:xfrm>
            <a:off x="9610343" y="2889504"/>
            <a:ext cx="1005840"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610343" y="2889504"/>
            <a:ext cx="1005840"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Agentic Security</a:t>
            </a:r>
          </a:p>
        </p:txBody>
      </p:sp>
      <p:sp>
        <p:nvSpPr>
          <p:cNvPr id="44" name="Rounded Rectangle 43"/>
          <p:cNvSpPr/>
          <p:nvPr/>
        </p:nvSpPr>
        <p:spPr>
          <a:xfrm>
            <a:off x="10671047" y="2889504"/>
            <a:ext cx="553212"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0671047" y="2889504"/>
            <a:ext cx="553212"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FuzzyAI</a:t>
            </a:r>
          </a:p>
        </p:txBody>
      </p:sp>
      <p:sp>
        <p:nvSpPr>
          <p:cNvPr id="46" name="Rounded Rectangle 45"/>
          <p:cNvSpPr/>
          <p:nvPr/>
        </p:nvSpPr>
        <p:spPr>
          <a:xfrm>
            <a:off x="11279123" y="2889504"/>
            <a:ext cx="352044"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1279123" y="2889504"/>
            <a:ext cx="35204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JCB</a:t>
            </a:r>
          </a:p>
        </p:txBody>
      </p:sp>
      <p:sp>
        <p:nvSpPr>
          <p:cNvPr id="48" name="Rounded Rectangle 47"/>
          <p:cNvSpPr/>
          <p:nvPr/>
        </p:nvSpPr>
        <p:spPr>
          <a:xfrm>
            <a:off x="502920" y="3118104"/>
            <a:ext cx="955547" cy="256032"/>
          </a:xfrm>
          <a:prstGeom prst="roundRect">
            <a:avLst>
              <a:gd name="adj" fmla="val 50000"/>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502920" y="3118104"/>
            <a:ext cx="955547"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Safe Zone (TSZ)</a:t>
            </a:r>
          </a:p>
        </p:txBody>
      </p:sp>
      <p:sp>
        <p:nvSpPr>
          <p:cNvPr id="50" name="Rounded Rectangle 49"/>
          <p:cNvSpPr/>
          <p:nvPr/>
        </p:nvSpPr>
        <p:spPr>
          <a:xfrm>
            <a:off x="502920" y="3429000"/>
            <a:ext cx="11155680" cy="1517904"/>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502920" y="3429000"/>
            <a:ext cx="64008" cy="151790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667512" y="3456432"/>
            <a:ext cx="2286000" cy="228600"/>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667512" y="3456432"/>
            <a:ext cx="2286000" cy="228600"/>
          </a:xfrm>
          <a:prstGeom prst="rect">
            <a:avLst/>
          </a:prstGeom>
          <a:noFill/>
        </p:spPr>
        <p:txBody>
          <a:bodyPr wrap="none" anchor="ctr" lIns="0" rIns="0" tIns="0" bIns="0">
            <a:spAutoFit/>
          </a:bodyPr>
          <a:lstStyle/>
          <a:p>
            <a:pPr algn="ctr">
              <a:lnSpc>
                <a:spcPct val="100000"/>
              </a:lnSpc>
            </a:pPr>
            <a:r>
              <a:rPr sz="869" b="1" i="0">
                <a:solidFill>
                  <a:srgbClr val="FFFFFF"/>
                </a:solidFill>
                <a:latin typeface="Calibri"/>
              </a:rPr>
              <a:t>AFNI RECOMMENDATION</a:t>
            </a:r>
          </a:p>
        </p:txBody>
      </p:sp>
      <p:sp>
        <p:nvSpPr>
          <p:cNvPr id="54" name="TextBox 53"/>
          <p:cNvSpPr txBox="1"/>
          <p:nvPr/>
        </p:nvSpPr>
        <p:spPr>
          <a:xfrm>
            <a:off x="3081528" y="3474720"/>
            <a:ext cx="914400" cy="182880"/>
          </a:xfrm>
          <a:prstGeom prst="rect">
            <a:avLst/>
          </a:prstGeom>
          <a:noFill/>
        </p:spPr>
        <p:txBody>
          <a:bodyPr wrap="square" anchor="t" lIns="0" rIns="0" tIns="0" bIns="0">
            <a:spAutoFit/>
          </a:bodyPr>
          <a:lstStyle/>
          <a:p>
            <a:pPr algn="l">
              <a:lnSpc>
                <a:spcPct val="100000"/>
              </a:lnSpc>
            </a:pPr>
            <a:r>
              <a:rPr sz="750" b="1" i="0">
                <a:solidFill>
                  <a:srgbClr val="5B6B7D"/>
                </a:solidFill>
                <a:latin typeface="Calibri"/>
              </a:rPr>
              <a:t>ADOPT</a:t>
            </a:r>
          </a:p>
        </p:txBody>
      </p:sp>
      <p:sp>
        <p:nvSpPr>
          <p:cNvPr id="55" name="Rounded Rectangle 54"/>
          <p:cNvSpPr/>
          <p:nvPr/>
        </p:nvSpPr>
        <p:spPr>
          <a:xfrm>
            <a:off x="3739896" y="3438144"/>
            <a:ext cx="848563"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3739896" y="3438144"/>
            <a:ext cx="848563"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LLM Guard</a:t>
            </a:r>
          </a:p>
        </p:txBody>
      </p:sp>
      <p:sp>
        <p:nvSpPr>
          <p:cNvPr id="57" name="Rounded Rectangle 56"/>
          <p:cNvSpPr/>
          <p:nvPr/>
        </p:nvSpPr>
        <p:spPr>
          <a:xfrm>
            <a:off x="4670755" y="3438144"/>
            <a:ext cx="782726"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670755" y="3438144"/>
            <a:ext cx="782726"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DeepEval</a:t>
            </a:r>
          </a:p>
        </p:txBody>
      </p:sp>
      <p:sp>
        <p:nvSpPr>
          <p:cNvPr id="59" name="TextBox 58"/>
          <p:cNvSpPr txBox="1"/>
          <p:nvPr/>
        </p:nvSpPr>
        <p:spPr>
          <a:xfrm>
            <a:off x="685800" y="373075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ENGINE UNDER IT</a:t>
            </a:r>
          </a:p>
        </p:txBody>
      </p:sp>
      <p:sp>
        <p:nvSpPr>
          <p:cNvPr id="60" name="TextBox 59"/>
          <p:cNvSpPr txBox="1"/>
          <p:nvPr/>
        </p:nvSpPr>
        <p:spPr>
          <a:xfrm>
            <a:off x="2240280" y="3721608"/>
            <a:ext cx="9217151" cy="384048"/>
          </a:xfrm>
          <a:prstGeom prst="rect">
            <a:avLst/>
          </a:prstGeom>
          <a:noFill/>
        </p:spPr>
        <p:txBody>
          <a:bodyPr wrap="square" anchor="t" lIns="0" rIns="0" tIns="0" bIns="0">
            <a:spAutoFit/>
          </a:bodyPr>
          <a:lstStyle/>
          <a:p>
            <a:pPr algn="l">
              <a:lnSpc>
                <a:spcPct val="105000"/>
              </a:lnSpc>
            </a:pPr>
            <a:r>
              <a:rPr sz="780" b="0" i="0">
                <a:solidFill>
                  <a:srgbClr val="1A1A2E"/>
                </a:solidFill>
                <a:latin typeface="Calibri"/>
              </a:rPr>
              <a:t>LLM Guard's cross-encoder NLI FactualConsistency scanner - the only groundedness check in the review cheap enough to run on every single response, with no judge-LLM call; DeepEval's faithfulness and contextual precision/recall for the offline tier.</a:t>
            </a:r>
          </a:p>
        </p:txBody>
      </p:sp>
      <p:sp>
        <p:nvSpPr>
          <p:cNvPr id="61" name="TextBox 60"/>
          <p:cNvSpPr txBox="1"/>
          <p:nvPr/>
        </p:nvSpPr>
        <p:spPr>
          <a:xfrm>
            <a:off x="685800" y="414223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CLOUD SECOND OPINION</a:t>
            </a:r>
          </a:p>
        </p:txBody>
      </p:sp>
      <p:sp>
        <p:nvSpPr>
          <p:cNvPr id="62" name="TextBox 61"/>
          <p:cNvSpPr txBox="1"/>
          <p:nvPr/>
        </p:nvSpPr>
        <p:spPr>
          <a:xfrm>
            <a:off x="2240280" y="4133088"/>
            <a:ext cx="9217151" cy="384048"/>
          </a:xfrm>
          <a:prstGeom prst="rect">
            <a:avLst/>
          </a:prstGeom>
          <a:noFill/>
        </p:spPr>
        <p:txBody>
          <a:bodyPr wrap="square" anchor="t" lIns="0" rIns="0" tIns="0" bIns="0">
            <a:spAutoFit/>
          </a:bodyPr>
          <a:lstStyle/>
          <a:p>
            <a:pPr algn="l">
              <a:lnSpc>
                <a:spcPct val="105000"/>
              </a:lnSpc>
            </a:pPr>
            <a:r>
              <a:rPr sz="780" b="0" i="0">
                <a:solidFill>
                  <a:srgbClr val="1A1A2E"/>
                </a:solidFill>
                <a:latin typeface="Calibri"/>
              </a:rPr>
              <a:t>Azure AI Content Safety groundedness detection for regulated RAG; Patronus Lynx and Cleanlab are both available as ready-made NeMo rails.</a:t>
            </a:r>
          </a:p>
        </p:txBody>
      </p:sp>
      <p:sp>
        <p:nvSpPr>
          <p:cNvPr id="63" name="TextBox 62"/>
          <p:cNvSpPr txBox="1"/>
          <p:nvPr/>
        </p:nvSpPr>
        <p:spPr>
          <a:xfrm>
            <a:off x="685800" y="455371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WHERE IT RUNS</a:t>
            </a:r>
          </a:p>
        </p:txBody>
      </p:sp>
      <p:sp>
        <p:nvSpPr>
          <p:cNvPr id="64" name="TextBox 63"/>
          <p:cNvSpPr txBox="1"/>
          <p:nvPr/>
        </p:nvSpPr>
        <p:spPr>
          <a:xfrm>
            <a:off x="2240280" y="4544568"/>
            <a:ext cx="9217151" cy="274320"/>
          </a:xfrm>
          <a:prstGeom prst="rect">
            <a:avLst/>
          </a:prstGeom>
          <a:noFill/>
        </p:spPr>
        <p:txBody>
          <a:bodyPr wrap="square" anchor="t" lIns="0" rIns="0" tIns="0" bIns="0">
            <a:spAutoFit/>
          </a:bodyPr>
          <a:lstStyle/>
          <a:p>
            <a:pPr algn="l">
              <a:lnSpc>
                <a:spcPct val="105000"/>
              </a:lnSpc>
            </a:pPr>
            <a:r>
              <a:rPr sz="780" b="1" i="0">
                <a:solidFill>
                  <a:srgbClr val="10243E"/>
                </a:solidFill>
                <a:latin typeface="Calibri"/>
              </a:rPr>
              <a:t>Stage 2 LLM Guard NLI on every RAG response  ·  Offline DeepEval, plus Giskard for its sycophancy check (unique in the set)</a:t>
            </a:r>
          </a:p>
        </p:txBody>
      </p:sp>
      <p:sp>
        <p:nvSpPr>
          <p:cNvPr id="65" name="Rounded Rectangle 64"/>
          <p:cNvSpPr/>
          <p:nvPr/>
        </p:nvSpPr>
        <p:spPr>
          <a:xfrm>
            <a:off x="502920" y="5029200"/>
            <a:ext cx="11155680" cy="475488"/>
          </a:xfrm>
          <a:prstGeom prst="roundRect">
            <a:avLst>
              <a:gd name="adj" fmla="val 4000"/>
            </a:avLst>
          </a:prstGeom>
          <a:solidFill>
            <a:srgbClr val="FDF6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667512" y="5056632"/>
            <a:ext cx="1737360" cy="182880"/>
          </a:xfrm>
          <a:prstGeom prst="rect">
            <a:avLst/>
          </a:prstGeom>
          <a:noFill/>
        </p:spPr>
        <p:txBody>
          <a:bodyPr wrap="square" anchor="t" lIns="0" rIns="0" tIns="0" bIns="0">
            <a:spAutoFit/>
          </a:bodyPr>
          <a:lstStyle/>
          <a:p>
            <a:pPr algn="l">
              <a:lnSpc>
                <a:spcPct val="100000"/>
              </a:lnSpc>
            </a:pPr>
            <a:r>
              <a:rPr sz="700" b="1" i="0">
                <a:solidFill>
                  <a:srgbClr val="E88C00"/>
                </a:solidFill>
                <a:latin typeface="Calibri"/>
              </a:rPr>
              <a:t>RECONCILED</a:t>
            </a:r>
          </a:p>
        </p:txBody>
      </p:sp>
      <p:sp>
        <p:nvSpPr>
          <p:cNvPr id="67" name="TextBox 66"/>
          <p:cNvSpPr txBox="1"/>
          <p:nvPr/>
        </p:nvSpPr>
        <p:spPr>
          <a:xfrm>
            <a:off x="2240280" y="5047488"/>
            <a:ext cx="9217151" cy="429768"/>
          </a:xfrm>
          <a:prstGeom prst="rect">
            <a:avLst/>
          </a:prstGeom>
          <a:noFill/>
        </p:spPr>
        <p:txBody>
          <a:bodyPr wrap="square" anchor="t" lIns="0" rIns="0" tIns="0" bIns="0">
            <a:spAutoFit/>
          </a:bodyPr>
          <a:lstStyle/>
          <a:p>
            <a:pPr algn="l">
              <a:lnSpc>
                <a:spcPct val="105000"/>
              </a:lnSpc>
            </a:pPr>
            <a:r>
              <a:rPr sz="760" b="0" i="0">
                <a:solidFill>
                  <a:srgbClr val="1A1A2E"/>
                </a:solidFill>
                <a:latin typeface="Calibri"/>
              </a:rPr>
              <a:t>The cheat sheet added Giskard to the runtime picture. Giskard v3 is LLM-judge based and needs a paid API, so it belongs in CI only - keep it, but never inline.</a:t>
            </a:r>
          </a:p>
        </p:txBody>
      </p:sp>
      <p:sp>
        <p:nvSpPr>
          <p:cNvPr id="68" name="Rounded Rectangle 67"/>
          <p:cNvSpPr/>
          <p:nvPr/>
        </p:nvSpPr>
        <p:spPr>
          <a:xfrm>
            <a:off x="502920" y="5586984"/>
            <a:ext cx="11155680" cy="420624"/>
          </a:xfrm>
          <a:prstGeom prst="roundRect">
            <a:avLst>
              <a:gd name="adj" fmla="val 10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731520" y="5586984"/>
            <a:ext cx="10698480" cy="420624"/>
          </a:xfrm>
          <a:prstGeom prst="rect">
            <a:avLst/>
          </a:prstGeom>
          <a:noFill/>
        </p:spPr>
        <p:txBody>
          <a:bodyPr wrap="square" anchor="ctr" lIns="0" rIns="0" tIns="0" bIns="0">
            <a:spAutoFit/>
          </a:bodyPr>
          <a:lstStyle/>
          <a:p>
            <a:pPr algn="ctr">
              <a:lnSpc>
                <a:spcPct val="105000"/>
              </a:lnSpc>
            </a:pPr>
            <a:r>
              <a:rPr sz="900" b="1" i="1">
                <a:solidFill>
                  <a:srgbClr val="FFFFFF"/>
                </a:solidFill>
                <a:latin typeface="Calibri"/>
              </a:rPr>
              <a:t>One cheap, local, always-on groundedness score in production; the expensive diagnostic metrics stay in CI, where they are affordable.</a:t>
            </a:r>
          </a:p>
        </p:txBody>
      </p:sp>
      <p:sp>
        <p:nvSpPr>
          <p:cNvPr id="70" name="Rectangle 6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72" name="TextBox 7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Tenet - Hallucination / Reliability</a:t>
            </a:r>
          </a:p>
        </p:txBody>
      </p:sp>
      <p:sp>
        <p:nvSpPr>
          <p:cNvPr id="73" name="TextBox 7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4A6380"/>
                </a:solidFill>
                <a:latin typeface="Calibri"/>
              </a:rPr>
              <a:t>TENET 7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Accountability &amp; Governance</a:t>
            </a:r>
          </a:p>
        </p:txBody>
      </p:sp>
      <p:sp>
        <p:nvSpPr>
          <p:cNvPr id="6" name="Rectangle 5"/>
          <p:cNvSpPr/>
          <p:nvPr/>
        </p:nvSpPr>
        <p:spPr>
          <a:xfrm>
            <a:off x="502920" y="1207008"/>
            <a:ext cx="2011680" cy="32004"/>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280160"/>
            <a:ext cx="64008" cy="131673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67512" y="1289304"/>
            <a:ext cx="1481328" cy="219456"/>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7512" y="1289304"/>
            <a:ext cx="1481328" cy="219456"/>
          </a:xfrm>
          <a:prstGeom prst="rect">
            <a:avLst/>
          </a:prstGeom>
          <a:noFill/>
        </p:spPr>
        <p:txBody>
          <a:bodyPr wrap="none" anchor="ctr" lIns="0" rIns="0" tIns="0" bIns="0">
            <a:spAutoFit/>
          </a:bodyPr>
          <a:lstStyle/>
          <a:p>
            <a:pPr algn="ctr">
              <a:lnSpc>
                <a:spcPct val="100000"/>
              </a:lnSpc>
            </a:pPr>
            <a:r>
              <a:rPr sz="850" b="1" i="0">
                <a:solidFill>
                  <a:srgbClr val="FFFFFF"/>
                </a:solidFill>
                <a:latin typeface="Calibri"/>
              </a:rPr>
              <a:t>OPEN-SOURCE</a:t>
            </a:r>
          </a:p>
        </p:txBody>
      </p:sp>
      <p:sp>
        <p:nvSpPr>
          <p:cNvPr id="10" name="TextBox 9"/>
          <p:cNvSpPr txBox="1"/>
          <p:nvPr/>
        </p:nvSpPr>
        <p:spPr>
          <a:xfrm>
            <a:off x="667512" y="1536192"/>
            <a:ext cx="5193792" cy="219456"/>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OpenGuardrails' Verdict/GuardEvent schema (Apache-2.0)</a:t>
            </a:r>
          </a:p>
        </p:txBody>
      </p:sp>
      <p:sp>
        <p:nvSpPr>
          <p:cNvPr id="11" name="TextBox 10"/>
          <p:cNvSpPr txBox="1"/>
          <p:nvPr/>
        </p:nvSpPr>
        <p:spPr>
          <a:xfrm>
            <a:off x="667512" y="1764792"/>
            <a:ext cx="5193792" cy="804671"/>
          </a:xfrm>
          <a:prstGeom prst="rect">
            <a:avLst/>
          </a:prstGeom>
          <a:noFill/>
        </p:spPr>
        <p:txBody>
          <a:bodyPr wrap="square" anchor="t" lIns="0" rIns="0" tIns="0" bIns="0">
            <a:spAutoFit/>
          </a:bodyPr>
          <a:lstStyle/>
          <a:p>
            <a:pPr algn="l">
              <a:lnSpc>
                <a:spcPct val="108000"/>
              </a:lnSpc>
            </a:pPr>
            <a:r>
              <a:rPr sz="819" b="0" i="0">
                <a:solidFill>
                  <a:srgbClr val="1A1A2E"/>
                </a:solidFill>
                <a:latin typeface="Calibri"/>
              </a:rPr>
              <a:t>Contributes no detector at all, and that is exactly its value: a vendor-neutral contract (category, severity, score, redaction span, and an explicit “unjudged” state) that lets AFNI swap any detector later without touching application code. PyRIT's memory store and DeepTeam's OWASP/NIST/MITRE/EU-AI-Act framework mapping turn red-team runs into governance-ready evidence.</a:t>
            </a:r>
          </a:p>
        </p:txBody>
      </p:sp>
      <p:sp>
        <p:nvSpPr>
          <p:cNvPr id="12" name="Rectangle 11"/>
          <p:cNvSpPr/>
          <p:nvPr/>
        </p:nvSpPr>
        <p:spPr>
          <a:xfrm>
            <a:off x="6245352" y="1280160"/>
            <a:ext cx="64008" cy="1316736"/>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409944" y="1289304"/>
            <a:ext cx="1481328" cy="219456"/>
          </a:xfrm>
          <a:prstGeom prst="roundRect">
            <a:avLst>
              <a:gd name="adj" fmla="val 22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9944" y="1289304"/>
            <a:ext cx="1481328" cy="219456"/>
          </a:xfrm>
          <a:prstGeom prst="rect">
            <a:avLst/>
          </a:prstGeom>
          <a:noFill/>
        </p:spPr>
        <p:txBody>
          <a:bodyPr wrap="none" anchor="ctr" lIns="0" rIns="0" tIns="0" bIns="0">
            <a:spAutoFit/>
          </a:bodyPr>
          <a:lstStyle/>
          <a:p>
            <a:pPr algn="ctr">
              <a:lnSpc>
                <a:spcPct val="100000"/>
              </a:lnSpc>
            </a:pPr>
            <a:r>
              <a:rPr sz="850" b="1" i="0">
                <a:solidFill>
                  <a:srgbClr val="FFFFFF"/>
                </a:solidFill>
                <a:latin typeface="Calibri"/>
              </a:rPr>
              <a:t>CLOUD &amp; PAID</a:t>
            </a:r>
          </a:p>
        </p:txBody>
      </p:sp>
      <p:sp>
        <p:nvSpPr>
          <p:cNvPr id="15" name="TextBox 14"/>
          <p:cNvSpPr txBox="1"/>
          <p:nvPr/>
        </p:nvSpPr>
        <p:spPr>
          <a:xfrm>
            <a:off x="6409944" y="1536192"/>
            <a:ext cx="5193792" cy="219456"/>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Azure Monitor / Application Insights + Monitaur or Fiddler AI</a:t>
            </a:r>
          </a:p>
        </p:txBody>
      </p:sp>
      <p:sp>
        <p:nvSpPr>
          <p:cNvPr id="16" name="TextBox 15"/>
          <p:cNvSpPr txBox="1"/>
          <p:nvPr/>
        </p:nvSpPr>
        <p:spPr>
          <a:xfrm>
            <a:off x="6409944" y="1764792"/>
            <a:ext cx="5193792" cy="804671"/>
          </a:xfrm>
          <a:prstGeom prst="rect">
            <a:avLst/>
          </a:prstGeom>
          <a:noFill/>
        </p:spPr>
        <p:txBody>
          <a:bodyPr wrap="square" anchor="t" lIns="0" rIns="0" tIns="0" bIns="0">
            <a:spAutoFit/>
          </a:bodyPr>
          <a:lstStyle/>
          <a:p>
            <a:pPr algn="l">
              <a:lnSpc>
                <a:spcPct val="108000"/>
              </a:lnSpc>
            </a:pPr>
            <a:r>
              <a:rPr sz="819" b="0" i="0">
                <a:solidFill>
                  <a:srgbClr val="1A1A2E"/>
                </a:solidFill>
                <a:latin typeface="Calibri"/>
              </a:rPr>
              <a:t>Azure Monitor and Application Insights (or Azure AI Foundry Observability) give production audit trails and OpenTelemetry tracing at Azure-native cost. Monitaur or Fiddler AI are worth the spend only if AFNI wants a dedicated, vendor-managed AI-governance record store.</a:t>
            </a:r>
          </a:p>
        </p:txBody>
      </p:sp>
      <p:sp>
        <p:nvSpPr>
          <p:cNvPr id="17" name="TextBox 16"/>
          <p:cNvSpPr txBox="1"/>
          <p:nvPr/>
        </p:nvSpPr>
        <p:spPr>
          <a:xfrm>
            <a:off x="502920" y="2688336"/>
            <a:ext cx="3840480" cy="182880"/>
          </a:xfrm>
          <a:prstGeom prst="rect">
            <a:avLst/>
          </a:prstGeom>
          <a:noFill/>
        </p:spPr>
        <p:txBody>
          <a:bodyPr wrap="square" anchor="t" lIns="0" rIns="0" tIns="0" bIns="0">
            <a:spAutoFit/>
          </a:bodyPr>
          <a:lstStyle/>
          <a:p>
            <a:pPr algn="l">
              <a:lnSpc>
                <a:spcPct val="100000"/>
              </a:lnSpc>
            </a:pPr>
            <a:r>
              <a:rPr sz="800" b="1" i="0">
                <a:solidFill>
                  <a:srgbClr val="5B6B7D"/>
                </a:solidFill>
                <a:latin typeface="Calibri"/>
              </a:rPr>
              <a:t>ALL OPTIONS FOUND (of the 23 reviewed)</a:t>
            </a:r>
          </a:p>
        </p:txBody>
      </p:sp>
      <p:sp>
        <p:nvSpPr>
          <p:cNvPr id="18" name="Rounded Rectangle 17"/>
          <p:cNvSpPr/>
          <p:nvPr/>
        </p:nvSpPr>
        <p:spPr>
          <a:xfrm>
            <a:off x="502920" y="2889504"/>
            <a:ext cx="905256"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2920" y="2889504"/>
            <a:ext cx="90525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OpenGuardrails</a:t>
            </a:r>
          </a:p>
        </p:txBody>
      </p:sp>
      <p:sp>
        <p:nvSpPr>
          <p:cNvPr id="20" name="Rounded Rectangle 19"/>
          <p:cNvSpPr/>
          <p:nvPr/>
        </p:nvSpPr>
        <p:spPr>
          <a:xfrm>
            <a:off x="1463040" y="2889504"/>
            <a:ext cx="45262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63040" y="2889504"/>
            <a:ext cx="452628"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PyRIT</a:t>
            </a:r>
          </a:p>
        </p:txBody>
      </p:sp>
      <p:sp>
        <p:nvSpPr>
          <p:cNvPr id="22" name="Rounded Rectangle 21"/>
          <p:cNvSpPr/>
          <p:nvPr/>
        </p:nvSpPr>
        <p:spPr>
          <a:xfrm>
            <a:off x="1970532" y="2889504"/>
            <a:ext cx="653796"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970532" y="2889504"/>
            <a:ext cx="65379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Promptfoo</a:t>
            </a:r>
          </a:p>
        </p:txBody>
      </p:sp>
      <p:sp>
        <p:nvSpPr>
          <p:cNvPr id="24" name="Rounded Rectangle 23"/>
          <p:cNvSpPr/>
          <p:nvPr/>
        </p:nvSpPr>
        <p:spPr>
          <a:xfrm>
            <a:off x="2679192" y="2889504"/>
            <a:ext cx="854964"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679192" y="2889504"/>
            <a:ext cx="85496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Guardrails AI</a:t>
            </a:r>
          </a:p>
        </p:txBody>
      </p:sp>
      <p:sp>
        <p:nvSpPr>
          <p:cNvPr id="26" name="Rounded Rectangle 25"/>
          <p:cNvSpPr/>
          <p:nvPr/>
        </p:nvSpPr>
        <p:spPr>
          <a:xfrm>
            <a:off x="3589020" y="2889504"/>
            <a:ext cx="955547"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589020" y="2889504"/>
            <a:ext cx="955547"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Safe Zone (TSZ)</a:t>
            </a:r>
          </a:p>
        </p:txBody>
      </p:sp>
      <p:sp>
        <p:nvSpPr>
          <p:cNvPr id="28" name="Rounded Rectangle 27"/>
          <p:cNvSpPr/>
          <p:nvPr/>
        </p:nvSpPr>
        <p:spPr>
          <a:xfrm>
            <a:off x="4599431" y="2889504"/>
            <a:ext cx="704088"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599431" y="2889504"/>
            <a:ext cx="704088"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Deepchecks</a:t>
            </a:r>
          </a:p>
        </p:txBody>
      </p:sp>
      <p:sp>
        <p:nvSpPr>
          <p:cNvPr id="30" name="Rounded Rectangle 29"/>
          <p:cNvSpPr/>
          <p:nvPr/>
        </p:nvSpPr>
        <p:spPr>
          <a:xfrm>
            <a:off x="5358383" y="2889504"/>
            <a:ext cx="553212"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58383" y="2889504"/>
            <a:ext cx="553212"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Giskard</a:t>
            </a:r>
          </a:p>
        </p:txBody>
      </p:sp>
      <p:sp>
        <p:nvSpPr>
          <p:cNvPr id="32" name="Rounded Rectangle 31"/>
          <p:cNvSpPr/>
          <p:nvPr/>
        </p:nvSpPr>
        <p:spPr>
          <a:xfrm>
            <a:off x="5966459" y="2889504"/>
            <a:ext cx="603504"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966459" y="2889504"/>
            <a:ext cx="60350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DeepEval</a:t>
            </a:r>
          </a:p>
        </p:txBody>
      </p:sp>
      <p:sp>
        <p:nvSpPr>
          <p:cNvPr id="34" name="Rounded Rectangle 33"/>
          <p:cNvSpPr/>
          <p:nvPr/>
        </p:nvSpPr>
        <p:spPr>
          <a:xfrm>
            <a:off x="6624827" y="2889504"/>
            <a:ext cx="603504"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624827" y="2889504"/>
            <a:ext cx="60350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DeepTeam</a:t>
            </a:r>
          </a:p>
        </p:txBody>
      </p:sp>
      <p:sp>
        <p:nvSpPr>
          <p:cNvPr id="36" name="Rounded Rectangle 35"/>
          <p:cNvSpPr/>
          <p:nvPr/>
        </p:nvSpPr>
        <p:spPr>
          <a:xfrm>
            <a:off x="7283195" y="2889504"/>
            <a:ext cx="955547"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283195" y="2889504"/>
            <a:ext cx="955547"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NeMo Guardrails</a:t>
            </a:r>
          </a:p>
        </p:txBody>
      </p:sp>
      <p:sp>
        <p:nvSpPr>
          <p:cNvPr id="38" name="Rounded Rectangle 37"/>
          <p:cNvSpPr/>
          <p:nvPr/>
        </p:nvSpPr>
        <p:spPr>
          <a:xfrm>
            <a:off x="8293607" y="2889504"/>
            <a:ext cx="502920"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8293607" y="2889504"/>
            <a:ext cx="502920"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Rebuff</a:t>
            </a:r>
          </a:p>
        </p:txBody>
      </p:sp>
      <p:sp>
        <p:nvSpPr>
          <p:cNvPr id="40" name="Rounded Rectangle 39"/>
          <p:cNvSpPr/>
          <p:nvPr/>
        </p:nvSpPr>
        <p:spPr>
          <a:xfrm>
            <a:off x="8851391" y="2889504"/>
            <a:ext cx="804672"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8851391" y="2889504"/>
            <a:ext cx="804672"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OpenAI Evals</a:t>
            </a:r>
          </a:p>
        </p:txBody>
      </p:sp>
      <p:sp>
        <p:nvSpPr>
          <p:cNvPr id="42" name="Rounded Rectangle 41"/>
          <p:cNvSpPr/>
          <p:nvPr/>
        </p:nvSpPr>
        <p:spPr>
          <a:xfrm>
            <a:off x="9710927" y="2889504"/>
            <a:ext cx="1005840"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710927" y="2889504"/>
            <a:ext cx="1005840"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Agentic Security</a:t>
            </a:r>
          </a:p>
        </p:txBody>
      </p:sp>
      <p:sp>
        <p:nvSpPr>
          <p:cNvPr id="44" name="Rounded Rectangle 43"/>
          <p:cNvSpPr/>
          <p:nvPr/>
        </p:nvSpPr>
        <p:spPr>
          <a:xfrm>
            <a:off x="502920" y="3118104"/>
            <a:ext cx="1156716"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02920" y="3118104"/>
            <a:ext cx="115671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Infosys RAI Toolkit</a:t>
            </a:r>
          </a:p>
        </p:txBody>
      </p:sp>
      <p:sp>
        <p:nvSpPr>
          <p:cNvPr id="46" name="Rounded Rectangle 45"/>
          <p:cNvSpPr/>
          <p:nvPr/>
        </p:nvSpPr>
        <p:spPr>
          <a:xfrm>
            <a:off x="1714500" y="3118104"/>
            <a:ext cx="502920"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1714500" y="3118104"/>
            <a:ext cx="502920"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AIF360</a:t>
            </a:r>
          </a:p>
        </p:txBody>
      </p:sp>
      <p:sp>
        <p:nvSpPr>
          <p:cNvPr id="48" name="Rounded Rectangle 47"/>
          <p:cNvSpPr/>
          <p:nvPr/>
        </p:nvSpPr>
        <p:spPr>
          <a:xfrm>
            <a:off x="2272284" y="3118104"/>
            <a:ext cx="402335"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2272284" y="3118104"/>
            <a:ext cx="402335"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SHAP</a:t>
            </a:r>
          </a:p>
        </p:txBody>
      </p:sp>
      <p:sp>
        <p:nvSpPr>
          <p:cNvPr id="50" name="Rounded Rectangle 49"/>
          <p:cNvSpPr/>
          <p:nvPr/>
        </p:nvSpPr>
        <p:spPr>
          <a:xfrm>
            <a:off x="2729484" y="3118104"/>
            <a:ext cx="653796"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729484" y="3118104"/>
            <a:ext cx="65379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LLM Guard</a:t>
            </a:r>
          </a:p>
        </p:txBody>
      </p:sp>
      <p:sp>
        <p:nvSpPr>
          <p:cNvPr id="52" name="Rounded Rectangle 51"/>
          <p:cNvSpPr/>
          <p:nvPr/>
        </p:nvSpPr>
        <p:spPr>
          <a:xfrm>
            <a:off x="3438144" y="3118104"/>
            <a:ext cx="352044"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3438144" y="3118104"/>
            <a:ext cx="352044"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JCB</a:t>
            </a:r>
          </a:p>
        </p:txBody>
      </p:sp>
      <p:sp>
        <p:nvSpPr>
          <p:cNvPr id="54" name="Rounded Rectangle 53"/>
          <p:cNvSpPr/>
          <p:nvPr/>
        </p:nvSpPr>
        <p:spPr>
          <a:xfrm>
            <a:off x="3845052" y="3118104"/>
            <a:ext cx="653796"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3845052" y="3118104"/>
            <a:ext cx="65379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LLMFuzzer</a:t>
            </a:r>
          </a:p>
        </p:txBody>
      </p:sp>
      <p:sp>
        <p:nvSpPr>
          <p:cNvPr id="56" name="Rounded Rectangle 55"/>
          <p:cNvSpPr/>
          <p:nvPr/>
        </p:nvSpPr>
        <p:spPr>
          <a:xfrm>
            <a:off x="4553712" y="3118104"/>
            <a:ext cx="905256" cy="256032"/>
          </a:xfrm>
          <a:prstGeom prst="roundRect">
            <a:avLst>
              <a:gd name="adj" fmla="val 50000"/>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4553712" y="3118104"/>
            <a:ext cx="905256" cy="256032"/>
          </a:xfrm>
          <a:prstGeom prst="rect">
            <a:avLst/>
          </a:prstGeom>
          <a:noFill/>
        </p:spPr>
        <p:txBody>
          <a:bodyPr wrap="none" anchor="ctr" lIns="0" rIns="0" tIns="0" bIns="0">
            <a:spAutoFit/>
          </a:bodyPr>
          <a:lstStyle/>
          <a:p>
            <a:pPr algn="ctr">
              <a:lnSpc>
                <a:spcPct val="100000"/>
              </a:lnSpc>
            </a:pPr>
            <a:r>
              <a:rPr sz="750" b="1" i="0">
                <a:solidFill>
                  <a:srgbClr val="FFFFFF"/>
                </a:solidFill>
                <a:latin typeface="Calibri"/>
              </a:rPr>
              <a:t>hai-guardrails</a:t>
            </a:r>
          </a:p>
        </p:txBody>
      </p:sp>
      <p:sp>
        <p:nvSpPr>
          <p:cNvPr id="58" name="Rounded Rectangle 57"/>
          <p:cNvSpPr/>
          <p:nvPr/>
        </p:nvSpPr>
        <p:spPr>
          <a:xfrm>
            <a:off x="502920" y="3429000"/>
            <a:ext cx="11155680" cy="1517904"/>
          </a:xfrm>
          <a:prstGeom prst="roundRect">
            <a:avLst>
              <a:gd name="adj" fmla="val 5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502920" y="3429000"/>
            <a:ext cx="64008" cy="151790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667512" y="3456432"/>
            <a:ext cx="2286000" cy="228600"/>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667512" y="3456432"/>
            <a:ext cx="2286000" cy="228600"/>
          </a:xfrm>
          <a:prstGeom prst="rect">
            <a:avLst/>
          </a:prstGeom>
          <a:noFill/>
        </p:spPr>
        <p:txBody>
          <a:bodyPr wrap="none" anchor="ctr" lIns="0" rIns="0" tIns="0" bIns="0">
            <a:spAutoFit/>
          </a:bodyPr>
          <a:lstStyle/>
          <a:p>
            <a:pPr algn="ctr">
              <a:lnSpc>
                <a:spcPct val="100000"/>
              </a:lnSpc>
            </a:pPr>
            <a:r>
              <a:rPr sz="869" b="1" i="0">
                <a:solidFill>
                  <a:srgbClr val="FFFFFF"/>
                </a:solidFill>
                <a:latin typeface="Calibri"/>
              </a:rPr>
              <a:t>AFNI RECOMMENDATION</a:t>
            </a:r>
          </a:p>
        </p:txBody>
      </p:sp>
      <p:sp>
        <p:nvSpPr>
          <p:cNvPr id="62" name="TextBox 61"/>
          <p:cNvSpPr txBox="1"/>
          <p:nvPr/>
        </p:nvSpPr>
        <p:spPr>
          <a:xfrm>
            <a:off x="3081528" y="3474720"/>
            <a:ext cx="914400" cy="182880"/>
          </a:xfrm>
          <a:prstGeom prst="rect">
            <a:avLst/>
          </a:prstGeom>
          <a:noFill/>
        </p:spPr>
        <p:txBody>
          <a:bodyPr wrap="square" anchor="t" lIns="0" rIns="0" tIns="0" bIns="0">
            <a:spAutoFit/>
          </a:bodyPr>
          <a:lstStyle/>
          <a:p>
            <a:pPr algn="l">
              <a:lnSpc>
                <a:spcPct val="100000"/>
              </a:lnSpc>
            </a:pPr>
            <a:r>
              <a:rPr sz="750" b="1" i="0">
                <a:solidFill>
                  <a:srgbClr val="5B6B7D"/>
                </a:solidFill>
                <a:latin typeface="Calibri"/>
              </a:rPr>
              <a:t>ADOPT</a:t>
            </a:r>
          </a:p>
        </p:txBody>
      </p:sp>
      <p:sp>
        <p:nvSpPr>
          <p:cNvPr id="63" name="Rounded Rectangle 62"/>
          <p:cNvSpPr/>
          <p:nvPr/>
        </p:nvSpPr>
        <p:spPr>
          <a:xfrm>
            <a:off x="3739896" y="3438144"/>
            <a:ext cx="1177747"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739896" y="3438144"/>
            <a:ext cx="1177747"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OpenGuardrails</a:t>
            </a:r>
          </a:p>
        </p:txBody>
      </p:sp>
      <p:sp>
        <p:nvSpPr>
          <p:cNvPr id="65" name="Rounded Rectangle 64"/>
          <p:cNvSpPr/>
          <p:nvPr/>
        </p:nvSpPr>
        <p:spPr>
          <a:xfrm>
            <a:off x="4999939" y="3438144"/>
            <a:ext cx="585216"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4999939" y="3438144"/>
            <a:ext cx="585216"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PyRIT</a:t>
            </a:r>
          </a:p>
        </p:txBody>
      </p:sp>
      <p:sp>
        <p:nvSpPr>
          <p:cNvPr id="67" name="Rounded Rectangle 66"/>
          <p:cNvSpPr/>
          <p:nvPr/>
        </p:nvSpPr>
        <p:spPr>
          <a:xfrm>
            <a:off x="5667451" y="3438144"/>
            <a:ext cx="848563" cy="246888"/>
          </a:xfrm>
          <a:prstGeom prst="roundRect">
            <a:avLst>
              <a:gd name="adj" fmla="val 2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5667451" y="3438144"/>
            <a:ext cx="848563" cy="246888"/>
          </a:xfrm>
          <a:prstGeom prst="rect">
            <a:avLst/>
          </a:prstGeom>
          <a:noFill/>
        </p:spPr>
        <p:txBody>
          <a:bodyPr wrap="none" anchor="ctr" lIns="0" rIns="0" tIns="0" bIns="0">
            <a:spAutoFit/>
          </a:bodyPr>
          <a:lstStyle/>
          <a:p>
            <a:pPr algn="ctr">
              <a:lnSpc>
                <a:spcPct val="100000"/>
              </a:lnSpc>
            </a:pPr>
            <a:r>
              <a:rPr sz="900" b="1" i="0">
                <a:solidFill>
                  <a:srgbClr val="FFFFFF"/>
                </a:solidFill>
                <a:latin typeface="Calibri"/>
              </a:rPr>
              <a:t>Promptfoo</a:t>
            </a:r>
          </a:p>
        </p:txBody>
      </p:sp>
      <p:sp>
        <p:nvSpPr>
          <p:cNvPr id="69" name="TextBox 68"/>
          <p:cNvSpPr txBox="1"/>
          <p:nvPr/>
        </p:nvSpPr>
        <p:spPr>
          <a:xfrm>
            <a:off x="685800" y="373075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ENGINE UNDER IT</a:t>
            </a:r>
          </a:p>
        </p:txBody>
      </p:sp>
      <p:sp>
        <p:nvSpPr>
          <p:cNvPr id="70" name="TextBox 69"/>
          <p:cNvSpPr txBox="1"/>
          <p:nvPr/>
        </p:nvSpPr>
        <p:spPr>
          <a:xfrm>
            <a:off x="2240280" y="3721608"/>
            <a:ext cx="9217151" cy="384048"/>
          </a:xfrm>
          <a:prstGeom prst="rect">
            <a:avLst/>
          </a:prstGeom>
          <a:noFill/>
        </p:spPr>
        <p:txBody>
          <a:bodyPr wrap="square" anchor="t" lIns="0" rIns="0" tIns="0" bIns="0">
            <a:spAutoFit/>
          </a:bodyPr>
          <a:lstStyle/>
          <a:p>
            <a:pPr algn="l">
              <a:lnSpc>
                <a:spcPct val="105000"/>
              </a:lnSpc>
            </a:pPr>
            <a:r>
              <a:rPr sz="780" b="0" i="0">
                <a:solidFill>
                  <a:srgbClr val="1A1A2E"/>
                </a:solidFill>
                <a:latin typeface="Calibri"/>
              </a:rPr>
              <a:t>The OpenGuardrails GuardEvent/Verdict schema as AFNI's record shape - pin it, the protocol is v0.8 and pre-1.0. PyRIT's memory store and its scorer_evaluation tooling with Krippendorff's alpha give a measured detector accuracy rather than a vendor claim.</a:t>
            </a:r>
          </a:p>
        </p:txBody>
      </p:sp>
      <p:sp>
        <p:nvSpPr>
          <p:cNvPr id="71" name="TextBox 70"/>
          <p:cNvSpPr txBox="1"/>
          <p:nvPr/>
        </p:nvSpPr>
        <p:spPr>
          <a:xfrm>
            <a:off x="685800" y="414223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CLOUD SECOND OPINION</a:t>
            </a:r>
          </a:p>
        </p:txBody>
      </p:sp>
      <p:sp>
        <p:nvSpPr>
          <p:cNvPr id="72" name="TextBox 71"/>
          <p:cNvSpPr txBox="1"/>
          <p:nvPr/>
        </p:nvSpPr>
        <p:spPr>
          <a:xfrm>
            <a:off x="2240280" y="4133088"/>
            <a:ext cx="9217151" cy="384048"/>
          </a:xfrm>
          <a:prstGeom prst="rect">
            <a:avLst/>
          </a:prstGeom>
          <a:noFill/>
        </p:spPr>
        <p:txBody>
          <a:bodyPr wrap="square" anchor="t" lIns="0" rIns="0" tIns="0" bIns="0">
            <a:spAutoFit/>
          </a:bodyPr>
          <a:lstStyle/>
          <a:p>
            <a:pPr algn="l">
              <a:lnSpc>
                <a:spcPct val="105000"/>
              </a:lnSpc>
            </a:pPr>
            <a:r>
              <a:rPr sz="780" b="0" i="0">
                <a:solidFill>
                  <a:srgbClr val="1A1A2E"/>
                </a:solidFill>
                <a:latin typeface="Calibri"/>
              </a:rPr>
              <a:t>Azure Monitor and Application Insights for the production audit trail and OpenTelemetry tracing. Monitaur or Fiddler only for a dedicated managed governance record store.</a:t>
            </a:r>
          </a:p>
        </p:txBody>
      </p:sp>
      <p:sp>
        <p:nvSpPr>
          <p:cNvPr id="73" name="TextBox 72"/>
          <p:cNvSpPr txBox="1"/>
          <p:nvPr/>
        </p:nvSpPr>
        <p:spPr>
          <a:xfrm>
            <a:off x="685800" y="4553712"/>
            <a:ext cx="1481328" cy="164592"/>
          </a:xfrm>
          <a:prstGeom prst="rect">
            <a:avLst/>
          </a:prstGeom>
          <a:noFill/>
        </p:spPr>
        <p:txBody>
          <a:bodyPr wrap="square" anchor="t" lIns="0" rIns="0" tIns="0" bIns="0">
            <a:spAutoFit/>
          </a:bodyPr>
          <a:lstStyle/>
          <a:p>
            <a:pPr algn="l">
              <a:lnSpc>
                <a:spcPct val="100000"/>
              </a:lnSpc>
            </a:pPr>
            <a:r>
              <a:rPr sz="700" b="1" i="0">
                <a:solidFill>
                  <a:srgbClr val="1B9AAA"/>
                </a:solidFill>
                <a:latin typeface="Calibri"/>
              </a:rPr>
              <a:t>WHERE IT RUNS</a:t>
            </a:r>
          </a:p>
        </p:txBody>
      </p:sp>
      <p:sp>
        <p:nvSpPr>
          <p:cNvPr id="74" name="TextBox 73"/>
          <p:cNvSpPr txBox="1"/>
          <p:nvPr/>
        </p:nvSpPr>
        <p:spPr>
          <a:xfrm>
            <a:off x="2240280" y="4544568"/>
            <a:ext cx="9217151" cy="274320"/>
          </a:xfrm>
          <a:prstGeom prst="rect">
            <a:avLst/>
          </a:prstGeom>
          <a:noFill/>
        </p:spPr>
        <p:txBody>
          <a:bodyPr wrap="square" anchor="t" lIns="0" rIns="0" tIns="0" bIns="0">
            <a:spAutoFit/>
          </a:bodyPr>
          <a:lstStyle/>
          <a:p>
            <a:pPr algn="l">
              <a:lnSpc>
                <a:spcPct val="105000"/>
              </a:lnSpc>
            </a:pPr>
            <a:r>
              <a:rPr sz="780" b="1" i="0">
                <a:solidFill>
                  <a:srgbClr val="10243E"/>
                </a:solidFill>
                <a:latin typeface="Calibri"/>
              </a:rPr>
              <a:t>Stage 1 emit the verdict schema on every decision, live or offline  ·  Offline Promptfoo generates the compliance pack from CI artefacts</a:t>
            </a:r>
          </a:p>
        </p:txBody>
      </p:sp>
      <p:sp>
        <p:nvSpPr>
          <p:cNvPr id="75" name="Rounded Rectangle 74"/>
          <p:cNvSpPr/>
          <p:nvPr/>
        </p:nvSpPr>
        <p:spPr>
          <a:xfrm>
            <a:off x="502920" y="5029200"/>
            <a:ext cx="11155680" cy="475488"/>
          </a:xfrm>
          <a:prstGeom prst="roundRect">
            <a:avLst>
              <a:gd name="adj" fmla="val 4000"/>
            </a:avLst>
          </a:prstGeom>
          <a:solidFill>
            <a:srgbClr val="FDF6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667512" y="5056632"/>
            <a:ext cx="1737360" cy="182880"/>
          </a:xfrm>
          <a:prstGeom prst="rect">
            <a:avLst/>
          </a:prstGeom>
          <a:noFill/>
        </p:spPr>
        <p:txBody>
          <a:bodyPr wrap="square" anchor="t" lIns="0" rIns="0" tIns="0" bIns="0">
            <a:spAutoFit/>
          </a:bodyPr>
          <a:lstStyle/>
          <a:p>
            <a:pPr algn="l">
              <a:lnSpc>
                <a:spcPct val="100000"/>
              </a:lnSpc>
            </a:pPr>
            <a:r>
              <a:rPr sz="700" b="1" i="0">
                <a:solidFill>
                  <a:srgbClr val="E88C00"/>
                </a:solidFill>
                <a:latin typeface="Calibri"/>
              </a:rPr>
              <a:t>RECONCILED</a:t>
            </a:r>
          </a:p>
        </p:txBody>
      </p:sp>
      <p:sp>
        <p:nvSpPr>
          <p:cNvPr id="77" name="TextBox 76"/>
          <p:cNvSpPr txBox="1"/>
          <p:nvPr/>
        </p:nvSpPr>
        <p:spPr>
          <a:xfrm>
            <a:off x="2240280" y="5047488"/>
            <a:ext cx="9217151" cy="429768"/>
          </a:xfrm>
          <a:prstGeom prst="rect">
            <a:avLst/>
          </a:prstGeom>
          <a:noFill/>
        </p:spPr>
        <p:txBody>
          <a:bodyPr wrap="square" anchor="t" lIns="0" rIns="0" tIns="0" bIns="0">
            <a:spAutoFit/>
          </a:bodyPr>
          <a:lstStyle/>
          <a:p>
            <a:pPr algn="l">
              <a:lnSpc>
                <a:spcPct val="105000"/>
              </a:lnSpc>
            </a:pPr>
            <a:r>
              <a:rPr sz="760" b="0" i="0">
                <a:solidFill>
                  <a:srgbClr val="1A1A2E"/>
                </a:solidFill>
                <a:latin typeface="Calibri"/>
              </a:rPr>
              <a:t>REAL DISAGREEMENT, now settled: the cheat sheet named DeepTeam, the recommendation slide named Promptfoo. Promptfoo wins - it maps 6 frameworks (OWASP LLM, NIST AI RMF, MITRE ATLAS, EU AI Act, ISO 42001, GDPR) against DeepTeam's 5, and PyRIT ships no report generator at all. DeepTeam stays as a secondary source of agentic findings.</a:t>
            </a:r>
          </a:p>
        </p:txBody>
      </p:sp>
      <p:sp>
        <p:nvSpPr>
          <p:cNvPr id="78" name="Rounded Rectangle 77"/>
          <p:cNvSpPr/>
          <p:nvPr/>
        </p:nvSpPr>
        <p:spPr>
          <a:xfrm>
            <a:off x="502920" y="5586984"/>
            <a:ext cx="11155680" cy="420624"/>
          </a:xfrm>
          <a:prstGeom prst="roundRect">
            <a:avLst>
              <a:gd name="adj" fmla="val 10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731520" y="5586984"/>
            <a:ext cx="10698480" cy="420624"/>
          </a:xfrm>
          <a:prstGeom prst="rect">
            <a:avLst/>
          </a:prstGeom>
          <a:noFill/>
        </p:spPr>
        <p:txBody>
          <a:bodyPr wrap="square" anchor="ctr" lIns="0" rIns="0" tIns="0" bIns="0">
            <a:spAutoFit/>
          </a:bodyPr>
          <a:lstStyle/>
          <a:p>
            <a:pPr algn="ctr">
              <a:lnSpc>
                <a:spcPct val="105000"/>
              </a:lnSpc>
            </a:pPr>
            <a:r>
              <a:rPr sz="900" b="1" i="1">
                <a:solidFill>
                  <a:srgbClr val="FFFFFF"/>
                </a:solidFill>
                <a:latin typeface="Calibri"/>
              </a:rPr>
              <a:t>A loud-failure policy: any check that could not run is reported as unjudged, never silently passed, and the gateway fails closed on client-facing traffic.</a:t>
            </a:r>
          </a:p>
        </p:txBody>
      </p:sp>
      <p:sp>
        <p:nvSpPr>
          <p:cNvPr id="80" name="Rectangle 7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82" name="TextBox 8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Tenet - Accountability</a:t>
            </a:r>
          </a:p>
        </p:txBody>
      </p:sp>
      <p:sp>
        <p:nvSpPr>
          <p:cNvPr id="83" name="TextBox 8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45</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880360"/>
            <a:ext cx="5486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058400" cy="365760"/>
          </a:xfrm>
          <a:prstGeom prst="rect">
            <a:avLst/>
          </a:prstGeom>
          <a:noFill/>
        </p:spPr>
        <p:txBody>
          <a:bodyPr wrap="square" anchor="t" lIns="0" rIns="0" tIns="0" bIns="0">
            <a:spAutoFit/>
          </a:bodyPr>
          <a:lstStyle/>
          <a:p>
            <a:pPr algn="l">
              <a:lnSpc>
                <a:spcPct val="100000"/>
              </a:lnSpc>
            </a:pPr>
            <a:r>
              <a:rPr sz="1400" b="1" i="0">
                <a:solidFill>
                  <a:srgbClr val="1B9AAA"/>
                </a:solidFill>
                <a:latin typeface="Calibri"/>
              </a:rPr>
              <a:t>SECTION</a:t>
            </a:r>
          </a:p>
        </p:txBody>
      </p:sp>
      <p:sp>
        <p:nvSpPr>
          <p:cNvPr id="6" name="TextBox 5"/>
          <p:cNvSpPr txBox="1"/>
          <p:nvPr/>
        </p:nvSpPr>
        <p:spPr>
          <a:xfrm>
            <a:off x="777240" y="3017520"/>
            <a:ext cx="10607040" cy="1005840"/>
          </a:xfrm>
          <a:prstGeom prst="rect">
            <a:avLst/>
          </a:prstGeom>
          <a:noFill/>
        </p:spPr>
        <p:txBody>
          <a:bodyPr wrap="square" anchor="t" lIns="0" rIns="0" tIns="0" bIns="0">
            <a:spAutoFit/>
          </a:bodyPr>
          <a:lstStyle/>
          <a:p>
            <a:pPr algn="l">
              <a:lnSpc>
                <a:spcPct val="100000"/>
              </a:lnSpc>
            </a:pPr>
            <a:r>
              <a:rPr sz="3400" b="1" i="0">
                <a:solidFill>
                  <a:srgbClr val="FFFFFF"/>
                </a:solidFill>
                <a:latin typeface="Calibri"/>
              </a:rPr>
              <a:t>Detailed Capability Matrix</a:t>
            </a:r>
          </a:p>
        </p:txBody>
      </p:sp>
      <p:sp>
        <p:nvSpPr>
          <p:cNvPr id="7" name="TextBox 6"/>
          <p:cNvSpPr txBox="1"/>
          <p:nvPr/>
        </p:nvSpPr>
        <p:spPr>
          <a:xfrm>
            <a:off x="822960" y="3977639"/>
            <a:ext cx="9875520" cy="731520"/>
          </a:xfrm>
          <a:prstGeom prst="rect">
            <a:avLst/>
          </a:prstGeom>
          <a:noFill/>
        </p:spPr>
        <p:txBody>
          <a:bodyPr wrap="square" anchor="t" lIns="0" rIns="0" tIns="0" bIns="0">
            <a:spAutoFit/>
          </a:bodyPr>
          <a:lstStyle/>
          <a:p>
            <a:pPr algn="l">
              <a:lnSpc>
                <a:spcPct val="125000"/>
              </a:lnSpc>
            </a:pPr>
            <a:r>
              <a:rPr sz="1400" b="0" i="0">
                <a:solidFill>
                  <a:srgbClr val="CFDAE6"/>
                </a:solidFill>
                <a:latin typeface="Calibri"/>
              </a:rPr>
              <a:t>Every specific control found across the frameworks reviewed - aspects on the rows, tools on the columns - with a cost/efficiency best pick for every capability more than one tool offers, one matrix per tenet.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E86AB"/>
                </a:solidFill>
                <a:latin typeface="Calibri"/>
              </a:rPr>
              <a:t>CAPABILITY MATRIX 1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Privacy</a:t>
            </a:r>
          </a:p>
        </p:txBody>
      </p:sp>
      <p:sp>
        <p:nvSpPr>
          <p:cNvPr id="6" name="Rectangle 5"/>
          <p:cNvSpPr/>
          <p:nvPr/>
        </p:nvSpPr>
        <p:spPr>
          <a:xfrm>
            <a:off x="502920" y="1207008"/>
            <a:ext cx="2011680" cy="3200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155680" cy="256032"/>
          </a:xfrm>
          <a:prstGeom prst="rect">
            <a:avLst/>
          </a:prstGeom>
          <a:noFill/>
        </p:spPr>
        <p:txBody>
          <a:bodyPr wrap="square" anchor="t" lIns="0" rIns="0" tIns="0" bIns="0">
            <a:spAutoFit/>
          </a:bodyPr>
          <a:lstStyle/>
          <a:p>
            <a:pPr algn="l">
              <a:lnSpc>
                <a:spcPct val="100000"/>
              </a:lnSpc>
            </a:pPr>
            <a:r>
              <a:rPr sz="1000" b="0" i="0">
                <a:solidFill>
                  <a:srgbClr val="5B6B7D"/>
                </a:solidFill>
                <a:latin typeface="Calibri"/>
              </a:rPr>
              <a:t>Every specific control found for this tenet across 14 referenced tools - rows are capabilities, columns are tools, with a cost/efficiency best pick per row.</a:t>
            </a:r>
          </a:p>
        </p:txBody>
      </p:sp>
      <p:graphicFrame>
        <p:nvGraphicFramePr>
          <p:cNvPr id="8" name="Table 7"/>
          <p:cNvGraphicFramePr>
            <a:graphicFrameLocks noGrp="1"/>
          </p:cNvGraphicFramePr>
          <p:nvPr/>
        </p:nvGraphicFramePr>
        <p:xfrm>
          <a:off x="502920" y="1627632"/>
          <a:ext cx="11155670" cy="4178808"/>
        </p:xfrm>
        <a:graphic>
          <a:graphicData uri="http://schemas.openxmlformats.org/drawingml/2006/table">
            <a:tbl>
              <a:tblPr firstRow="1" bandRow="1">
                <a:tableStyleId>{5C22544A-7EE6-4342-B048-85BDC9FD1C3A}</a:tableStyleId>
              </a:tblPr>
              <a:tblGrid>
                <a:gridCol w="2788920"/>
                <a:gridCol w="597625"/>
                <a:gridCol w="597625"/>
                <a:gridCol w="597625"/>
                <a:gridCol w="597625"/>
                <a:gridCol w="597625"/>
                <a:gridCol w="597625"/>
                <a:gridCol w="597625"/>
                <a:gridCol w="597625"/>
                <a:gridCol w="597625"/>
                <a:gridCol w="597625"/>
                <a:gridCol w="597625"/>
                <a:gridCol w="597625"/>
                <a:gridCol w="597625"/>
                <a:gridCol w="597625"/>
              </a:tblGrid>
              <a:tr h="310896">
                <a:tc>
                  <a:txBody>
                    <a:bodyPr wrap="square"/>
                    <a:lstStyle/>
                    <a:p>
                      <a:pPr algn="l">
                        <a:lnSpc>
                          <a:spcPct val="95000"/>
                        </a:lnSpc>
                      </a:pPr>
                      <a:r>
                        <a:rPr sz="800" b="1" i="0">
                          <a:solidFill>
                            <a:srgbClr val="FFFFFF"/>
                          </a:solidFill>
                          <a:latin typeface="Calibri"/>
                        </a:rPr>
                        <a:t>CAPABILITY  /  BEST PICK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LG</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NeMo</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HAI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TSZ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INF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AS</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GRK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DEv</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DTm</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OGR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PSD</a:t>
                      </a:r>
                    </a:p>
                  </a:txBody>
                  <a:tcPr marL="36576" marR="36576" marT="18288" marB="18288" anchor="ctr">
                    <a:solidFill>
                      <a:srgbClr val="10243E"/>
                    </a:solidFill>
                  </a:tcPr>
                </a:tc>
              </a:tr>
              <a:tr h="429768">
                <a:tc>
                  <a:txBody>
                    <a:bodyPr wrap="square"/>
                    <a:lstStyle/>
                    <a:p>
                      <a:pPr algn="l">
                        <a:lnSpc>
                          <a:spcPct val="95000"/>
                        </a:lnSpc>
                      </a:pPr>
                      <a:r>
                        <a:rPr sz="760" b="1" i="0">
                          <a:solidFill>
                            <a:srgbClr val="1A1A2E"/>
                          </a:solidFill>
                          <a:latin typeface="Calibri"/>
                        </a:rPr>
                        <a:t>PII entity detection &amp; redaction</a:t>
                      </a:r>
                    </a:p>
                    <a:p>
                      <a:pPr algn="l">
                        <a:lnSpc>
                          <a:spcPct val="95000"/>
                        </a:lnSpc>
                      </a:pPr>
                      <a:r>
                        <a:rPr sz="660" b="0" i="1">
                          <a:solidFill>
                            <a:srgbClr val="5B6B7D"/>
                          </a:solidFill>
                          <a:latin typeface="Calibri"/>
                        </a:rPr>
                        <a:t>Presidio via LLM Guard - free, most complete region…</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Region-specific ID recognizers</a:t>
                      </a:r>
                    </a:p>
                    <a:p>
                      <a:pPr algn="l">
                        <a:lnSpc>
                          <a:spcPct val="95000"/>
                        </a:lnSpc>
                      </a:pPr>
                      <a:r>
                        <a:rPr sz="660" b="0" i="1">
                          <a:solidFill>
                            <a:srgbClr val="5B6B7D"/>
                          </a:solidFill>
                          <a:latin typeface="Calibri"/>
                        </a:rPr>
                        <a:t>Presidio / Infosys - Aadhaar, PAN, SSN, IBAN packs built…</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Credit card detection (Luhn-checked)</a:t>
                      </a:r>
                    </a:p>
                    <a:p>
                      <a:pPr algn="l">
                        <a:lnSpc>
                          <a:spcPct val="95000"/>
                        </a:lnSpc>
                      </a:pPr>
                      <a:r>
                        <a:rPr sz="660" b="0" i="1">
                          <a:solidFill>
                            <a:srgbClr val="5B6B7D"/>
                          </a:solidFill>
                          <a:latin typeface="Calibri"/>
                        </a:rPr>
                        <a:t>Agentic Security / TSZ - Luhn-validated, low false…</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Healthcare PHI entities</a:t>
                      </a:r>
                    </a:p>
                    <a:p>
                      <a:pPr algn="l">
                        <a:lnSpc>
                          <a:spcPct val="95000"/>
                        </a:lnSpc>
                      </a:pPr>
                      <a:r>
                        <a:rPr sz="660" b="0" i="1">
                          <a:solidFill>
                            <a:srgbClr val="5B6B7D"/>
                          </a:solidFill>
                          <a:latin typeface="Calibri"/>
                        </a:rPr>
                        <a:t>hai-guardrails - only dedicated PHI regex set found</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PII leakage detection (LLM judge)</a:t>
                      </a:r>
                    </a:p>
                    <a:p>
                      <a:pPr algn="l">
                        <a:lnSpc>
                          <a:spcPct val="95000"/>
                        </a:lnSpc>
                      </a:pPr>
                      <a:r>
                        <a:rPr sz="660" b="0" i="1">
                          <a:solidFill>
                            <a:srgbClr val="5B6B7D"/>
                          </a:solidFill>
                          <a:latin typeface="Calibri"/>
                        </a:rPr>
                        <a:t>DeepTeam - purpose-built PII vulnerability metric</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System-prompt leakage detection</a:t>
                      </a:r>
                    </a:p>
                    <a:p>
                      <a:pPr algn="l">
                        <a:lnSpc>
                          <a:spcPct val="95000"/>
                        </a:lnSpc>
                      </a:pPr>
                      <a:r>
                        <a:rPr sz="660" b="0" i="1">
                          <a:solidFill>
                            <a:srgbClr val="5B6B7D"/>
                          </a:solidFill>
                          <a:latin typeface="Calibri"/>
                        </a:rPr>
                        <a:t>DeepTeam + LLM Guard secrets scan as backstop</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PII leakage red-team probing</a:t>
                      </a:r>
                    </a:p>
                    <a:p>
                      <a:pPr algn="l">
                        <a:lnSpc>
                          <a:spcPct val="95000"/>
                        </a:lnSpc>
                      </a:pPr>
                      <a:r>
                        <a:rPr sz="660" b="0" i="1">
                          <a:solidFill>
                            <a:srgbClr val="5B6B7D"/>
                          </a:solidFill>
                          <a:latin typeface="Calibri"/>
                        </a:rPr>
                        <a:t>garak's ProPILE probes - fuzzy + exact matching</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Reversible anonymisation (vault)</a:t>
                      </a:r>
                    </a:p>
                    <a:p>
                      <a:pPr algn="l">
                        <a:lnSpc>
                          <a:spcPct val="95000"/>
                        </a:lnSpc>
                      </a:pPr>
                      <a:r>
                        <a:rPr sz="660" b="0" i="1">
                          <a:solidFill>
                            <a:srgbClr val="5B6B7D"/>
                          </a:solidFill>
                          <a:latin typeface="Calibri"/>
                        </a:rPr>
                        <a:t>LLM Guard's Vault - only reversible redaction found</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Multi-format PII scanning</a:t>
                      </a:r>
                    </a:p>
                    <a:p>
                      <a:pPr algn="l">
                        <a:lnSpc>
                          <a:spcPct val="95000"/>
                        </a:lnSpc>
                      </a:pPr>
                      <a:r>
                        <a:rPr sz="660" b="0" i="1">
                          <a:solidFill>
                            <a:srgbClr val="5B6B7D"/>
                          </a:solidFill>
                          <a:latin typeface="Calibri"/>
                        </a:rPr>
                        <a:t>Infosys - PDF/Office/OCR/DICOM/video, unmatched breadth</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bl>
          </a:graphicData>
        </a:graphic>
      </p:graphicFrame>
      <p:sp>
        <p:nvSpPr>
          <p:cNvPr id="9" name="TextBox 8"/>
          <p:cNvSpPr txBox="1"/>
          <p:nvPr/>
        </p:nvSpPr>
        <p:spPr>
          <a:xfrm>
            <a:off x="502920" y="5916168"/>
            <a:ext cx="11155680" cy="201168"/>
          </a:xfrm>
          <a:prstGeom prst="rect">
            <a:avLst/>
          </a:prstGeom>
          <a:noFill/>
        </p:spPr>
        <p:txBody>
          <a:bodyPr wrap="square" anchor="t" lIns="0" rIns="0" tIns="0" bIns="0">
            <a:spAutoFit/>
          </a:bodyPr>
          <a:lstStyle/>
          <a:p>
            <a:pPr algn="l">
              <a:lnSpc>
                <a:spcPct val="100000"/>
              </a:lnSpc>
            </a:pPr>
            <a:r>
              <a:rPr sz="900" b="0" i="0">
                <a:solidFill>
                  <a:srgbClr val="1A1A2E"/>
                </a:solidFill>
                <a:latin typeface="Calibri"/>
              </a:rPr>
              <a:t>●  native / dedicated capability      ◐  partial or delegated to another tool      –  not found</a:t>
            </a:r>
          </a:p>
        </p:txBody>
      </p:sp>
      <p:sp>
        <p:nvSpPr>
          <p:cNvPr id="10" name="TextBox 9"/>
          <p:cNvSpPr txBox="1"/>
          <p:nvPr/>
        </p:nvSpPr>
        <p:spPr>
          <a:xfrm>
            <a:off x="502920" y="6135624"/>
            <a:ext cx="11155680" cy="384048"/>
          </a:xfrm>
          <a:prstGeom prst="rect">
            <a:avLst/>
          </a:prstGeom>
          <a:noFill/>
        </p:spPr>
        <p:txBody>
          <a:bodyPr wrap="square" anchor="t" lIns="0" rIns="0" tIns="0" bIns="0">
            <a:spAutoFit/>
          </a:bodyPr>
          <a:lstStyle/>
          <a:p>
            <a:pPr algn="l">
              <a:lnSpc>
                <a:spcPct val="115000"/>
              </a:lnSpc>
            </a:pPr>
            <a:r>
              <a:rPr sz="760" b="0" i="0">
                <a:solidFill>
                  <a:srgbClr val="5B6B7D"/>
                </a:solidFill>
                <a:latin typeface="Calibri"/>
              </a:rPr>
              <a:t>LG=LLM Guard   NeMo=NeMo Guardrails   HAI=hai-guardrails   TSZ=Safe Zone (TSZ)   INF=Infosys RAI Toolkit   AS=Agentic Security   GRK=garak   DEv=DeepEval   DTm=DeepTeam   PF=Promptfoo   OGR=OpenGuardrails   GAI=Guardrails AI   DCk=Deepchecks   PSD=Presidio*</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Capability Matrix - Privacy</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CAPABILITY MATRIX 2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Security</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155680" cy="256032"/>
          </a:xfrm>
          <a:prstGeom prst="rect">
            <a:avLst/>
          </a:prstGeom>
          <a:noFill/>
        </p:spPr>
        <p:txBody>
          <a:bodyPr wrap="square" anchor="t" lIns="0" rIns="0" tIns="0" bIns="0">
            <a:spAutoFit/>
          </a:bodyPr>
          <a:lstStyle/>
          <a:p>
            <a:pPr algn="l">
              <a:lnSpc>
                <a:spcPct val="100000"/>
              </a:lnSpc>
            </a:pPr>
            <a:r>
              <a:rPr sz="1000" b="0" i="0">
                <a:solidFill>
                  <a:srgbClr val="5B6B7D"/>
                </a:solidFill>
                <a:latin typeface="Calibri"/>
              </a:rPr>
              <a:t>Every specific control found for this tenet across 19 referenced tools - rows are capabilities, columns are tools, with a cost/efficiency best pick per row.</a:t>
            </a:r>
          </a:p>
        </p:txBody>
      </p:sp>
      <p:graphicFrame>
        <p:nvGraphicFramePr>
          <p:cNvPr id="8" name="Table 7"/>
          <p:cNvGraphicFramePr>
            <a:graphicFrameLocks noGrp="1"/>
          </p:cNvGraphicFramePr>
          <p:nvPr/>
        </p:nvGraphicFramePr>
        <p:xfrm>
          <a:off x="502920" y="1627632"/>
          <a:ext cx="11155665" cy="4178808"/>
        </p:xfrm>
        <a:graphic>
          <a:graphicData uri="http://schemas.openxmlformats.org/drawingml/2006/table">
            <a:tbl>
              <a:tblPr firstRow="1" bandRow="1">
                <a:tableStyleId>{5C22544A-7EE6-4342-B048-85BDC9FD1C3A}</a:tableStyleId>
              </a:tblPr>
              <a:tblGrid>
                <a:gridCol w="2788920"/>
                <a:gridCol w="440355"/>
                <a:gridCol w="440355"/>
                <a:gridCol w="440355"/>
                <a:gridCol w="440355"/>
                <a:gridCol w="440355"/>
                <a:gridCol w="440355"/>
                <a:gridCol w="440355"/>
                <a:gridCol w="440355"/>
                <a:gridCol w="440355"/>
                <a:gridCol w="440355"/>
                <a:gridCol w="440355"/>
                <a:gridCol w="440355"/>
                <a:gridCol w="440355"/>
                <a:gridCol w="440355"/>
                <a:gridCol w="440355"/>
                <a:gridCol w="440355"/>
                <a:gridCol w="440355"/>
                <a:gridCol w="440355"/>
                <a:gridCol w="440355"/>
              </a:tblGrid>
              <a:tr h="310896">
                <a:tc>
                  <a:txBody>
                    <a:bodyPr wrap="square"/>
                    <a:lstStyle/>
                    <a:p>
                      <a:pPr algn="l">
                        <a:lnSpc>
                          <a:spcPct val="95000"/>
                        </a:lnSpc>
                      </a:pPr>
                      <a:r>
                        <a:rPr sz="800" b="1" i="0">
                          <a:solidFill>
                            <a:srgbClr val="FFFFFF"/>
                          </a:solidFill>
                          <a:latin typeface="Calibri"/>
                        </a:rPr>
                        <a:t>CAPABILITY  /  BEST PICK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NeMo</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LG</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PyR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GRK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DTm</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RB</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TSZ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HAI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AS</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FZ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JCB</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LMF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GSK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OGR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INF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OAE</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AzPS</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AWSB</a:t>
                      </a:r>
                    </a:p>
                  </a:txBody>
                  <a:tcPr marL="36576" marR="36576" marT="18288" marB="18288" anchor="ctr">
                    <a:solidFill>
                      <a:srgbClr val="10243E"/>
                    </a:solidFill>
                  </a:tcPr>
                </a:tc>
              </a:tr>
              <a:tr h="429768">
                <a:tc>
                  <a:txBody>
                    <a:bodyPr wrap="square"/>
                    <a:lstStyle/>
                    <a:p>
                      <a:pPr algn="l">
                        <a:lnSpc>
                          <a:spcPct val="95000"/>
                        </a:lnSpc>
                      </a:pPr>
                      <a:r>
                        <a:rPr sz="760" b="1" i="0">
                          <a:solidFill>
                            <a:srgbClr val="1A1A2E"/>
                          </a:solidFill>
                          <a:latin typeface="Calibri"/>
                        </a:rPr>
                        <a:t>Prompt injection (regex/heuristic)</a:t>
                      </a:r>
                    </a:p>
                    <a:p>
                      <a:pPr algn="l">
                        <a:lnSpc>
                          <a:spcPct val="95000"/>
                        </a:lnSpc>
                      </a:pPr>
                      <a:r>
                        <a:rPr sz="660" b="0" i="1">
                          <a:solidFill>
                            <a:srgbClr val="5B6B7D"/>
                          </a:solidFill>
                          <a:latin typeface="Calibri"/>
                        </a:rPr>
                        <a:t>LLM Guard / TSZ - free, zero-latency first pass</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Prompt injection (ML classifier)</a:t>
                      </a:r>
                    </a:p>
                    <a:p>
                      <a:pPr algn="l">
                        <a:lnSpc>
                          <a:spcPct val="95000"/>
                        </a:lnSpc>
                      </a:pPr>
                      <a:r>
                        <a:rPr sz="660" b="0" i="1">
                          <a:solidFill>
                            <a:srgbClr val="5B6B7D"/>
                          </a:solidFill>
                          <a:latin typeface="Calibri"/>
                        </a:rPr>
                        <a:t>LLM Guard's DeBERTa-v3 classifier - free, self-hosted</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Prompt injection (LLM judge)</a:t>
                      </a:r>
                    </a:p>
                    <a:p>
                      <a:pPr algn="l">
                        <a:lnSpc>
                          <a:spcPct val="95000"/>
                        </a:lnSpc>
                      </a:pPr>
                      <a:r>
                        <a:rPr sz="660" b="0" i="1">
                          <a:solidFill>
                            <a:srgbClr val="5B6B7D"/>
                          </a:solidFill>
                          <a:latin typeface="Calibri"/>
                        </a:rPr>
                        <a:t>Azure Prompt Shields if Azure-native; else PyRIT/DeepTeam</a:t>
                      </a:r>
                    </a:p>
                  </a:txBody>
                  <a:tcPr marL="36576" marR="36576" marT="18288" marB="18288" anchor="ctr">
                    <a:solidFill>
                      <a:srgbClr val="FFFFFF"/>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Multi-turn jailbreak attacks</a:t>
                      </a:r>
                    </a:p>
                    <a:p>
                      <a:pPr algn="l">
                        <a:lnSpc>
                          <a:spcPct val="95000"/>
                        </a:lnSpc>
                      </a:pPr>
                      <a:r>
                        <a:rPr sz="660" b="0" i="1">
                          <a:solidFill>
                            <a:srgbClr val="5B6B7D"/>
                          </a:solidFill>
                          <a:latin typeface="Calibri"/>
                        </a:rPr>
                        <a:t>PyRIT - deepest coverage (Crescendo/TAP/PAIR/GOAT), free</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Encoding / obfuscation attacks</a:t>
                      </a:r>
                    </a:p>
                    <a:p>
                      <a:pPr algn="l">
                        <a:lnSpc>
                          <a:spcPct val="95000"/>
                        </a:lnSpc>
                      </a:pPr>
                      <a:r>
                        <a:rPr sz="660" b="0" i="1">
                          <a:solidFill>
                            <a:srgbClr val="5B6B7D"/>
                          </a:solidFill>
                          <a:latin typeface="Calibri"/>
                        </a:rPr>
                        <a:t>garak - 20 distinct encodings in one probe family</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Secrets / credential leakage</a:t>
                      </a:r>
                    </a:p>
                    <a:p>
                      <a:pPr algn="l">
                        <a:lnSpc>
                          <a:spcPct val="95000"/>
                        </a:lnSpc>
                      </a:pPr>
                      <a:r>
                        <a:rPr sz="660" b="0" i="1">
                          <a:solidFill>
                            <a:srgbClr val="5B6B7D"/>
                          </a:solidFill>
                          <a:latin typeface="Calibri"/>
                        </a:rPr>
                        <a:t>LLM Guard - free, gateway-ready</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Invisible-text smuggling</a:t>
                      </a:r>
                    </a:p>
                    <a:p>
                      <a:pPr algn="l">
                        <a:lnSpc>
                          <a:spcPct val="95000"/>
                        </a:lnSpc>
                      </a:pPr>
                      <a:r>
                        <a:rPr sz="660" b="0" i="1">
                          <a:solidFill>
                            <a:srgbClr val="5B6B7D"/>
                          </a:solidFill>
                          <a:latin typeface="Calibri"/>
                        </a:rPr>
                        <a:t>LLM Guard / PyRIT - only native detectors found for this…</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Indirect / document injection</a:t>
                      </a:r>
                    </a:p>
                    <a:p>
                      <a:pPr algn="l">
                        <a:lnSpc>
                          <a:spcPct val="95000"/>
                        </a:lnSpc>
                      </a:pPr>
                      <a:r>
                        <a:rPr sz="660" b="0" i="1">
                          <a:solidFill>
                            <a:srgbClr val="5B6B7D"/>
                          </a:solidFill>
                          <a:latin typeface="Calibri"/>
                        </a:rPr>
                        <a:t>Azure Prompt Shields - most mature named capability</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Insecure code / SQLi / XSS output</a:t>
                      </a:r>
                    </a:p>
                    <a:p>
                      <a:pPr algn="l">
                        <a:lnSpc>
                          <a:spcPct val="95000"/>
                        </a:lnSpc>
                      </a:pPr>
                      <a:r>
                        <a:rPr sz="660" b="0" i="1">
                          <a:solidFill>
                            <a:srgbClr val="5B6B7D"/>
                          </a:solidFill>
                          <a:latin typeface="Calibri"/>
                        </a:rPr>
                        <a:t>PyRIT for scoring; Guardrails AI validators for…</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bl>
          </a:graphicData>
        </a:graphic>
      </p:graphicFrame>
      <p:sp>
        <p:nvSpPr>
          <p:cNvPr id="9" name="TextBox 8"/>
          <p:cNvSpPr txBox="1"/>
          <p:nvPr/>
        </p:nvSpPr>
        <p:spPr>
          <a:xfrm>
            <a:off x="502920" y="5916168"/>
            <a:ext cx="11155680" cy="201168"/>
          </a:xfrm>
          <a:prstGeom prst="rect">
            <a:avLst/>
          </a:prstGeom>
          <a:noFill/>
        </p:spPr>
        <p:txBody>
          <a:bodyPr wrap="square" anchor="t" lIns="0" rIns="0" tIns="0" bIns="0">
            <a:spAutoFit/>
          </a:bodyPr>
          <a:lstStyle/>
          <a:p>
            <a:pPr algn="l">
              <a:lnSpc>
                <a:spcPct val="100000"/>
              </a:lnSpc>
            </a:pPr>
            <a:r>
              <a:rPr sz="900" b="0" i="0">
                <a:solidFill>
                  <a:srgbClr val="1A1A2E"/>
                </a:solidFill>
                <a:latin typeface="Calibri"/>
              </a:rPr>
              <a:t>●  native / dedicated capability      ◐  partial or delegated to another tool      –  not found</a:t>
            </a:r>
          </a:p>
        </p:txBody>
      </p:sp>
      <p:sp>
        <p:nvSpPr>
          <p:cNvPr id="10" name="TextBox 9"/>
          <p:cNvSpPr txBox="1"/>
          <p:nvPr/>
        </p:nvSpPr>
        <p:spPr>
          <a:xfrm>
            <a:off x="502920" y="6135624"/>
            <a:ext cx="11155680" cy="384048"/>
          </a:xfrm>
          <a:prstGeom prst="rect">
            <a:avLst/>
          </a:prstGeom>
          <a:noFill/>
        </p:spPr>
        <p:txBody>
          <a:bodyPr wrap="square" anchor="t" lIns="0" rIns="0" tIns="0" bIns="0">
            <a:spAutoFit/>
          </a:bodyPr>
          <a:lstStyle/>
          <a:p>
            <a:pPr algn="l">
              <a:lnSpc>
                <a:spcPct val="115000"/>
              </a:lnSpc>
            </a:pPr>
            <a:r>
              <a:rPr sz="760" b="0" i="0">
                <a:solidFill>
                  <a:srgbClr val="5B6B7D"/>
                </a:solidFill>
                <a:latin typeface="Calibri"/>
              </a:rPr>
              <a:t>NeMo=NeMo Guardrails   LG=LLM Guard   PyR=PyRIT   GRK=garak   DTm=DeepTeam   PF=Promptfoo   RB=Rebuff   TSZ=Safe Zone (TSZ)   HAI=hai-guardrails   AS=Agentic Security   FZ=FuzzyAI   JCB=JCB   LMF=LLMFuzzer   GSK=Giskard   OGR=OpenGuardrails   INF=Infosys RAI Toolkit   OAE=OpenAI Evals   AzPS=Azure Prompt Shields   AWSB=AWS Bedrock GR</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Capability Matrix - Security</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6A4C93"/>
                </a:solidFill>
                <a:latin typeface="Calibri"/>
              </a:rPr>
              <a:t>CAPABILITY MATRIX 3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Fairness &amp; Bias</a:t>
            </a:r>
          </a:p>
        </p:txBody>
      </p:sp>
      <p:sp>
        <p:nvSpPr>
          <p:cNvPr id="6" name="Rectangle 5"/>
          <p:cNvSpPr/>
          <p:nvPr/>
        </p:nvSpPr>
        <p:spPr>
          <a:xfrm>
            <a:off x="502920" y="1207008"/>
            <a:ext cx="2011680" cy="32004"/>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155680" cy="256032"/>
          </a:xfrm>
          <a:prstGeom prst="rect">
            <a:avLst/>
          </a:prstGeom>
          <a:noFill/>
        </p:spPr>
        <p:txBody>
          <a:bodyPr wrap="square" anchor="t" lIns="0" rIns="0" tIns="0" bIns="0">
            <a:spAutoFit/>
          </a:bodyPr>
          <a:lstStyle/>
          <a:p>
            <a:pPr algn="l">
              <a:lnSpc>
                <a:spcPct val="100000"/>
              </a:lnSpc>
            </a:pPr>
            <a:r>
              <a:rPr sz="1000" b="0" i="0">
                <a:solidFill>
                  <a:srgbClr val="5B6B7D"/>
                </a:solidFill>
                <a:latin typeface="Calibri"/>
              </a:rPr>
              <a:t>Every specific control found for this tenet across 14 referenced tools - rows are capabilities, columns are tools, with a cost/efficiency best pick per row.</a:t>
            </a:r>
          </a:p>
        </p:txBody>
      </p:sp>
      <p:graphicFrame>
        <p:nvGraphicFramePr>
          <p:cNvPr id="8" name="Table 7"/>
          <p:cNvGraphicFramePr>
            <a:graphicFrameLocks noGrp="1"/>
          </p:cNvGraphicFramePr>
          <p:nvPr/>
        </p:nvGraphicFramePr>
        <p:xfrm>
          <a:off x="502920" y="1627632"/>
          <a:ext cx="11155670" cy="4178808"/>
        </p:xfrm>
        <a:graphic>
          <a:graphicData uri="http://schemas.openxmlformats.org/drawingml/2006/table">
            <a:tbl>
              <a:tblPr firstRow="1" bandRow="1">
                <a:tableStyleId>{5C22544A-7EE6-4342-B048-85BDC9FD1C3A}</a:tableStyleId>
              </a:tblPr>
              <a:tblGrid>
                <a:gridCol w="2788920"/>
                <a:gridCol w="597625"/>
                <a:gridCol w="597625"/>
                <a:gridCol w="597625"/>
                <a:gridCol w="597625"/>
                <a:gridCol w="597625"/>
                <a:gridCol w="597625"/>
                <a:gridCol w="597625"/>
                <a:gridCol w="597625"/>
                <a:gridCol w="597625"/>
                <a:gridCol w="597625"/>
                <a:gridCol w="597625"/>
                <a:gridCol w="597625"/>
                <a:gridCol w="597625"/>
                <a:gridCol w="597625"/>
              </a:tblGrid>
              <a:tr h="310896">
                <a:tc>
                  <a:txBody>
                    <a:bodyPr wrap="square"/>
                    <a:lstStyle/>
                    <a:p>
                      <a:pPr algn="l">
                        <a:lnSpc>
                          <a:spcPct val="95000"/>
                        </a:lnSpc>
                      </a:pPr>
                      <a:r>
                        <a:rPr sz="800" b="1" i="0">
                          <a:solidFill>
                            <a:srgbClr val="FFFFFF"/>
                          </a:solidFill>
                          <a:latin typeface="Calibri"/>
                        </a:rPr>
                        <a:t>CAPABILITY  /  BEST PICK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FLn</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AIF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DEv</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DTm</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HAI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GSK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SHAP</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PyR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GRK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INF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AzML</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Fid</a:t>
                      </a:r>
                    </a:p>
                  </a:txBody>
                  <a:tcPr marL="36576" marR="36576" marT="18288" marB="18288" anchor="ctr">
                    <a:solidFill>
                      <a:srgbClr val="10243E"/>
                    </a:solidFill>
                  </a:tcPr>
                </a:tc>
              </a:tr>
              <a:tr h="429768">
                <a:tc>
                  <a:txBody>
                    <a:bodyPr wrap="square"/>
                    <a:lstStyle/>
                    <a:p>
                      <a:pPr algn="l">
                        <a:lnSpc>
                          <a:spcPct val="95000"/>
                        </a:lnSpc>
                      </a:pPr>
                      <a:r>
                        <a:rPr sz="760" b="1" i="0">
                          <a:solidFill>
                            <a:srgbClr val="1A1A2E"/>
                          </a:solidFill>
                          <a:latin typeface="Calibri"/>
                        </a:rPr>
                        <a:t>Bias detection (generative)</a:t>
                      </a:r>
                    </a:p>
                    <a:p>
                      <a:pPr algn="l">
                        <a:lnSpc>
                          <a:spcPct val="95000"/>
                        </a:lnSpc>
                      </a:pPr>
                      <a:r>
                        <a:rPr sz="660" b="0" i="1">
                          <a:solidFill>
                            <a:srgbClr val="5B6B7D"/>
                          </a:solidFill>
                          <a:latin typeface="Calibri"/>
                        </a:rPr>
                        <a:t>LLM Guard - free, inline; pair with Fairlearn for tabular</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Group fairness metrics</a:t>
                      </a:r>
                    </a:p>
                    <a:p>
                      <a:pPr algn="l">
                        <a:lnSpc>
                          <a:spcPct val="95000"/>
                        </a:lnSpc>
                      </a:pPr>
                      <a:r>
                        <a:rPr sz="660" b="0" i="1">
                          <a:solidFill>
                            <a:srgbClr val="5B6B7D"/>
                          </a:solidFill>
                          <a:latin typeface="Calibri"/>
                        </a:rPr>
                        <a:t>Fairlearn - Azure-aligned, lower overhead</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Pre-processing mitigation</a:t>
                      </a:r>
                    </a:p>
                    <a:p>
                      <a:pPr algn="l">
                        <a:lnSpc>
                          <a:spcPct val="95000"/>
                        </a:lnSpc>
                      </a:pPr>
                      <a:r>
                        <a:rPr sz="660" b="0" i="1">
                          <a:solidFill>
                            <a:srgbClr val="5B6B7D"/>
                          </a:solidFill>
                          <a:latin typeface="Calibri"/>
                        </a:rPr>
                        <a:t>AIF360 - widest algorithm variety</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Post-processing mitigation</a:t>
                      </a:r>
                    </a:p>
                    <a:p>
                      <a:pPr algn="l">
                        <a:lnSpc>
                          <a:spcPct val="95000"/>
                        </a:lnSpc>
                      </a:pPr>
                      <a:r>
                        <a:rPr sz="660" b="0" i="1">
                          <a:solidFill>
                            <a:srgbClr val="5B6B7D"/>
                          </a:solidFill>
                          <a:latin typeface="Calibri"/>
                        </a:rPr>
                        <a:t>Fairlearn's ThresholdOptimizer - simple, well-tested</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In-processing mitigation</a:t>
                      </a:r>
                    </a:p>
                    <a:p>
                      <a:pPr algn="l">
                        <a:lnSpc>
                          <a:spcPct val="95000"/>
                        </a:lnSpc>
                      </a:pPr>
                      <a:r>
                        <a:rPr sz="660" b="0" i="1">
                          <a:solidFill>
                            <a:srgbClr val="5B6B7D"/>
                          </a:solidFill>
                          <a:latin typeface="Calibri"/>
                        </a:rPr>
                        <a:t>AIF360 - only source with adversarial debiasing built in</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Automated subgroup discovery</a:t>
                      </a:r>
                    </a:p>
                    <a:p>
                      <a:pPr algn="l">
                        <a:lnSpc>
                          <a:spcPct val="95000"/>
                        </a:lnSpc>
                      </a:pPr>
                      <a:r>
                        <a:rPr sz="660" b="0" i="1">
                          <a:solidFill>
                            <a:srgbClr val="5B6B7D"/>
                          </a:solidFill>
                          <a:latin typeface="Calibri"/>
                        </a:rPr>
                        <a:t>AIF360's MDSS/FACTS - finds the group for you</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Bias red-team probe packs</a:t>
                      </a:r>
                    </a:p>
                    <a:p>
                      <a:pPr algn="l">
                        <a:lnSpc>
                          <a:spcPct val="95000"/>
                        </a:lnSpc>
                      </a:pPr>
                      <a:r>
                        <a:rPr sz="660" b="0" i="1">
                          <a:solidFill>
                            <a:srgbClr val="5B6B7D"/>
                          </a:solidFill>
                          <a:latin typeface="Calibri"/>
                        </a:rPr>
                        <a:t>DeepTeam / promptfoo - CI-ready bias attack packs</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Local bias classifier (text)</a:t>
                      </a:r>
                    </a:p>
                    <a:p>
                      <a:pPr algn="l">
                        <a:lnSpc>
                          <a:spcPct val="95000"/>
                        </a:lnSpc>
                      </a:pPr>
                      <a:r>
                        <a:rPr sz="660" b="0" i="1">
                          <a:solidFill>
                            <a:srgbClr val="5B6B7D"/>
                          </a:solidFill>
                          <a:latin typeface="Calibri"/>
                        </a:rPr>
                        <a:t>LLM Guard's bias scanner - fast, no training needed</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Bias benchmark harnesses</a:t>
                      </a:r>
                    </a:p>
                    <a:p>
                      <a:pPr algn="l">
                        <a:lnSpc>
                          <a:spcPct val="95000"/>
                        </a:lnSpc>
                      </a:pPr>
                      <a:r>
                        <a:rPr sz="660" b="0" i="1">
                          <a:solidFill>
                            <a:srgbClr val="5B6B7D"/>
                          </a:solidFill>
                          <a:latin typeface="Calibri"/>
                        </a:rPr>
                        <a:t>DeepEval - BBQ/EquityMedQA out of the box</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bl>
          </a:graphicData>
        </a:graphic>
      </p:graphicFrame>
      <p:sp>
        <p:nvSpPr>
          <p:cNvPr id="9" name="TextBox 8"/>
          <p:cNvSpPr txBox="1"/>
          <p:nvPr/>
        </p:nvSpPr>
        <p:spPr>
          <a:xfrm>
            <a:off x="502920" y="5916168"/>
            <a:ext cx="11155680" cy="201168"/>
          </a:xfrm>
          <a:prstGeom prst="rect">
            <a:avLst/>
          </a:prstGeom>
          <a:noFill/>
        </p:spPr>
        <p:txBody>
          <a:bodyPr wrap="square" anchor="t" lIns="0" rIns="0" tIns="0" bIns="0">
            <a:spAutoFit/>
          </a:bodyPr>
          <a:lstStyle/>
          <a:p>
            <a:pPr algn="l">
              <a:lnSpc>
                <a:spcPct val="100000"/>
              </a:lnSpc>
            </a:pPr>
            <a:r>
              <a:rPr sz="900" b="0" i="0">
                <a:solidFill>
                  <a:srgbClr val="1A1A2E"/>
                </a:solidFill>
                <a:latin typeface="Calibri"/>
              </a:rPr>
              <a:t>●  native / dedicated capability      ◐  partial or delegated to another tool      –  not found</a:t>
            </a:r>
          </a:p>
        </p:txBody>
      </p:sp>
      <p:sp>
        <p:nvSpPr>
          <p:cNvPr id="10" name="TextBox 9"/>
          <p:cNvSpPr txBox="1"/>
          <p:nvPr/>
        </p:nvSpPr>
        <p:spPr>
          <a:xfrm>
            <a:off x="502920" y="6135624"/>
            <a:ext cx="11155680" cy="384048"/>
          </a:xfrm>
          <a:prstGeom prst="rect">
            <a:avLst/>
          </a:prstGeom>
          <a:noFill/>
        </p:spPr>
        <p:txBody>
          <a:bodyPr wrap="square" anchor="t" lIns="0" rIns="0" tIns="0" bIns="0">
            <a:spAutoFit/>
          </a:bodyPr>
          <a:lstStyle/>
          <a:p>
            <a:pPr algn="l">
              <a:lnSpc>
                <a:spcPct val="115000"/>
              </a:lnSpc>
            </a:pPr>
            <a:r>
              <a:rPr sz="760" b="0" i="0">
                <a:solidFill>
                  <a:srgbClr val="5B6B7D"/>
                </a:solidFill>
                <a:latin typeface="Calibri"/>
              </a:rPr>
              <a:t>FLn=Fairlearn   AIF=AIF360   DCk=Deepchecks   PF=Promptfoo   DEv=DeepEval   DTm=DeepTeam   HAI=hai-guardrails   GSK=Giskard   SHAP=SHAP   PyR=PyRIT   GRK=garak   INF=Infosys RAI Toolkit   AzML=Azure ML RAI   Fid=Fiddler AI</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Capability Matrix - Fairness &amp; Bias</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49</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08E45"/>
                </a:solidFill>
                <a:latin typeface="Calibri"/>
              </a:rPr>
              <a:t>CAPABILITY MATRIX 4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Explainability &amp; Transparency</a:t>
            </a:r>
          </a:p>
        </p:txBody>
      </p:sp>
      <p:sp>
        <p:nvSpPr>
          <p:cNvPr id="6" name="Rectangle 5"/>
          <p:cNvSpPr/>
          <p:nvPr/>
        </p:nvSpPr>
        <p:spPr>
          <a:xfrm>
            <a:off x="502920" y="1207008"/>
            <a:ext cx="2011680" cy="32004"/>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155680" cy="256032"/>
          </a:xfrm>
          <a:prstGeom prst="rect">
            <a:avLst/>
          </a:prstGeom>
          <a:noFill/>
        </p:spPr>
        <p:txBody>
          <a:bodyPr wrap="square" anchor="t" lIns="0" rIns="0" tIns="0" bIns="0">
            <a:spAutoFit/>
          </a:bodyPr>
          <a:lstStyle/>
          <a:p>
            <a:pPr algn="l">
              <a:lnSpc>
                <a:spcPct val="100000"/>
              </a:lnSpc>
            </a:pPr>
            <a:r>
              <a:rPr sz="1000" b="0" i="0">
                <a:solidFill>
                  <a:srgbClr val="5B6B7D"/>
                </a:solidFill>
                <a:latin typeface="Calibri"/>
              </a:rPr>
              <a:t>Every specific control found for this tenet across 13 referenced tools - rows are capabilities, columns are tools, with a cost/efficiency best pick per row.</a:t>
            </a:r>
          </a:p>
        </p:txBody>
      </p:sp>
      <p:graphicFrame>
        <p:nvGraphicFramePr>
          <p:cNvPr id="8" name="Table 7"/>
          <p:cNvGraphicFramePr>
            <a:graphicFrameLocks noGrp="1"/>
          </p:cNvGraphicFramePr>
          <p:nvPr/>
        </p:nvGraphicFramePr>
        <p:xfrm>
          <a:off x="502920" y="1627632"/>
          <a:ext cx="11155668" cy="4178808"/>
        </p:xfrm>
        <a:graphic>
          <a:graphicData uri="http://schemas.openxmlformats.org/drawingml/2006/table">
            <a:tbl>
              <a:tblPr firstRow="1" bandRow="1">
                <a:tableStyleId>{5C22544A-7EE6-4342-B048-85BDC9FD1C3A}</a:tableStyleId>
              </a:tblPr>
              <a:tblGrid>
                <a:gridCol w="2788920"/>
                <a:gridCol w="643596"/>
                <a:gridCol w="643596"/>
                <a:gridCol w="643596"/>
                <a:gridCol w="643596"/>
                <a:gridCol w="643596"/>
                <a:gridCol w="643596"/>
                <a:gridCol w="643596"/>
                <a:gridCol w="643596"/>
                <a:gridCol w="643596"/>
                <a:gridCol w="643596"/>
                <a:gridCol w="643596"/>
                <a:gridCol w="643596"/>
                <a:gridCol w="643596"/>
              </a:tblGrid>
              <a:tr h="310896">
                <a:tc>
                  <a:txBody>
                    <a:bodyPr wrap="square"/>
                    <a:lstStyle/>
                    <a:p>
                      <a:pPr algn="l">
                        <a:lnSpc>
                          <a:spcPct val="95000"/>
                        </a:lnSpc>
                      </a:pPr>
                      <a:r>
                        <a:rPr sz="800" b="1" i="0">
                          <a:solidFill>
                            <a:srgbClr val="FFFFFF"/>
                          </a:solidFill>
                          <a:latin typeface="Calibri"/>
                        </a:rPr>
                        <a:t>CAPABILITY  /  BEST PICK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SHAP</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INF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AIF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DEv</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GSK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OGR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TSZ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LG</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AzML</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AIX</a:t>
                      </a:r>
                    </a:p>
                  </a:txBody>
                  <a:tcPr marL="36576" marR="36576" marT="18288" marB="18288" anchor="ctr">
                    <a:solidFill>
                      <a:srgbClr val="10243E"/>
                    </a:solidFill>
                  </a:tcPr>
                </a:tc>
              </a:tr>
              <a:tr h="429768">
                <a:tc>
                  <a:txBody>
                    <a:bodyPr wrap="square"/>
                    <a:lstStyle/>
                    <a:p>
                      <a:pPr algn="l">
                        <a:lnSpc>
                          <a:spcPct val="95000"/>
                        </a:lnSpc>
                      </a:pPr>
                      <a:r>
                        <a:rPr sz="760" b="1" i="0">
                          <a:solidFill>
                            <a:srgbClr val="1A1A2E"/>
                          </a:solidFill>
                          <a:latin typeface="Calibri"/>
                        </a:rPr>
                        <a:t>Structured-output / schema validity</a:t>
                      </a:r>
                    </a:p>
                    <a:p>
                      <a:pPr algn="l">
                        <a:lnSpc>
                          <a:spcPct val="95000"/>
                        </a:lnSpc>
                      </a:pPr>
                      <a:r>
                        <a:rPr sz="660" b="0" i="1">
                          <a:solidFill>
                            <a:srgbClr val="5B6B7D"/>
                          </a:solidFill>
                          <a:latin typeface="Calibri"/>
                        </a:rPr>
                        <a:t>Guardrails AI - purpose-built, its core strength</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Ban-topics / on-topic scope</a:t>
                      </a:r>
                    </a:p>
                    <a:p>
                      <a:pPr algn="l">
                        <a:lnSpc>
                          <a:spcPct val="95000"/>
                        </a:lnSpc>
                      </a:pPr>
                      <a:r>
                        <a:rPr sz="660" b="0" i="1">
                          <a:solidFill>
                            <a:srgbClr val="5B6B7D"/>
                          </a:solidFill>
                          <a:latin typeface="Calibri"/>
                        </a:rPr>
                        <a:t>NeMo topic rails or LLM Guard BanTopics - zero-shot, no…</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Custom rubric judges (G-Eval)</a:t>
                      </a:r>
                    </a:p>
                    <a:p>
                      <a:pPr algn="l">
                        <a:lnSpc>
                          <a:spcPct val="95000"/>
                        </a:lnSpc>
                      </a:pPr>
                      <a:r>
                        <a:rPr sz="660" b="0" i="1">
                          <a:solidFill>
                            <a:srgbClr val="5B6B7D"/>
                          </a:solidFill>
                          <a:latin typeface="Calibri"/>
                        </a:rPr>
                        <a:t>DeepEval G-Eval/DAG - versioned, CI-runnable</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Feature attribution (SHAP)</a:t>
                      </a:r>
                    </a:p>
                    <a:p>
                      <a:pPr algn="l">
                        <a:lnSpc>
                          <a:spcPct val="95000"/>
                        </a:lnSpc>
                      </a:pPr>
                      <a:r>
                        <a:rPr sz="660" b="0" i="1">
                          <a:solidFill>
                            <a:srgbClr val="5B6B7D"/>
                          </a:solidFill>
                          <a:latin typeface="Calibri"/>
                        </a:rPr>
                        <a:t>SHAP - broadest family, most actively maintained</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Token-level attribution</a:t>
                      </a:r>
                    </a:p>
                    <a:p>
                      <a:pPr algn="l">
                        <a:lnSpc>
                          <a:spcPct val="95000"/>
                        </a:lnSpc>
                      </a:pPr>
                      <a:r>
                        <a:rPr sz="660" b="0" i="1">
                          <a:solidFill>
                            <a:srgbClr val="5B6B7D"/>
                          </a:solidFill>
                          <a:latin typeface="Calibri"/>
                        </a:rPr>
                        <a:t>Infosys LLM-Explain (prompt-based); SHAP for real models</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Per-check confidence breakdown</a:t>
                      </a:r>
                    </a:p>
                    <a:p>
                      <a:pPr algn="l">
                        <a:lnSpc>
                          <a:spcPct val="95000"/>
                        </a:lnSpc>
                      </a:pPr>
                      <a:r>
                        <a:rPr sz="660" b="0" i="1">
                          <a:solidFill>
                            <a:srgbClr val="5B6B7D"/>
                          </a:solidFill>
                          <a:latin typeface="Calibri"/>
                        </a:rPr>
                        <a:t>TSZ / OpenGuardrails verdict schema - explicit per-layer…</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LIME local explanations</a:t>
                      </a:r>
                    </a:p>
                    <a:p>
                      <a:pPr algn="l">
                        <a:lnSpc>
                          <a:spcPct val="95000"/>
                        </a:lnSpc>
                      </a:pPr>
                      <a:r>
                        <a:rPr sz="660" b="0" i="1">
                          <a:solidFill>
                            <a:srgbClr val="5B6B7D"/>
                          </a:solidFill>
                          <a:latin typeface="Calibri"/>
                        </a:rPr>
                        <a:t>Infosys explainability module (SHAP+LIME combo)</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Counterfactual / recourse analysis</a:t>
                      </a:r>
                    </a:p>
                    <a:p>
                      <a:pPr algn="l">
                        <a:lnSpc>
                          <a:spcPct val="95000"/>
                        </a:lnSpc>
                      </a:pPr>
                      <a:r>
                        <a:rPr sz="660" b="0" i="1">
                          <a:solidFill>
                            <a:srgbClr val="5B6B7D"/>
                          </a:solidFill>
                          <a:latin typeface="Calibri"/>
                        </a:rPr>
                        <a:t>AIF360's FACTS / SHAP's action optimizer</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Deterministic format validators</a:t>
                      </a:r>
                    </a:p>
                    <a:p>
                      <a:pPr algn="l">
                        <a:lnSpc>
                          <a:spcPct val="95000"/>
                        </a:lnSpc>
                      </a:pPr>
                      <a:r>
                        <a:rPr sz="660" b="0" i="1">
                          <a:solidFill>
                            <a:srgbClr val="5B6B7D"/>
                          </a:solidFill>
                          <a:latin typeface="Calibri"/>
                        </a:rPr>
                        <a:t>Guardrails AI / TSZ - regex/length/range, no ML needed</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bl>
          </a:graphicData>
        </a:graphic>
      </p:graphicFrame>
      <p:sp>
        <p:nvSpPr>
          <p:cNvPr id="9" name="TextBox 8"/>
          <p:cNvSpPr txBox="1"/>
          <p:nvPr/>
        </p:nvSpPr>
        <p:spPr>
          <a:xfrm>
            <a:off x="502920" y="5916168"/>
            <a:ext cx="11155680" cy="201168"/>
          </a:xfrm>
          <a:prstGeom prst="rect">
            <a:avLst/>
          </a:prstGeom>
          <a:noFill/>
        </p:spPr>
        <p:txBody>
          <a:bodyPr wrap="square" anchor="t" lIns="0" rIns="0" tIns="0" bIns="0">
            <a:spAutoFit/>
          </a:bodyPr>
          <a:lstStyle/>
          <a:p>
            <a:pPr algn="l">
              <a:lnSpc>
                <a:spcPct val="100000"/>
              </a:lnSpc>
            </a:pPr>
            <a:r>
              <a:rPr sz="900" b="0" i="0">
                <a:solidFill>
                  <a:srgbClr val="1A1A2E"/>
                </a:solidFill>
                <a:latin typeface="Calibri"/>
              </a:rPr>
              <a:t>●  native / dedicated capability      ◐  partial or delegated to another tool      –  not found</a:t>
            </a:r>
          </a:p>
        </p:txBody>
      </p:sp>
      <p:sp>
        <p:nvSpPr>
          <p:cNvPr id="10" name="TextBox 9"/>
          <p:cNvSpPr txBox="1"/>
          <p:nvPr/>
        </p:nvSpPr>
        <p:spPr>
          <a:xfrm>
            <a:off x="502920" y="6135624"/>
            <a:ext cx="11155680" cy="384048"/>
          </a:xfrm>
          <a:prstGeom prst="rect">
            <a:avLst/>
          </a:prstGeom>
          <a:noFill/>
        </p:spPr>
        <p:txBody>
          <a:bodyPr wrap="square" anchor="t" lIns="0" rIns="0" tIns="0" bIns="0">
            <a:spAutoFit/>
          </a:bodyPr>
          <a:lstStyle/>
          <a:p>
            <a:pPr algn="l">
              <a:lnSpc>
                <a:spcPct val="115000"/>
              </a:lnSpc>
            </a:pPr>
            <a:r>
              <a:rPr sz="760" b="0" i="0">
                <a:solidFill>
                  <a:srgbClr val="5B6B7D"/>
                </a:solidFill>
                <a:latin typeface="Calibri"/>
              </a:rPr>
              <a:t>SHAP=SHAP   INF=Infosys RAI Toolkit   AIF=AIF360   GAI=Guardrails AI   DEv=DeepEval   PF=Promptfoo   GSK=Giskard   OGR=OpenGuardrails   TSZ=Safe Zone (TSZ)   LG=LLM Guard   DCk=Deepchecks   AzML=Azure ML RAI   AIX=IBM AIX360</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Capability Matrix - Explainability &amp; Transparency</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76F51"/>
                </a:solidFill>
                <a:latin typeface="Calibri"/>
              </a:rPr>
              <a:t>CAPABILITY MATRIX 5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Profanity / Content Safety</a:t>
            </a:r>
          </a:p>
        </p:txBody>
      </p:sp>
      <p:sp>
        <p:nvSpPr>
          <p:cNvPr id="6" name="Rectangle 5"/>
          <p:cNvSpPr/>
          <p:nvPr/>
        </p:nvSpPr>
        <p:spPr>
          <a:xfrm>
            <a:off x="502920" y="1207008"/>
            <a:ext cx="2011680" cy="3200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155680" cy="256032"/>
          </a:xfrm>
          <a:prstGeom prst="rect">
            <a:avLst/>
          </a:prstGeom>
          <a:noFill/>
        </p:spPr>
        <p:txBody>
          <a:bodyPr wrap="square" anchor="t" lIns="0" rIns="0" tIns="0" bIns="0">
            <a:spAutoFit/>
          </a:bodyPr>
          <a:lstStyle/>
          <a:p>
            <a:pPr algn="l">
              <a:lnSpc>
                <a:spcPct val="100000"/>
              </a:lnSpc>
            </a:pPr>
            <a:r>
              <a:rPr sz="1000" b="0" i="0">
                <a:solidFill>
                  <a:srgbClr val="5B6B7D"/>
                </a:solidFill>
                <a:latin typeface="Calibri"/>
              </a:rPr>
              <a:t>Every specific control found for this tenet across 17 referenced tools - rows are capabilities, columns are tools, with a cost/efficiency best pick per row.</a:t>
            </a:r>
          </a:p>
        </p:txBody>
      </p:sp>
      <p:graphicFrame>
        <p:nvGraphicFramePr>
          <p:cNvPr id="8" name="Table 7"/>
          <p:cNvGraphicFramePr>
            <a:graphicFrameLocks noGrp="1"/>
          </p:cNvGraphicFramePr>
          <p:nvPr/>
        </p:nvGraphicFramePr>
        <p:xfrm>
          <a:off x="502920" y="1627632"/>
          <a:ext cx="11155674" cy="4178808"/>
        </p:xfrm>
        <a:graphic>
          <a:graphicData uri="http://schemas.openxmlformats.org/drawingml/2006/table">
            <a:tbl>
              <a:tblPr firstRow="1" bandRow="1">
                <a:tableStyleId>{5C22544A-7EE6-4342-B048-85BDC9FD1C3A}</a:tableStyleId>
              </a:tblPr>
              <a:tblGrid>
                <a:gridCol w="2788920"/>
                <a:gridCol w="492162"/>
                <a:gridCol w="492162"/>
                <a:gridCol w="492162"/>
                <a:gridCol w="492162"/>
                <a:gridCol w="492162"/>
                <a:gridCol w="492162"/>
                <a:gridCol w="492162"/>
                <a:gridCol w="492162"/>
                <a:gridCol w="492162"/>
                <a:gridCol w="492162"/>
                <a:gridCol w="492162"/>
                <a:gridCol w="492162"/>
                <a:gridCol w="492162"/>
                <a:gridCol w="492162"/>
                <a:gridCol w="492162"/>
                <a:gridCol w="492162"/>
                <a:gridCol w="492162"/>
              </a:tblGrid>
              <a:tr h="310896">
                <a:tc>
                  <a:txBody>
                    <a:bodyPr wrap="square"/>
                    <a:lstStyle/>
                    <a:p>
                      <a:pPr algn="l">
                        <a:lnSpc>
                          <a:spcPct val="95000"/>
                        </a:lnSpc>
                      </a:pPr>
                      <a:r>
                        <a:rPr sz="800" b="1" i="0">
                          <a:solidFill>
                            <a:srgbClr val="FFFFFF"/>
                          </a:solidFill>
                          <a:latin typeface="Calibri"/>
                        </a:rPr>
                        <a:t>CAPABILITY  /  BEST PICK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LG</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NeMo</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DTm</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GRK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GSK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HAI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DEv</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INF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PyR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FZ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OGR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JCB</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TSZ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AzCS</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OAIM</a:t>
                      </a:r>
                    </a:p>
                  </a:txBody>
                  <a:tcPr marL="36576" marR="36576" marT="18288" marB="18288" anchor="ctr">
                    <a:solidFill>
                      <a:srgbClr val="10243E"/>
                    </a:solidFill>
                  </a:tcPr>
                </a:tc>
              </a:tr>
              <a:tr h="429768">
                <a:tc>
                  <a:txBody>
                    <a:bodyPr wrap="square"/>
                    <a:lstStyle/>
                    <a:p>
                      <a:pPr algn="l">
                        <a:lnSpc>
                          <a:spcPct val="95000"/>
                        </a:lnSpc>
                      </a:pPr>
                      <a:r>
                        <a:rPr sz="760" b="1" i="0">
                          <a:solidFill>
                            <a:srgbClr val="1A1A2E"/>
                          </a:solidFill>
                          <a:latin typeface="Calibri"/>
                        </a:rPr>
                        <a:t>Toxicity / hate-speech (model)</a:t>
                      </a:r>
                    </a:p>
                    <a:p>
                      <a:pPr algn="l">
                        <a:lnSpc>
                          <a:spcPct val="95000"/>
                        </a:lnSpc>
                      </a:pPr>
                      <a:r>
                        <a:rPr sz="660" b="0" i="1">
                          <a:solidFill>
                            <a:srgbClr val="5B6B7D"/>
                          </a:solidFill>
                          <a:latin typeface="Calibri"/>
                        </a:rPr>
                        <a:t>LLM Guard / Detoxify - free, self-hosted</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Toxicity (LLM judge)</a:t>
                      </a:r>
                    </a:p>
                    <a:p>
                      <a:pPr algn="l">
                        <a:lnSpc>
                          <a:spcPct val="95000"/>
                        </a:lnSpc>
                      </a:pPr>
                      <a:r>
                        <a:rPr sz="660" b="0" i="1">
                          <a:solidFill>
                            <a:srgbClr val="5B6B7D"/>
                          </a:solidFill>
                          <a:latin typeface="Calibri"/>
                        </a:rPr>
                        <a:t>Azure Content Safety for managed/graded severity</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429768">
                <a:tc>
                  <a:txBody>
                    <a:bodyPr wrap="square"/>
                    <a:lstStyle/>
                    <a:p>
                      <a:pPr algn="l">
                        <a:lnSpc>
                          <a:spcPct val="95000"/>
                        </a:lnSpc>
                      </a:pPr>
                      <a:r>
                        <a:rPr sz="760" b="1" i="0">
                          <a:solidFill>
                            <a:srgbClr val="1A1A2E"/>
                          </a:solidFill>
                          <a:latin typeface="Calibri"/>
                        </a:rPr>
                        <a:t>Managed safety-model routing</a:t>
                      </a:r>
                    </a:p>
                    <a:p>
                      <a:pPr algn="l">
                        <a:lnSpc>
                          <a:spcPct val="95000"/>
                        </a:lnSpc>
                      </a:pPr>
                      <a:r>
                        <a:rPr sz="660" b="0" i="1">
                          <a:solidFill>
                            <a:srgbClr val="5B6B7D"/>
                          </a:solidFill>
                          <a:latin typeface="Calibri"/>
                        </a:rPr>
                        <a:t>NeMo Guardrails - routes to Llama Guard or Azure in one…</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Multi-category harm taxonomy</a:t>
                      </a:r>
                    </a:p>
                    <a:p>
                      <a:pPr algn="l">
                        <a:lnSpc>
                          <a:spcPct val="95000"/>
                        </a:lnSpc>
                      </a:pPr>
                      <a:r>
                        <a:rPr sz="660" b="0" i="1">
                          <a:solidFill>
                            <a:srgbClr val="5B6B7D"/>
                          </a:solidFill>
                          <a:latin typeface="Calibri"/>
                        </a:rPr>
                        <a:t>garak / DeepTeam - broadest category coverage</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Profanity / banned-word filter</a:t>
                      </a:r>
                    </a:p>
                    <a:p>
                      <a:pPr algn="l">
                        <a:lnSpc>
                          <a:spcPct val="95000"/>
                        </a:lnSpc>
                      </a:pPr>
                      <a:r>
                        <a:rPr sz="660" b="0" i="1">
                          <a:solidFill>
                            <a:srgbClr val="5B6B7D"/>
                          </a:solidFill>
                          <a:latin typeface="Calibri"/>
                        </a:rPr>
                        <a:t>Commodity - free in 5+ tools; don't overpay for this one</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Zero-shot restricted-topic filter</a:t>
                      </a:r>
                    </a:p>
                    <a:p>
                      <a:pPr algn="l">
                        <a:lnSpc>
                          <a:spcPct val="95000"/>
                        </a:lnSpc>
                      </a:pPr>
                      <a:r>
                        <a:rPr sz="660" b="0" i="1">
                          <a:solidFill>
                            <a:srgbClr val="5B6B7D"/>
                          </a:solidFill>
                          <a:latin typeface="Calibri"/>
                        </a:rPr>
                        <a:t>LLM Guard - only dedicated zero-shot NER beyond fixed…</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Adult / explicit content</a:t>
                      </a:r>
                    </a:p>
                    <a:p>
                      <a:pPr algn="l">
                        <a:lnSpc>
                          <a:spcPct val="95000"/>
                        </a:lnSpc>
                      </a:pPr>
                      <a:r>
                        <a:rPr sz="660" b="0" i="1">
                          <a:solidFill>
                            <a:srgbClr val="5B6B7D"/>
                          </a:solidFill>
                          <a:latin typeface="Calibri"/>
                        </a:rPr>
                        <a:t>hai-guardrails / Azure Content Safety</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429768">
                <a:tc>
                  <a:txBody>
                    <a:bodyPr wrap="square"/>
                    <a:lstStyle/>
                    <a:p>
                      <a:pPr algn="l">
                        <a:lnSpc>
                          <a:spcPct val="95000"/>
                        </a:lnSpc>
                      </a:pPr>
                      <a:r>
                        <a:rPr sz="760" b="1" i="0">
                          <a:solidFill>
                            <a:srgbClr val="1A1A2E"/>
                          </a:solidFill>
                          <a:latin typeface="Calibri"/>
                        </a:rPr>
                        <a:t>NSFW image/video detection</a:t>
                      </a:r>
                    </a:p>
                    <a:p>
                      <a:pPr algn="l">
                        <a:lnSpc>
                          <a:spcPct val="95000"/>
                        </a:lnSpc>
                      </a:pPr>
                      <a:r>
                        <a:rPr sz="660" b="0" i="1">
                          <a:solidFill>
                            <a:srgbClr val="5B6B7D"/>
                          </a:solidFill>
                          <a:latin typeface="Calibri"/>
                        </a:rPr>
                        <a:t>Infosys's NudeNet integration - only one found in this…</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429768">
                <a:tc>
                  <a:txBody>
                    <a:bodyPr wrap="square"/>
                    <a:lstStyle/>
                    <a:p>
                      <a:pPr algn="l">
                        <a:lnSpc>
                          <a:spcPct val="95000"/>
                        </a:lnSpc>
                      </a:pPr>
                      <a:r>
                        <a:rPr sz="760" b="1" i="0">
                          <a:solidFill>
                            <a:srgbClr val="1A1A2E"/>
                          </a:solidFill>
                          <a:latin typeface="Calibri"/>
                        </a:rPr>
                        <a:t>Harmful-content red-team sets</a:t>
                      </a:r>
                    </a:p>
                    <a:p>
                      <a:pPr algn="l">
                        <a:lnSpc>
                          <a:spcPct val="95000"/>
                        </a:lnSpc>
                      </a:pPr>
                      <a:r>
                        <a:rPr sz="660" b="0" i="1">
                          <a:solidFill>
                            <a:srgbClr val="5B6B7D"/>
                          </a:solidFill>
                          <a:latin typeface="Calibri"/>
                        </a:rPr>
                        <a:t>promptfoo - widest dataset-plugin bundle (HarmBench,…</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bl>
          </a:graphicData>
        </a:graphic>
      </p:graphicFrame>
      <p:sp>
        <p:nvSpPr>
          <p:cNvPr id="9" name="TextBox 8"/>
          <p:cNvSpPr txBox="1"/>
          <p:nvPr/>
        </p:nvSpPr>
        <p:spPr>
          <a:xfrm>
            <a:off x="502920" y="5916168"/>
            <a:ext cx="11155680" cy="201168"/>
          </a:xfrm>
          <a:prstGeom prst="rect">
            <a:avLst/>
          </a:prstGeom>
          <a:noFill/>
        </p:spPr>
        <p:txBody>
          <a:bodyPr wrap="square" anchor="t" lIns="0" rIns="0" tIns="0" bIns="0">
            <a:spAutoFit/>
          </a:bodyPr>
          <a:lstStyle/>
          <a:p>
            <a:pPr algn="l">
              <a:lnSpc>
                <a:spcPct val="100000"/>
              </a:lnSpc>
            </a:pPr>
            <a:r>
              <a:rPr sz="900" b="0" i="0">
                <a:solidFill>
                  <a:srgbClr val="1A1A2E"/>
                </a:solidFill>
                <a:latin typeface="Calibri"/>
              </a:rPr>
              <a:t>●  native / dedicated capability      ◐  partial or delegated to another tool      –  not found</a:t>
            </a:r>
          </a:p>
        </p:txBody>
      </p:sp>
      <p:sp>
        <p:nvSpPr>
          <p:cNvPr id="10" name="TextBox 9"/>
          <p:cNvSpPr txBox="1"/>
          <p:nvPr/>
        </p:nvSpPr>
        <p:spPr>
          <a:xfrm>
            <a:off x="502920" y="6135624"/>
            <a:ext cx="11155680" cy="384048"/>
          </a:xfrm>
          <a:prstGeom prst="rect">
            <a:avLst/>
          </a:prstGeom>
          <a:noFill/>
        </p:spPr>
        <p:txBody>
          <a:bodyPr wrap="square" anchor="t" lIns="0" rIns="0" tIns="0" bIns="0">
            <a:spAutoFit/>
          </a:bodyPr>
          <a:lstStyle/>
          <a:p>
            <a:pPr algn="l">
              <a:lnSpc>
                <a:spcPct val="115000"/>
              </a:lnSpc>
            </a:pPr>
            <a:r>
              <a:rPr sz="760" b="0" i="0">
                <a:solidFill>
                  <a:srgbClr val="5B6B7D"/>
                </a:solidFill>
                <a:latin typeface="Calibri"/>
              </a:rPr>
              <a:t>LG=LLM Guard   NeMo=NeMo Guardrails   PF=Promptfoo   DTm=DeepTeam   GRK=garak   GSK=Giskard   HAI=hai-guardrails   DEv=DeepEval   DCk=Deepchecks   INF=Infosys RAI Toolkit   PyR=PyRIT   FZ=FuzzyAI   OGR=OpenGuardrails   JCB=JCB   TSZ=Safe Zone (TSZ)   AzCS=Azure Content Safety   OAIM=OpenAI Moderation</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Capability Matrix - Profanity / Content Safety</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51</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18A7E"/>
                </a:solidFill>
                <a:latin typeface="Calibri"/>
              </a:rPr>
              <a:t>CAPABILITY MATRIX 6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Hallucination / Reliability</a:t>
            </a:r>
          </a:p>
        </p:txBody>
      </p:sp>
      <p:sp>
        <p:nvSpPr>
          <p:cNvPr id="6" name="Rectangle 5"/>
          <p:cNvSpPr/>
          <p:nvPr/>
        </p:nvSpPr>
        <p:spPr>
          <a:xfrm>
            <a:off x="502920" y="1207008"/>
            <a:ext cx="2011680" cy="32004"/>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155680" cy="256032"/>
          </a:xfrm>
          <a:prstGeom prst="rect">
            <a:avLst/>
          </a:prstGeom>
          <a:noFill/>
        </p:spPr>
        <p:txBody>
          <a:bodyPr wrap="square" anchor="t" lIns="0" rIns="0" tIns="0" bIns="0">
            <a:spAutoFit/>
          </a:bodyPr>
          <a:lstStyle/>
          <a:p>
            <a:pPr algn="l">
              <a:lnSpc>
                <a:spcPct val="100000"/>
              </a:lnSpc>
            </a:pPr>
            <a:r>
              <a:rPr sz="1000" b="0" i="0">
                <a:solidFill>
                  <a:srgbClr val="5B6B7D"/>
                </a:solidFill>
                <a:latin typeface="Calibri"/>
              </a:rPr>
              <a:t>Every specific control found for this tenet across 18 referenced tools - rows are capabilities, columns are tools, with a cost/efficiency best pick per row.</a:t>
            </a:r>
          </a:p>
        </p:txBody>
      </p:sp>
      <p:graphicFrame>
        <p:nvGraphicFramePr>
          <p:cNvPr id="8" name="Table 7"/>
          <p:cNvGraphicFramePr>
            <a:graphicFrameLocks noGrp="1"/>
          </p:cNvGraphicFramePr>
          <p:nvPr/>
        </p:nvGraphicFramePr>
        <p:xfrm>
          <a:off x="502920" y="1627632"/>
          <a:ext cx="11155680" cy="4242816"/>
        </p:xfrm>
        <a:graphic>
          <a:graphicData uri="http://schemas.openxmlformats.org/drawingml/2006/table">
            <a:tbl>
              <a:tblPr firstRow="1" bandRow="1">
                <a:tableStyleId>{5C22544A-7EE6-4342-B048-85BDC9FD1C3A}</a:tableStyleId>
              </a:tblPr>
              <a:tblGrid>
                <a:gridCol w="2788920"/>
                <a:gridCol w="464820"/>
                <a:gridCol w="464820"/>
                <a:gridCol w="464820"/>
                <a:gridCol w="464820"/>
                <a:gridCol w="464820"/>
                <a:gridCol w="464820"/>
                <a:gridCol w="464820"/>
                <a:gridCol w="464820"/>
                <a:gridCol w="464820"/>
                <a:gridCol w="464820"/>
                <a:gridCol w="464820"/>
                <a:gridCol w="464820"/>
                <a:gridCol w="464820"/>
                <a:gridCol w="464820"/>
                <a:gridCol w="464820"/>
                <a:gridCol w="464820"/>
                <a:gridCol w="464820"/>
                <a:gridCol w="464820"/>
              </a:tblGrid>
              <a:tr h="310896">
                <a:tc>
                  <a:txBody>
                    <a:bodyPr wrap="square"/>
                    <a:lstStyle/>
                    <a:p>
                      <a:pPr algn="l">
                        <a:lnSpc>
                          <a:spcPct val="95000"/>
                        </a:lnSpc>
                      </a:pPr>
                      <a:r>
                        <a:rPr sz="800" b="1" i="0">
                          <a:solidFill>
                            <a:srgbClr val="FFFFFF"/>
                          </a:solidFill>
                          <a:latin typeface="Calibri"/>
                        </a:rPr>
                        <a:t>CAPABILITY  /  BEST PICK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LG</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DEv</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NeMo</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GSK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DTm</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INF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GRK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OAE</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PyR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AS</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FZ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JCB</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TSZ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AzGD</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Ptr</a:t>
                      </a:r>
                    </a:p>
                  </a:txBody>
                  <a:tcPr marL="36576" marR="36576" marT="18288" marB="18288" anchor="ctr">
                    <a:solidFill>
                      <a:srgbClr val="10243E"/>
                    </a:solidFill>
                  </a:tcPr>
                </a:tc>
              </a:tr>
              <a:tr h="393192">
                <a:tc>
                  <a:txBody>
                    <a:bodyPr wrap="square"/>
                    <a:lstStyle/>
                    <a:p>
                      <a:pPr algn="l">
                        <a:lnSpc>
                          <a:spcPct val="95000"/>
                        </a:lnSpc>
                      </a:pPr>
                      <a:r>
                        <a:rPr sz="760" b="1" i="0">
                          <a:solidFill>
                            <a:srgbClr val="1A1A2E"/>
                          </a:solidFill>
                          <a:latin typeface="Calibri"/>
                        </a:rPr>
                        <a:t>Groundedness (LLM judge)</a:t>
                      </a:r>
                    </a:p>
                    <a:p>
                      <a:pPr algn="l">
                        <a:lnSpc>
                          <a:spcPct val="95000"/>
                        </a:lnSpc>
                      </a:pPr>
                      <a:r>
                        <a:rPr sz="660" b="0" i="1">
                          <a:solidFill>
                            <a:srgbClr val="5B6B7D"/>
                          </a:solidFill>
                          <a:latin typeface="Calibri"/>
                        </a:rPr>
                        <a:t>DeepEval / Giskard - versioned, CI-gateable rubrics</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393192">
                <a:tc>
                  <a:txBody>
                    <a:bodyPr wrap="square"/>
                    <a:lstStyle/>
                    <a:p>
                      <a:pPr algn="l">
                        <a:lnSpc>
                          <a:spcPct val="95000"/>
                        </a:lnSpc>
                      </a:pPr>
                      <a:r>
                        <a:rPr sz="760" b="1" i="0">
                          <a:solidFill>
                            <a:srgbClr val="1A1A2E"/>
                          </a:solidFill>
                          <a:latin typeface="Calibri"/>
                        </a:rPr>
                        <a:t>Groundedness (NLI/entailment)</a:t>
                      </a:r>
                    </a:p>
                    <a:p>
                      <a:pPr algn="l">
                        <a:lnSpc>
                          <a:spcPct val="95000"/>
                        </a:lnSpc>
                      </a:pPr>
                      <a:r>
                        <a:rPr sz="660" b="0" i="1">
                          <a:solidFill>
                            <a:srgbClr val="5B6B7D"/>
                          </a:solidFill>
                          <a:latin typeface="Calibri"/>
                        </a:rPr>
                        <a:t>LLM Guard's FactualConsistency - free, no judge-LLM call</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393192">
                <a:tc>
                  <a:txBody>
                    <a:bodyPr wrap="square"/>
                    <a:lstStyle/>
                    <a:p>
                      <a:pPr algn="l">
                        <a:lnSpc>
                          <a:spcPct val="95000"/>
                        </a:lnSpc>
                      </a:pPr>
                      <a:r>
                        <a:rPr sz="760" b="1" i="0">
                          <a:solidFill>
                            <a:srgbClr val="1A1A2E"/>
                          </a:solidFill>
                          <a:latin typeface="Calibri"/>
                        </a:rPr>
                        <a:t>Refusal / over-refusal detection</a:t>
                      </a:r>
                    </a:p>
                    <a:p>
                      <a:pPr algn="l">
                        <a:lnSpc>
                          <a:spcPct val="95000"/>
                        </a:lnSpc>
                      </a:pPr>
                      <a:r>
                        <a:rPr sz="660" b="0" i="1">
                          <a:solidFill>
                            <a:srgbClr val="5B6B7D"/>
                          </a:solidFill>
                          <a:latin typeface="Calibri"/>
                        </a:rPr>
                        <a:t>LLM Guard's NoRefusal + DeepEval role-adherence</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393192">
                <a:tc>
                  <a:txBody>
                    <a:bodyPr wrap="square"/>
                    <a:lstStyle/>
                    <a:p>
                      <a:pPr algn="l">
                        <a:lnSpc>
                          <a:spcPct val="95000"/>
                        </a:lnSpc>
                      </a:pPr>
                      <a:r>
                        <a:rPr sz="760" b="1" i="0">
                          <a:solidFill>
                            <a:srgbClr val="1A1A2E"/>
                          </a:solidFill>
                          <a:latin typeface="Calibri"/>
                        </a:rPr>
                        <a:t>RAG retrieval-quality metrics</a:t>
                      </a:r>
                    </a:p>
                    <a:p>
                      <a:pPr algn="l">
                        <a:lnSpc>
                          <a:spcPct val="95000"/>
                        </a:lnSpc>
                      </a:pPr>
                      <a:r>
                        <a:rPr sz="660" b="0" i="1">
                          <a:solidFill>
                            <a:srgbClr val="5B6B7D"/>
                          </a:solidFill>
                          <a:latin typeface="Calibri"/>
                        </a:rPr>
                        <a:t>DeepEval - contextual precision/recall/relevancy built in</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393192">
                <a:tc>
                  <a:txBody>
                    <a:bodyPr wrap="square"/>
                    <a:lstStyle/>
                    <a:p>
                      <a:pPr algn="l">
                        <a:lnSpc>
                          <a:spcPct val="95000"/>
                        </a:lnSpc>
                      </a:pPr>
                      <a:r>
                        <a:rPr sz="760" b="1" i="0">
                          <a:solidFill>
                            <a:srgbClr val="1A1A2E"/>
                          </a:solidFill>
                          <a:latin typeface="Calibri"/>
                        </a:rPr>
                        <a:t>Deterministic regression checks</a:t>
                      </a:r>
                    </a:p>
                    <a:p>
                      <a:pPr algn="l">
                        <a:lnSpc>
                          <a:spcPct val="95000"/>
                        </a:lnSpc>
                      </a:pPr>
                      <a:r>
                        <a:rPr sz="660" b="0" i="1">
                          <a:solidFill>
                            <a:srgbClr val="5B6B7D"/>
                          </a:solidFill>
                          <a:latin typeface="Calibri"/>
                        </a:rPr>
                        <a:t>promptfoo / OpenAI Evals - free, zero API cost</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393192">
                <a:tc>
                  <a:txBody>
                    <a:bodyPr wrap="square"/>
                    <a:lstStyle/>
                    <a:p>
                      <a:pPr algn="l">
                        <a:lnSpc>
                          <a:spcPct val="95000"/>
                        </a:lnSpc>
                      </a:pPr>
                      <a:r>
                        <a:rPr sz="760" b="1" i="0">
                          <a:solidFill>
                            <a:srgbClr val="1A1A2E"/>
                          </a:solidFill>
                          <a:latin typeface="Calibri"/>
                        </a:rPr>
                        <a:t>Structured-output validation</a:t>
                      </a:r>
                    </a:p>
                    <a:p>
                      <a:pPr algn="l">
                        <a:lnSpc>
                          <a:spcPct val="95000"/>
                        </a:lnSpc>
                      </a:pPr>
                      <a:r>
                        <a:rPr sz="660" b="0" i="1">
                          <a:solidFill>
                            <a:srgbClr val="5B6B7D"/>
                          </a:solidFill>
                          <a:latin typeface="Calibri"/>
                        </a:rPr>
                        <a:t>Guardrails AI - reask loop guarantees the output shape</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393192">
                <a:tc>
                  <a:txBody>
                    <a:bodyPr wrap="square"/>
                    <a:lstStyle/>
                    <a:p>
                      <a:pPr algn="l">
                        <a:lnSpc>
                          <a:spcPct val="95000"/>
                        </a:lnSpc>
                      </a:pPr>
                      <a:r>
                        <a:rPr sz="760" b="1" i="0">
                          <a:solidFill>
                            <a:srgbClr val="1A1A2E"/>
                          </a:solidFill>
                          <a:latin typeface="Calibri"/>
                        </a:rPr>
                        <a:t>Truthfulness benchmarks</a:t>
                      </a:r>
                    </a:p>
                    <a:p>
                      <a:pPr algn="l">
                        <a:lnSpc>
                          <a:spcPct val="95000"/>
                        </a:lnSpc>
                      </a:pPr>
                      <a:r>
                        <a:rPr sz="660" b="0" i="1">
                          <a:solidFill>
                            <a:srgbClr val="5B6B7D"/>
                          </a:solidFill>
                          <a:latin typeface="Calibri"/>
                        </a:rPr>
                        <a:t>DeepEval - 17 benchmark harnesses bundled</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393192">
                <a:tc>
                  <a:txBody>
                    <a:bodyPr wrap="square"/>
                    <a:lstStyle/>
                    <a:p>
                      <a:pPr algn="l">
                        <a:lnSpc>
                          <a:spcPct val="95000"/>
                        </a:lnSpc>
                      </a:pPr>
                      <a:r>
                        <a:rPr sz="760" b="1" i="0">
                          <a:solidFill>
                            <a:srgbClr val="1A1A2E"/>
                          </a:solidFill>
                          <a:latin typeface="Calibri"/>
                        </a:rPr>
                        <a:t>Fabrication probes (fake facts)</a:t>
                      </a:r>
                    </a:p>
                    <a:p>
                      <a:pPr algn="l">
                        <a:lnSpc>
                          <a:spcPct val="95000"/>
                        </a:lnSpc>
                      </a:pPr>
                      <a:r>
                        <a:rPr sz="660" b="0" i="1">
                          <a:solidFill>
                            <a:srgbClr val="5B6B7D"/>
                          </a:solidFill>
                          <a:latin typeface="Calibri"/>
                        </a:rPr>
                        <a:t>DeepTeam's HallucinationGuard - fake…</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393192">
                <a:tc>
                  <a:txBody>
                    <a:bodyPr wrap="square"/>
                    <a:lstStyle/>
                    <a:p>
                      <a:pPr algn="l">
                        <a:lnSpc>
                          <a:spcPct val="95000"/>
                        </a:lnSpc>
                      </a:pPr>
                      <a:r>
                        <a:rPr sz="760" b="1" i="0">
                          <a:solidFill>
                            <a:srgbClr val="1A1A2E"/>
                          </a:solidFill>
                          <a:latin typeface="Calibri"/>
                        </a:rPr>
                        <a:t>Package hallucination check</a:t>
                      </a:r>
                    </a:p>
                    <a:p>
                      <a:pPr algn="l">
                        <a:lnSpc>
                          <a:spcPct val="95000"/>
                        </a:lnSpc>
                      </a:pPr>
                      <a:r>
                        <a:rPr sz="660" b="0" i="1">
                          <a:solidFill>
                            <a:srgbClr val="5B6B7D"/>
                          </a:solidFill>
                          <a:latin typeface="Calibri"/>
                        </a:rPr>
                        <a:t>garak / PyRIT - catches slopsquatting risk in generated…</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393192">
                <a:tc>
                  <a:txBody>
                    <a:bodyPr wrap="square"/>
                    <a:lstStyle/>
                    <a:p>
                      <a:pPr algn="l">
                        <a:lnSpc>
                          <a:spcPct val="95000"/>
                        </a:lnSpc>
                      </a:pPr>
                      <a:r>
                        <a:rPr sz="760" b="1" i="0">
                          <a:solidFill>
                            <a:srgbClr val="1A1A2E"/>
                          </a:solidFill>
                          <a:latin typeface="Calibri"/>
                        </a:rPr>
                        <a:t>Dedicated hallucination models</a:t>
                      </a:r>
                    </a:p>
                    <a:p>
                      <a:pPr algn="l">
                        <a:lnSpc>
                          <a:spcPct val="95000"/>
                        </a:lnSpc>
                      </a:pPr>
                      <a:r>
                        <a:rPr sz="660" b="0" i="1">
                          <a:solidFill>
                            <a:srgbClr val="5B6B7D"/>
                          </a:solidFill>
                          <a:latin typeface="Calibri"/>
                        </a:rPr>
                        <a:t>DeepEval's Vectara model wrapper - no LLM cost</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bl>
          </a:graphicData>
        </a:graphic>
      </p:graphicFrame>
      <p:sp>
        <p:nvSpPr>
          <p:cNvPr id="9" name="TextBox 8"/>
          <p:cNvSpPr txBox="1"/>
          <p:nvPr/>
        </p:nvSpPr>
        <p:spPr>
          <a:xfrm>
            <a:off x="502920" y="5980176"/>
            <a:ext cx="11155680" cy="201168"/>
          </a:xfrm>
          <a:prstGeom prst="rect">
            <a:avLst/>
          </a:prstGeom>
          <a:noFill/>
        </p:spPr>
        <p:txBody>
          <a:bodyPr wrap="square" anchor="t" lIns="0" rIns="0" tIns="0" bIns="0">
            <a:spAutoFit/>
          </a:bodyPr>
          <a:lstStyle/>
          <a:p>
            <a:pPr algn="l">
              <a:lnSpc>
                <a:spcPct val="100000"/>
              </a:lnSpc>
            </a:pPr>
            <a:r>
              <a:rPr sz="900" b="0" i="0">
                <a:solidFill>
                  <a:srgbClr val="1A1A2E"/>
                </a:solidFill>
                <a:latin typeface="Calibri"/>
              </a:rPr>
              <a:t>●  native / dedicated capability      ◐  partial or delegated to another tool      –  not found</a:t>
            </a:r>
          </a:p>
        </p:txBody>
      </p:sp>
      <p:sp>
        <p:nvSpPr>
          <p:cNvPr id="10" name="TextBox 9"/>
          <p:cNvSpPr txBox="1"/>
          <p:nvPr/>
        </p:nvSpPr>
        <p:spPr>
          <a:xfrm>
            <a:off x="502920" y="6199632"/>
            <a:ext cx="11155680" cy="384048"/>
          </a:xfrm>
          <a:prstGeom prst="rect">
            <a:avLst/>
          </a:prstGeom>
          <a:noFill/>
        </p:spPr>
        <p:txBody>
          <a:bodyPr wrap="square" anchor="t" lIns="0" rIns="0" tIns="0" bIns="0">
            <a:spAutoFit/>
          </a:bodyPr>
          <a:lstStyle/>
          <a:p>
            <a:pPr algn="l">
              <a:lnSpc>
                <a:spcPct val="115000"/>
              </a:lnSpc>
            </a:pPr>
            <a:r>
              <a:rPr sz="760" b="0" i="0">
                <a:solidFill>
                  <a:srgbClr val="5B6B7D"/>
                </a:solidFill>
                <a:latin typeface="Calibri"/>
              </a:rPr>
              <a:t>LG=LLM Guard   DEv=DeepEval   NeMo=NeMo Guardrails   GSK=Giskard   DCk=Deepchecks   PF=Promptfoo   DTm=DeepTeam   INF=Infosys RAI Toolkit   GRK=garak   GAI=Guardrails AI   OAE=OpenAI Evals   PyR=PyRIT   AS=Agentic Security   FZ=FuzzyAI   JCB=JCB   TSZ=Safe Zone (TSZ)   AzGD=Azure Groundedness   Ptr=Patronus Lynx</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Capability Matrix - Hallucination / Reliability</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52</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4A6380"/>
                </a:solidFill>
                <a:latin typeface="Calibri"/>
              </a:rPr>
              <a:t>CAPABILITY MATRIX 7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Accountability</a:t>
            </a:r>
          </a:p>
        </p:txBody>
      </p:sp>
      <p:sp>
        <p:nvSpPr>
          <p:cNvPr id="6" name="Rectangle 5"/>
          <p:cNvSpPr/>
          <p:nvPr/>
        </p:nvSpPr>
        <p:spPr>
          <a:xfrm>
            <a:off x="502920" y="1207008"/>
            <a:ext cx="2011680" cy="32004"/>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155680" cy="256032"/>
          </a:xfrm>
          <a:prstGeom prst="rect">
            <a:avLst/>
          </a:prstGeom>
          <a:noFill/>
        </p:spPr>
        <p:txBody>
          <a:bodyPr wrap="square" anchor="t" lIns="0" rIns="0" tIns="0" bIns="0">
            <a:spAutoFit/>
          </a:bodyPr>
          <a:lstStyle/>
          <a:p>
            <a:pPr algn="l">
              <a:lnSpc>
                <a:spcPct val="100000"/>
              </a:lnSpc>
            </a:pPr>
            <a:r>
              <a:rPr sz="1000" b="0" i="0">
                <a:solidFill>
                  <a:srgbClr val="5B6B7D"/>
                </a:solidFill>
                <a:latin typeface="Calibri"/>
              </a:rPr>
              <a:t>Every specific control found for this tenet across 22 referenced tools - rows are capabilities, columns are tools, with a cost/efficiency best pick per row.</a:t>
            </a:r>
          </a:p>
        </p:txBody>
      </p:sp>
      <p:graphicFrame>
        <p:nvGraphicFramePr>
          <p:cNvPr id="8" name="Table 7"/>
          <p:cNvGraphicFramePr>
            <a:graphicFrameLocks noGrp="1"/>
          </p:cNvGraphicFramePr>
          <p:nvPr/>
        </p:nvGraphicFramePr>
        <p:xfrm>
          <a:off x="502920" y="1627632"/>
          <a:ext cx="11155674" cy="4242816"/>
        </p:xfrm>
        <a:graphic>
          <a:graphicData uri="http://schemas.openxmlformats.org/drawingml/2006/table">
            <a:tbl>
              <a:tblPr firstRow="1" bandRow="1">
                <a:tableStyleId>{5C22544A-7EE6-4342-B048-85BDC9FD1C3A}</a:tableStyleId>
              </a:tblPr>
              <a:tblGrid>
                <a:gridCol w="2788920"/>
                <a:gridCol w="380307"/>
                <a:gridCol w="380307"/>
                <a:gridCol w="380307"/>
                <a:gridCol w="380307"/>
                <a:gridCol w="380307"/>
                <a:gridCol w="380307"/>
                <a:gridCol w="380307"/>
                <a:gridCol w="380307"/>
                <a:gridCol w="380307"/>
                <a:gridCol w="380307"/>
                <a:gridCol w="380307"/>
                <a:gridCol w="380307"/>
                <a:gridCol w="380307"/>
                <a:gridCol w="380307"/>
                <a:gridCol w="380307"/>
                <a:gridCol w="380307"/>
                <a:gridCol w="380307"/>
                <a:gridCol w="380307"/>
                <a:gridCol w="380307"/>
                <a:gridCol w="380307"/>
                <a:gridCol w="380307"/>
                <a:gridCol w="380307"/>
              </a:tblGrid>
              <a:tr h="310896">
                <a:tc>
                  <a:txBody>
                    <a:bodyPr wrap="square"/>
                    <a:lstStyle/>
                    <a:p>
                      <a:pPr algn="l">
                        <a:lnSpc>
                          <a:spcPct val="95000"/>
                        </a:lnSpc>
                      </a:pPr>
                      <a:r>
                        <a:rPr sz="800" b="1" i="0">
                          <a:solidFill>
                            <a:srgbClr val="FFFFFF"/>
                          </a:solidFill>
                          <a:latin typeface="Calibri"/>
                        </a:rPr>
                        <a:t>CAPABILITY  /  BEST PICK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OGR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PyR</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PF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TSZ</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DCk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GSK</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DEv</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DTm</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NeMo</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RB</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OAE</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AS</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INF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AIF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SHAP</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LG</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JCB</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LMF</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HAI</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AzMon</a:t>
                      </a:r>
                    </a:p>
                  </a:txBody>
                  <a:tcPr marL="36576" marR="36576" marT="18288" marB="18288" anchor="ctr">
                    <a:solidFill>
                      <a:srgbClr val="10243E"/>
                    </a:solidFill>
                  </a:tcPr>
                </a:tc>
                <a:tc>
                  <a:txBody>
                    <a:bodyPr wrap="square"/>
                    <a:lstStyle/>
                    <a:p>
                      <a:pPr algn="ctr">
                        <a:lnSpc>
                          <a:spcPct val="95000"/>
                        </a:lnSpc>
                      </a:pPr>
                      <a:r>
                        <a:rPr sz="830" b="1" i="0">
                          <a:solidFill>
                            <a:srgbClr val="FFFFFF"/>
                          </a:solidFill>
                          <a:latin typeface="Calibri"/>
                        </a:rPr>
                        <a:t>Mon</a:t>
                      </a:r>
                    </a:p>
                  </a:txBody>
                  <a:tcPr marL="36576" marR="36576" marT="18288" marB="18288" anchor="ctr">
                    <a:solidFill>
                      <a:srgbClr val="10243E"/>
                    </a:solidFill>
                  </a:tcPr>
                </a:tc>
              </a:tr>
              <a:tr h="393192">
                <a:tc>
                  <a:txBody>
                    <a:bodyPr wrap="square"/>
                    <a:lstStyle/>
                    <a:p>
                      <a:pPr algn="l">
                        <a:lnSpc>
                          <a:spcPct val="95000"/>
                        </a:lnSpc>
                      </a:pPr>
                      <a:r>
                        <a:rPr sz="760" b="1" i="0">
                          <a:solidFill>
                            <a:srgbClr val="1A1A2E"/>
                          </a:solidFill>
                          <a:latin typeface="Calibri"/>
                        </a:rPr>
                        <a:t>Compliance-framework mapping</a:t>
                      </a:r>
                    </a:p>
                    <a:p>
                      <a:pPr algn="l">
                        <a:lnSpc>
                          <a:spcPct val="95000"/>
                        </a:lnSpc>
                      </a:pPr>
                      <a:r>
                        <a:rPr sz="660" b="0" i="1">
                          <a:solidFill>
                            <a:srgbClr val="5B6B7D"/>
                          </a:solidFill>
                          <a:latin typeface="Calibri"/>
                        </a:rPr>
                        <a:t>DeepTeam - uniquely useful for governance reporting</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393192">
                <a:tc>
                  <a:txBody>
                    <a:bodyPr wrap="square"/>
                    <a:lstStyle/>
                    <a:p>
                      <a:pPr algn="l">
                        <a:lnSpc>
                          <a:spcPct val="95000"/>
                        </a:lnSpc>
                      </a:pPr>
                      <a:r>
                        <a:rPr sz="760" b="1" i="0">
                          <a:solidFill>
                            <a:srgbClr val="1A1A2E"/>
                          </a:solidFill>
                          <a:latin typeface="Calibri"/>
                        </a:rPr>
                        <a:t>CI/CD test-gating</a:t>
                      </a:r>
                    </a:p>
                    <a:p>
                      <a:pPr algn="l">
                        <a:lnSpc>
                          <a:spcPct val="95000"/>
                        </a:lnSpc>
                      </a:pPr>
                      <a:r>
                        <a:rPr sz="660" b="0" i="1">
                          <a:solidFill>
                            <a:srgbClr val="5B6B7D"/>
                          </a:solidFill>
                          <a:latin typeface="Calibri"/>
                        </a:rPr>
                        <a:t>DeepEval - the only genuine first-party pytest11 plugin</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393192">
                <a:tc>
                  <a:txBody>
                    <a:bodyPr wrap="square"/>
                    <a:lstStyle/>
                    <a:p>
                      <a:pPr algn="l">
                        <a:lnSpc>
                          <a:spcPct val="95000"/>
                        </a:lnSpc>
                      </a:pPr>
                      <a:r>
                        <a:rPr sz="760" b="1" i="0">
                          <a:solidFill>
                            <a:srgbClr val="1A1A2E"/>
                          </a:solidFill>
                          <a:latin typeface="Calibri"/>
                        </a:rPr>
                        <a:t>On-fail remediation actions</a:t>
                      </a:r>
                    </a:p>
                    <a:p>
                      <a:pPr algn="l">
                        <a:lnSpc>
                          <a:spcPct val="95000"/>
                        </a:lnSpc>
                      </a:pPr>
                      <a:r>
                        <a:rPr sz="660" b="0" i="1">
                          <a:solidFill>
                            <a:srgbClr val="5B6B7D"/>
                          </a:solidFill>
                          <a:latin typeface="Calibri"/>
                        </a:rPr>
                        <a:t>Guardrails AI - 7 named on-fail actions plus custom</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393192">
                <a:tc>
                  <a:txBody>
                    <a:bodyPr wrap="square"/>
                    <a:lstStyle/>
                    <a:p>
                      <a:pPr algn="l">
                        <a:lnSpc>
                          <a:spcPct val="95000"/>
                        </a:lnSpc>
                      </a:pPr>
                      <a:r>
                        <a:rPr sz="760" b="1" i="0">
                          <a:solidFill>
                            <a:srgbClr val="1A1A2E"/>
                          </a:solidFill>
                          <a:latin typeface="Calibri"/>
                        </a:rPr>
                        <a:t>Audit trail / call history</a:t>
                      </a:r>
                    </a:p>
                    <a:p>
                      <a:pPr algn="l">
                        <a:lnSpc>
                          <a:spcPct val="95000"/>
                        </a:lnSpc>
                      </a:pPr>
                      <a:r>
                        <a:rPr sz="660" b="0" i="1">
                          <a:solidFill>
                            <a:srgbClr val="5B6B7D"/>
                          </a:solidFill>
                          <a:latin typeface="Calibri"/>
                        </a:rPr>
                        <a:t>Guardrails AI / Infosys - full call/iteration history</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393192">
                <a:tc>
                  <a:txBody>
                    <a:bodyPr wrap="square"/>
                    <a:lstStyle/>
                    <a:p>
                      <a:pPr algn="l">
                        <a:lnSpc>
                          <a:spcPct val="95000"/>
                        </a:lnSpc>
                      </a:pPr>
                      <a:r>
                        <a:rPr sz="760" b="1" i="0">
                          <a:solidFill>
                            <a:srgbClr val="1A1A2E"/>
                          </a:solidFill>
                          <a:latin typeface="Calibri"/>
                        </a:rPr>
                        <a:t>OpenTelemetry tracing</a:t>
                      </a:r>
                    </a:p>
                    <a:p>
                      <a:pPr algn="l">
                        <a:lnSpc>
                          <a:spcPct val="95000"/>
                        </a:lnSpc>
                      </a:pPr>
                      <a:r>
                        <a:rPr sz="660" b="0" i="1">
                          <a:solidFill>
                            <a:srgbClr val="5B6B7D"/>
                          </a:solidFill>
                          <a:latin typeface="Calibri"/>
                        </a:rPr>
                        <a:t>NeMo Guardrails / Infosys telemetry pipeline</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393192">
                <a:tc>
                  <a:txBody>
                    <a:bodyPr wrap="square"/>
                    <a:lstStyle/>
                    <a:p>
                      <a:pPr algn="l">
                        <a:lnSpc>
                          <a:spcPct val="95000"/>
                        </a:lnSpc>
                      </a:pPr>
                      <a:r>
                        <a:rPr sz="760" b="1" i="0">
                          <a:solidFill>
                            <a:srgbClr val="1A1A2E"/>
                          </a:solidFill>
                          <a:latin typeface="Calibri"/>
                        </a:rPr>
                        <a:t>Governance dashboards</a:t>
                      </a:r>
                    </a:p>
                    <a:p>
                      <a:pPr algn="l">
                        <a:lnSpc>
                          <a:spcPct val="95000"/>
                        </a:lnSpc>
                      </a:pPr>
                      <a:r>
                        <a:rPr sz="660" b="0" i="1">
                          <a:solidFill>
                            <a:srgbClr val="5B6B7D"/>
                          </a:solidFill>
                          <a:latin typeface="Calibri"/>
                        </a:rPr>
                        <a:t>Infosys - only option with one UI spanning all 7 tenets</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393192">
                <a:tc>
                  <a:txBody>
                    <a:bodyPr wrap="square"/>
                    <a:lstStyle/>
                    <a:p>
                      <a:pPr algn="l">
                        <a:lnSpc>
                          <a:spcPct val="95000"/>
                        </a:lnSpc>
                      </a:pPr>
                      <a:r>
                        <a:rPr sz="760" b="1" i="0">
                          <a:solidFill>
                            <a:srgbClr val="1A1A2E"/>
                          </a:solidFill>
                          <a:latin typeface="Calibri"/>
                        </a:rPr>
                        <a:t>Fail-closed / unjudged policy</a:t>
                      </a:r>
                    </a:p>
                    <a:p>
                      <a:pPr algn="l">
                        <a:lnSpc>
                          <a:spcPct val="95000"/>
                        </a:lnSpc>
                      </a:pPr>
                      <a:r>
                        <a:rPr sz="660" b="0" i="1">
                          <a:solidFill>
                            <a:srgbClr val="5B6B7D"/>
                          </a:solidFill>
                          <a:latin typeface="Calibri"/>
                        </a:rPr>
                        <a:t>OpenGuardrails - the only repo that names this contract…</a:t>
                      </a:r>
                    </a:p>
                  </a:txBody>
                  <a:tcPr marL="36576" marR="36576" marT="18288" marB="18288" anchor="ctr">
                    <a:solidFill>
                      <a:srgbClr val="FFFFFF"/>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r h="393192">
                <a:tc>
                  <a:txBody>
                    <a:bodyPr wrap="square"/>
                    <a:lstStyle/>
                    <a:p>
                      <a:pPr algn="l">
                        <a:lnSpc>
                          <a:spcPct val="95000"/>
                        </a:lnSpc>
                      </a:pPr>
                      <a:r>
                        <a:rPr sz="760" b="1" i="0">
                          <a:solidFill>
                            <a:srgbClr val="1A1A2E"/>
                          </a:solidFill>
                          <a:latin typeface="Calibri"/>
                        </a:rPr>
                        <a:t>Detector accuracy self-eval</a:t>
                      </a:r>
                    </a:p>
                    <a:p>
                      <a:pPr algn="l">
                        <a:lnSpc>
                          <a:spcPct val="95000"/>
                        </a:lnSpc>
                      </a:pPr>
                      <a:r>
                        <a:rPr sz="660" b="0" i="1">
                          <a:solidFill>
                            <a:srgbClr val="5B6B7D"/>
                          </a:solidFill>
                          <a:latin typeface="Calibri"/>
                        </a:rPr>
                        <a:t>PyRIT's scorer_evaluation - Krippendorff's alpha vs…</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r>
              <a:tr h="393192">
                <a:tc>
                  <a:txBody>
                    <a:bodyPr wrap="square"/>
                    <a:lstStyle/>
                    <a:p>
                      <a:pPr algn="l">
                        <a:lnSpc>
                          <a:spcPct val="95000"/>
                        </a:lnSpc>
                      </a:pPr>
                      <a:r>
                        <a:rPr sz="760" b="1" i="0">
                          <a:solidFill>
                            <a:srgbClr val="1A1A2E"/>
                          </a:solidFill>
                          <a:latin typeface="Calibri"/>
                        </a:rPr>
                        <a:t>Threshold configuration</a:t>
                      </a:r>
                    </a:p>
                    <a:p>
                      <a:pPr algn="l">
                        <a:lnSpc>
                          <a:spcPct val="95000"/>
                        </a:lnSpc>
                      </a:pPr>
                      <a:r>
                        <a:rPr sz="660" b="0" i="1">
                          <a:solidFill>
                            <a:srgbClr val="5B6B7D"/>
                          </a:solidFill>
                          <a:latin typeface="Calibri"/>
                        </a:rPr>
                        <a:t>Infosys's admin service - the pattern to copy, not the…</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A07418"/>
                          </a:solidFill>
                          <a:latin typeface="Calibri"/>
                        </a:rPr>
                        <a:t>◐</a:t>
                      </a:r>
                    </a:p>
                  </a:txBody>
                  <a:tcPr marL="36576" marR="36576" marT="18288" marB="18288" anchor="ctr">
                    <a:solidFill>
                      <a:srgbClr val="FBECD2"/>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r>
              <a:tr h="393192">
                <a:tc>
                  <a:txBody>
                    <a:bodyPr wrap="square"/>
                    <a:lstStyle/>
                    <a:p>
                      <a:pPr algn="l">
                        <a:lnSpc>
                          <a:spcPct val="95000"/>
                        </a:lnSpc>
                      </a:pPr>
                      <a:r>
                        <a:rPr sz="760" b="1" i="0">
                          <a:solidFill>
                            <a:srgbClr val="1A1A2E"/>
                          </a:solidFill>
                          <a:latin typeface="Calibri"/>
                        </a:rPr>
                        <a:t>Self-hardening attack corpus</a:t>
                      </a:r>
                    </a:p>
                    <a:p>
                      <a:pPr algn="l">
                        <a:lnSpc>
                          <a:spcPct val="95000"/>
                        </a:lnSpc>
                      </a:pPr>
                      <a:r>
                        <a:rPr sz="660" b="0" i="1">
                          <a:solidFill>
                            <a:srgbClr val="5B6B7D"/>
                          </a:solidFill>
                          <a:latin typeface="Calibri"/>
                        </a:rPr>
                        <a:t>Rebuff - the only self-learning attack corpus found</a:t>
                      </a:r>
                    </a:p>
                  </a:txBody>
                  <a:tcPr marL="36576" marR="36576" marT="18288" marB="18288" anchor="ctr">
                    <a:solidFill>
                      <a:srgbClr val="FFFFFF"/>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1E7A4C"/>
                          </a:solidFill>
                          <a:latin typeface="Calibri"/>
                        </a:rPr>
                        <a:t>●</a:t>
                      </a:r>
                    </a:p>
                  </a:txBody>
                  <a:tcPr marL="36576" marR="36576" marT="18288" marB="18288" anchor="ctr">
                    <a:solidFill>
                      <a:srgbClr val="DDEFE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c>
                  <a:txBody>
                    <a:bodyPr wrap="square"/>
                    <a:lstStyle/>
                    <a:p>
                      <a:pPr algn="ctr">
                        <a:lnSpc>
                          <a:spcPct val="95000"/>
                        </a:lnSpc>
                      </a:pPr>
                      <a:r>
                        <a:rPr sz="1200" b="1" i="0">
                          <a:solidFill>
                            <a:srgbClr val="B8B8B8"/>
                          </a:solidFill>
                          <a:latin typeface="Calibri"/>
                        </a:rPr>
                        <a:t>–</a:t>
                      </a:r>
                    </a:p>
                  </a:txBody>
                  <a:tcPr marL="36576" marR="36576" marT="18288" marB="18288" anchor="ctr">
                    <a:solidFill>
                      <a:srgbClr val="F3F3F3"/>
                    </a:solidFill>
                  </a:tcPr>
                </a:tc>
              </a:tr>
            </a:tbl>
          </a:graphicData>
        </a:graphic>
      </p:graphicFrame>
      <p:sp>
        <p:nvSpPr>
          <p:cNvPr id="9" name="TextBox 8"/>
          <p:cNvSpPr txBox="1"/>
          <p:nvPr/>
        </p:nvSpPr>
        <p:spPr>
          <a:xfrm>
            <a:off x="502920" y="5980176"/>
            <a:ext cx="11155680" cy="201168"/>
          </a:xfrm>
          <a:prstGeom prst="rect">
            <a:avLst/>
          </a:prstGeom>
          <a:noFill/>
        </p:spPr>
        <p:txBody>
          <a:bodyPr wrap="square" anchor="t" lIns="0" rIns="0" tIns="0" bIns="0">
            <a:spAutoFit/>
          </a:bodyPr>
          <a:lstStyle/>
          <a:p>
            <a:pPr algn="l">
              <a:lnSpc>
                <a:spcPct val="100000"/>
              </a:lnSpc>
            </a:pPr>
            <a:r>
              <a:rPr sz="900" b="0" i="0">
                <a:solidFill>
                  <a:srgbClr val="1A1A2E"/>
                </a:solidFill>
                <a:latin typeface="Calibri"/>
              </a:rPr>
              <a:t>●  native / dedicated capability      ◐  partial or delegated to another tool      –  not found</a:t>
            </a:r>
          </a:p>
        </p:txBody>
      </p:sp>
      <p:sp>
        <p:nvSpPr>
          <p:cNvPr id="10" name="TextBox 9"/>
          <p:cNvSpPr txBox="1"/>
          <p:nvPr/>
        </p:nvSpPr>
        <p:spPr>
          <a:xfrm>
            <a:off x="502920" y="6199632"/>
            <a:ext cx="11155680" cy="384048"/>
          </a:xfrm>
          <a:prstGeom prst="rect">
            <a:avLst/>
          </a:prstGeom>
          <a:noFill/>
        </p:spPr>
        <p:txBody>
          <a:bodyPr wrap="square" anchor="t" lIns="0" rIns="0" tIns="0" bIns="0">
            <a:spAutoFit/>
          </a:bodyPr>
          <a:lstStyle/>
          <a:p>
            <a:pPr algn="l">
              <a:lnSpc>
                <a:spcPct val="115000"/>
              </a:lnSpc>
            </a:pPr>
            <a:r>
              <a:rPr sz="760" b="0" i="0">
                <a:solidFill>
                  <a:srgbClr val="5B6B7D"/>
                </a:solidFill>
                <a:latin typeface="Calibri"/>
              </a:rPr>
              <a:t>OGR=OpenGuardrails   PyR=PyRIT   PF=Promptfoo   GAI=Guardrails AI   TSZ=Safe Zone (TSZ)   DCk=Deepchecks   GSK=Giskard   DEv=DeepEval   DTm=DeepTeam   NeMo=NeMo Guardrails   RB=Rebuff   OAE=OpenAI Evals   AS=Agentic Security   INF=Infosys RAI Toolkit   AIF=AIF360   SHAP=SHAP   LG=LLM Guard   JCB=JCB   LMF=LLMFuzzer   HAI=hai-guardrails   AzMon=Azure Monitor   Mon=Monitaur/Fiddler</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Capability Matrix - Accountability</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53</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880360"/>
            <a:ext cx="5486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058400" cy="365760"/>
          </a:xfrm>
          <a:prstGeom prst="rect">
            <a:avLst/>
          </a:prstGeom>
          <a:noFill/>
        </p:spPr>
        <p:txBody>
          <a:bodyPr wrap="square" anchor="t" lIns="0" rIns="0" tIns="0" bIns="0">
            <a:spAutoFit/>
          </a:bodyPr>
          <a:lstStyle/>
          <a:p>
            <a:pPr algn="l">
              <a:lnSpc>
                <a:spcPct val="100000"/>
              </a:lnSpc>
            </a:pPr>
            <a:r>
              <a:rPr sz="1400" b="1" i="0">
                <a:solidFill>
                  <a:srgbClr val="1B9AAA"/>
                </a:solidFill>
                <a:latin typeface="Calibri"/>
              </a:rPr>
              <a:t>SECTION</a:t>
            </a:r>
          </a:p>
        </p:txBody>
      </p:sp>
      <p:sp>
        <p:nvSpPr>
          <p:cNvPr id="6" name="TextBox 5"/>
          <p:cNvSpPr txBox="1"/>
          <p:nvPr/>
        </p:nvSpPr>
        <p:spPr>
          <a:xfrm>
            <a:off x="777240" y="3017520"/>
            <a:ext cx="10607040" cy="1005840"/>
          </a:xfrm>
          <a:prstGeom prst="rect">
            <a:avLst/>
          </a:prstGeom>
          <a:noFill/>
        </p:spPr>
        <p:txBody>
          <a:bodyPr wrap="square" anchor="t" lIns="0" rIns="0" tIns="0" bIns="0">
            <a:spAutoFit/>
          </a:bodyPr>
          <a:lstStyle/>
          <a:p>
            <a:pPr algn="l">
              <a:lnSpc>
                <a:spcPct val="100000"/>
              </a:lnSpc>
            </a:pPr>
            <a:r>
              <a:rPr sz="3400" b="1" i="0">
                <a:solidFill>
                  <a:srgbClr val="FFFFFF"/>
                </a:solidFill>
                <a:latin typeface="Calibri"/>
              </a:rPr>
              <a:t>How Each Tool Actually Works</a:t>
            </a:r>
          </a:p>
        </p:txBody>
      </p:sp>
      <p:sp>
        <p:nvSpPr>
          <p:cNvPr id="7" name="TextBox 6"/>
          <p:cNvSpPr txBox="1"/>
          <p:nvPr/>
        </p:nvSpPr>
        <p:spPr>
          <a:xfrm>
            <a:off x="822960" y="3977639"/>
            <a:ext cx="9875520" cy="731520"/>
          </a:xfrm>
          <a:prstGeom prst="rect">
            <a:avLst/>
          </a:prstGeom>
          <a:noFill/>
        </p:spPr>
        <p:txBody>
          <a:bodyPr wrap="square" anchor="t" lIns="0" rIns="0" tIns="0" bIns="0">
            <a:spAutoFit/>
          </a:bodyPr>
          <a:lstStyle/>
          <a:p>
            <a:pPr algn="l">
              <a:lnSpc>
                <a:spcPct val="125000"/>
              </a:lnSpc>
            </a:pPr>
            <a:r>
              <a:rPr sz="1400" b="0" i="0">
                <a:solidFill>
                  <a:srgbClr val="CFDAE6"/>
                </a:solidFill>
                <a:latin typeface="Calibri"/>
              </a:rPr>
              <a:t>Per tenet: every contributing repository, the mechanism behind its check - module, keyword, classifier, NLI, LLM judge or cloud API - its cost and latency class, and where it belongs in AFNI's free-first cascade.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E86AB"/>
                </a:solidFill>
                <a:latin typeface="Calibri"/>
              </a:rPr>
              <a:t>TENET METHODOLOGY 1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Privacy</a:t>
            </a:r>
          </a:p>
        </p:txBody>
      </p:sp>
      <p:sp>
        <p:nvSpPr>
          <p:cNvPr id="6" name="Rectangle 5"/>
          <p:cNvSpPr/>
          <p:nvPr/>
        </p:nvSpPr>
        <p:spPr>
          <a:xfrm>
            <a:off x="502920" y="1207008"/>
            <a:ext cx="2011680" cy="32004"/>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61872"/>
            <a:ext cx="11155680" cy="237744"/>
          </a:xfrm>
          <a:prstGeom prst="rect">
            <a:avLst/>
          </a:prstGeom>
          <a:noFill/>
        </p:spPr>
        <p:txBody>
          <a:bodyPr wrap="square" anchor="t" lIns="0" rIns="0" tIns="0" bIns="0">
            <a:spAutoFit/>
          </a:bodyPr>
          <a:lstStyle/>
          <a:p>
            <a:pPr algn="l">
              <a:lnSpc>
                <a:spcPct val="100000"/>
              </a:lnSpc>
            </a:pPr>
            <a:r>
              <a:rPr sz="950" b="0" i="0">
                <a:solidFill>
                  <a:srgbClr val="5B6B7D"/>
                </a:solidFill>
                <a:latin typeface="Calibri"/>
              </a:rPr>
              <a:t>All 17 reviewed tools that contribute a check to this tenet - what the check actually is, what it costs, and which cascade stage it belongs in.</a:t>
            </a:r>
          </a:p>
        </p:txBody>
      </p:sp>
      <p:graphicFrame>
        <p:nvGraphicFramePr>
          <p:cNvPr id="8" name="Table 7"/>
          <p:cNvGraphicFramePr>
            <a:graphicFrameLocks noGrp="1"/>
          </p:cNvGraphicFramePr>
          <p:nvPr/>
        </p:nvGraphicFramePr>
        <p:xfrm>
          <a:off x="502920" y="1572768"/>
          <a:ext cx="11155677" cy="4480545"/>
        </p:xfrm>
        <a:graphic>
          <a:graphicData uri="http://schemas.openxmlformats.org/drawingml/2006/table">
            <a:tbl>
              <a:tblPr>
                <a:tableStyleId>{5C22544A-7EE6-4342-B048-85BDC9FD1C3A}</a:tableStyleId>
              </a:tblPr>
              <a:tblGrid>
                <a:gridCol w="1549400"/>
                <a:gridCol w="1962573"/>
                <a:gridCol w="2685626"/>
                <a:gridCol w="1136226"/>
                <a:gridCol w="1136226"/>
                <a:gridCol w="929640"/>
                <a:gridCol w="1032933"/>
                <a:gridCol w="723053"/>
              </a:tblGrid>
              <a:tr h="274320">
                <a:tc>
                  <a:txBody>
                    <a:bodyPr wrap="square"/>
                    <a:lstStyle/>
                    <a:p>
                      <a:pPr algn="l">
                        <a:lnSpc>
                          <a:spcPct val="92000"/>
                        </a:lnSpc>
                      </a:pPr>
                      <a:r>
                        <a:rPr sz="750" b="1" i="0">
                          <a:solidFill>
                            <a:srgbClr val="FFFFFF"/>
                          </a:solidFill>
                          <a:latin typeface="Calibri"/>
                        </a:rPr>
                        <a:t>Repository</a:t>
                      </a:r>
                    </a:p>
                  </a:txBody>
                  <a:tcPr marL="32004" marR="32004" marT="10972" marB="10972" anchor="ctr">
                    <a:solidFill>
                      <a:srgbClr val="10243E"/>
                    </a:solidFill>
                  </a:tcPr>
                </a:tc>
                <a:tc>
                  <a:txBody>
                    <a:bodyPr wrap="square"/>
                    <a:lstStyle/>
                    <a:p>
                      <a:pPr algn="l">
                        <a:lnSpc>
                          <a:spcPct val="92000"/>
                        </a:lnSpc>
                      </a:pPr>
                      <a:r>
                        <a:rPr sz="750" b="1" i="0">
                          <a:solidFill>
                            <a:srgbClr val="FFFFFF"/>
                          </a:solidFill>
                          <a:latin typeface="Calibri"/>
                        </a:rPr>
                        <a:t>Mechanism</a:t>
                      </a:r>
                    </a:p>
                  </a:txBody>
                  <a:tcPr marL="32004" marR="32004" marT="10972" marB="10972" anchor="ctr">
                    <a:solidFill>
                      <a:srgbClr val="10243E"/>
                    </a:solidFill>
                  </a:tcPr>
                </a:tc>
                <a:tc>
                  <a:txBody>
                    <a:bodyPr wrap="square"/>
                    <a:lstStyle/>
                    <a:p>
                      <a:pPr algn="l">
                        <a:lnSpc>
                          <a:spcPct val="92000"/>
                        </a:lnSpc>
                      </a:pPr>
                      <a:r>
                        <a:rPr sz="750" b="1" i="0">
                          <a:solidFill>
                            <a:srgbClr val="FFFFFF"/>
                          </a:solidFill>
                          <a:latin typeface="Calibri"/>
                        </a:rPr>
                        <a:t>What it does for this tenet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Cost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Latency</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Runs</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Target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Stage</a:t>
                      </a:r>
                    </a:p>
                  </a:txBody>
                  <a:tcPr marL="32004" marR="32004" marT="10972" marB="10972" anchor="ctr">
                    <a:solidFill>
                      <a:srgbClr val="10243E"/>
                    </a:solidFill>
                  </a:tcPr>
                </a:tc>
              </a:tr>
              <a:tr h="247425">
                <a:tc>
                  <a:txBody>
                    <a:bodyPr wrap="square"/>
                    <a:lstStyle/>
                    <a:p>
                      <a:pPr algn="l">
                        <a:lnSpc>
                          <a:spcPct val="92000"/>
                        </a:lnSpc>
                      </a:pPr>
                      <a:r>
                        <a:rPr sz="640" b="1" i="0">
                          <a:solidFill>
                            <a:srgbClr val="10243E"/>
                          </a:solidFill>
                          <a:latin typeface="Calibri"/>
                        </a:rPr>
                        <a:t>hai-guardrails</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Keyword/Regex + LLM-judge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piiGuard: 10 regexes incl ICD-10/MRN/NPI/DEA redaction; leakageGuard LLM-judge for prompt/config leaks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Very low-High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Infosys RAI Toolkit</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Module + Classifier</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Presidio analyzer/anonymizer + roberta/PIIRanha NER; Faker and diffprivlib; DICOM/image redaction</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Very low-Low</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Both</a:t>
                      </a:r>
                    </a:p>
                  </a:txBody>
                  <a:tcPr marL="32004" marR="32004" marT="10972" marB="10972" anchor="ctr">
                    <a:solidFill>
                      <a:srgbClr val="F4F7FA"/>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LLM Guard</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Module + Keyword/Regex + Classifier</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Anonymize scanner: presidio-analyzer 2.2.358 + regex_patterns.py + ai4privacy NER; Vault deanonymize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Very low-Low</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NeMo Guardrails</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Module + Classifier</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Presidio Analyzer/Anonymizer detect+mask rails; GLiNER NIM (nvidia/gliner-pii) zero-shot NER</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Very low-Low</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Rebuff</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Keyword/Regex</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Canary word (secrets.token_hex) hidden in prompt as an HTML comment; substring check on the completion</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Very low</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Safe Zone (TSZ)</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Keyword/Regex + LLM-judge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init.sql regex patterns (EMAIL, US_SSN, CREDIT_CARD, IBAN_TR) + AI_PROMPT LLM judges; no Luhn check</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Very low-High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DeepTeam</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LLM-judge + Attack generator</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PIIMetric/PromptExtractionMetric judge leaks; PrivacyGuard (gpt-4.1) screens live input and output</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High-Batch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C0392B"/>
                          </a:solidFill>
                          <a:latin typeface="Calibri"/>
                        </a:rPr>
                        <a:t>Stage 3</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Guardrails AI</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Module + Keyword/Regex</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NO in-repo PII code - delegates to pip guardrails-ai-detect-pii (Presidio+spaCy); MockDetectPII is tests only</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Very low</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10243E"/>
                          </a:solidFill>
                          <a:latin typeface="Calibri"/>
                        </a:rPr>
                        <a:t>Delegates</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OpenGuardrails</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Cloud API + Module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taxonomy privacy.pii.* registry + presidio name mapping; no detector of its own; redact.go splices spans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Very low-Medium</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10243E"/>
                          </a:solidFill>
                          <a:latin typeface="Calibri"/>
                        </a:rPr>
                        <a:t>Delegates</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Agentic Security</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Keyword/Regex</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PIIDetector regex set (email/SSN/phone/private key/token) plus Luhn-checked cards; ships DISABLED by default</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Deepchecks</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Keyword/Regex</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Regex email/URL counts as TextData properties only; no Presidio, no NER, no redaction capability</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DeepEval</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LLM-judge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PIILeakageMetric uses extract_pii + generate_verdicts Jinja prompts judged by an LLM - no regex, no Presidio</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garak</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Attack generator + Keyword/Regex</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ProPILE twin/triplet/quad probes; propile.PIILeak exact + Jaro-Winkler match; sysprompt 4-gram overlap</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Giskard v3</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Attack generator + LLM-judge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No native PII check at all; only optional deepteam PIILeakage/PromptLeakage + garak data-exfil probes</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JCB</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Module + Statistical</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Memorisation test: 100 copyright behaviors + datasketch MinHash Jaccard&gt;0.6 vs 100 reference hash files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Promptfoo</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Attack generator + LLM-judge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PII plugins (pii:direct/api-db/session/social) generate probes; PiiGrader LLM rubric judges disclosure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PyRIT</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Module + Attack generator</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SystemPromptExtractionScorer n-gram overlap + PlagiarismScorer LCS/Jaccard vs reference text</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bl>
          </a:graphicData>
        </a:graphic>
      </p:graphicFrame>
      <p:sp>
        <p:nvSpPr>
          <p:cNvPr id="9" name="TextBox 8"/>
          <p:cNvSpPr txBox="1"/>
          <p:nvPr/>
        </p:nvSpPr>
        <p:spPr>
          <a:xfrm>
            <a:off x="502920" y="6135624"/>
            <a:ext cx="11155680" cy="182880"/>
          </a:xfrm>
          <a:prstGeom prst="rect">
            <a:avLst/>
          </a:prstGeom>
          <a:noFill/>
        </p:spPr>
        <p:txBody>
          <a:bodyPr wrap="square" anchor="t" lIns="0" rIns="0" tIns="0" bIns="0">
            <a:spAutoFit/>
          </a:bodyPr>
          <a:lstStyle/>
          <a:p>
            <a:pPr algn="l">
              <a:lnSpc>
                <a:spcPct val="100000"/>
              </a:lnSpc>
            </a:pPr>
            <a:r>
              <a:rPr sz="720" b="0" i="0">
                <a:solidFill>
                  <a:srgbClr val="1A1A2E"/>
                </a:solidFill>
                <a:latin typeface="Calibri"/>
              </a:rPr>
              <a:t>Stage 1  free + deterministic, runs on every request      Stage 2  local model, or cloud second opinion on borderline input only      Stage 3  paid / LLM-judge / heavy      Delegates  contract or taxonomy only, no detector of its own      Offline  CI and red-team only</a:t>
            </a:r>
          </a:p>
        </p:txBody>
      </p:sp>
      <p:sp>
        <p:nvSpPr>
          <p:cNvPr id="10" name="TextBox 9"/>
          <p:cNvSpPr txBox="1"/>
          <p:nvPr/>
        </p:nvSpPr>
        <p:spPr>
          <a:xfrm>
            <a:off x="502920" y="6309360"/>
            <a:ext cx="11155680" cy="164592"/>
          </a:xfrm>
          <a:prstGeom prst="rect">
            <a:avLst/>
          </a:prstGeom>
          <a:noFill/>
        </p:spPr>
        <p:txBody>
          <a:bodyPr wrap="square" anchor="t" lIns="0" rIns="0" tIns="0" bIns="0">
            <a:spAutoFit/>
          </a:bodyPr>
          <a:lstStyle/>
          <a:p>
            <a:pPr algn="l">
              <a:lnSpc>
                <a:spcPct val="100000"/>
              </a:lnSpc>
            </a:pPr>
            <a:r>
              <a:rPr sz="680" b="0" i="1">
                <a:solidFill>
                  <a:srgbClr val="5B6B7D"/>
                </a:solidFill>
                <a:latin typeface="Calibri"/>
              </a:rPr>
              <a:t>Stage = the earliest point this tool can contribute, taken from its cheapest mechanism. Latency is a range across its mechanisms, estimated from what the source actually does - not a benchmarked measurement.</a:t>
            </a:r>
          </a:p>
        </p:txBody>
      </p:sp>
      <p:sp>
        <p:nvSpPr>
          <p:cNvPr id="11" name="Rounded Rectangle 10"/>
          <p:cNvSpPr/>
          <p:nvPr/>
        </p:nvSpPr>
        <p:spPr>
          <a:xfrm>
            <a:off x="502920" y="6501384"/>
            <a:ext cx="11155680" cy="384048"/>
          </a:xfrm>
          <a:prstGeom prst="roundRect">
            <a:avLst>
              <a:gd name="adj" fmla="val 4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6537960"/>
            <a:ext cx="2286000" cy="146304"/>
          </a:xfrm>
          <a:prstGeom prst="rect">
            <a:avLst/>
          </a:prstGeom>
          <a:noFill/>
        </p:spPr>
        <p:txBody>
          <a:bodyPr wrap="square" anchor="t" lIns="0" rIns="0" tIns="0" bIns="0">
            <a:spAutoFit/>
          </a:bodyPr>
          <a:lstStyle/>
          <a:p>
            <a:pPr algn="l">
              <a:lnSpc>
                <a:spcPct val="100000"/>
              </a:lnSpc>
            </a:pPr>
            <a:r>
              <a:rPr sz="680" b="1" i="0">
                <a:solidFill>
                  <a:srgbClr val="1B9AAA"/>
                </a:solidFill>
                <a:latin typeface="Calibri"/>
              </a:rPr>
              <a:t>STAGE 3 - CLOUD / PAID FALLBACKS</a:t>
            </a:r>
          </a:p>
        </p:txBody>
      </p:sp>
      <p:sp>
        <p:nvSpPr>
          <p:cNvPr id="13" name="TextBox 12"/>
          <p:cNvSpPr txBox="1"/>
          <p:nvPr/>
        </p:nvSpPr>
        <p:spPr>
          <a:xfrm>
            <a:off x="630936" y="6675120"/>
            <a:ext cx="10899648" cy="182879"/>
          </a:xfrm>
          <a:prstGeom prst="rect">
            <a:avLst/>
          </a:prstGeom>
          <a:noFill/>
        </p:spPr>
        <p:txBody>
          <a:bodyPr wrap="square" anchor="t" lIns="0" rIns="0" tIns="0" bIns="0">
            <a:spAutoFit/>
          </a:bodyPr>
          <a:lstStyle/>
          <a:p>
            <a:pPr algn="l">
              <a:lnSpc>
                <a:spcPct val="108000"/>
              </a:lnSpc>
            </a:pPr>
            <a:r>
              <a:rPr sz="660" b="0" i="0">
                <a:solidFill>
                  <a:srgbClr val="CFDAE6"/>
                </a:solidFill>
                <a:latin typeface="Calibri"/>
              </a:rPr>
              <a:t>Microsoft Presidio (open-source, but the de facto engine everything wraps)   Azure AI Language PII detection service   AWS Bedrock Guardrails (PII filters and masking)   Private AI / Polygraf PII (already wired as NeMo Guardrails rails)   NVIDIA GLiNER-PII NIM (hosted zero-shot PII NER)</a:t>
            </a:r>
          </a:p>
        </p:txBody>
      </p:sp>
      <p:sp>
        <p:nvSpPr>
          <p:cNvPr id="14" name="Rectangle 13"/>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6" name="TextBox 15"/>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Methodology - Privacy</a:t>
            </a:r>
          </a:p>
        </p:txBody>
      </p:sp>
      <p:sp>
        <p:nvSpPr>
          <p:cNvPr id="17" name="TextBox 16"/>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55</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D62828"/>
                </a:solidFill>
                <a:latin typeface="Calibri"/>
              </a:rPr>
              <a:t>TENET METHODOLOGY 2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Security</a:t>
            </a:r>
          </a:p>
        </p:txBody>
      </p:sp>
      <p:sp>
        <p:nvSpPr>
          <p:cNvPr id="6" name="Rectangle 5"/>
          <p:cNvSpPr/>
          <p:nvPr/>
        </p:nvSpPr>
        <p:spPr>
          <a:xfrm>
            <a:off x="502920" y="1207008"/>
            <a:ext cx="2011680" cy="32004"/>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61872"/>
            <a:ext cx="11155680" cy="237744"/>
          </a:xfrm>
          <a:prstGeom prst="rect">
            <a:avLst/>
          </a:prstGeom>
          <a:noFill/>
        </p:spPr>
        <p:txBody>
          <a:bodyPr wrap="square" anchor="t" lIns="0" rIns="0" tIns="0" bIns="0">
            <a:spAutoFit/>
          </a:bodyPr>
          <a:lstStyle/>
          <a:p>
            <a:pPr algn="l">
              <a:lnSpc>
                <a:spcPct val="100000"/>
              </a:lnSpc>
            </a:pPr>
            <a:r>
              <a:rPr sz="950" b="0" i="0">
                <a:solidFill>
                  <a:srgbClr val="5B6B7D"/>
                </a:solidFill>
                <a:latin typeface="Calibri"/>
              </a:rPr>
              <a:t>All 16 reviewed tools that contribute a check to this tenet - what the check actually is, what it costs, and which cascade stage it belongs in.</a:t>
            </a:r>
          </a:p>
        </p:txBody>
      </p:sp>
      <p:graphicFrame>
        <p:nvGraphicFramePr>
          <p:cNvPr id="8" name="Table 7"/>
          <p:cNvGraphicFramePr>
            <a:graphicFrameLocks noGrp="1"/>
          </p:cNvGraphicFramePr>
          <p:nvPr/>
        </p:nvGraphicFramePr>
        <p:xfrm>
          <a:off x="502920" y="1572768"/>
          <a:ext cx="11155677" cy="4480560"/>
        </p:xfrm>
        <a:graphic>
          <a:graphicData uri="http://schemas.openxmlformats.org/drawingml/2006/table">
            <a:tbl>
              <a:tblPr>
                <a:tableStyleId>{5C22544A-7EE6-4342-B048-85BDC9FD1C3A}</a:tableStyleId>
              </a:tblPr>
              <a:tblGrid>
                <a:gridCol w="1549400"/>
                <a:gridCol w="1962573"/>
                <a:gridCol w="2685626"/>
                <a:gridCol w="1136226"/>
                <a:gridCol w="1136226"/>
                <a:gridCol w="929640"/>
                <a:gridCol w="1032933"/>
                <a:gridCol w="723053"/>
              </a:tblGrid>
              <a:tr h="274320">
                <a:tc>
                  <a:txBody>
                    <a:bodyPr wrap="square"/>
                    <a:lstStyle/>
                    <a:p>
                      <a:pPr algn="l">
                        <a:lnSpc>
                          <a:spcPct val="92000"/>
                        </a:lnSpc>
                      </a:pPr>
                      <a:r>
                        <a:rPr sz="750" b="1" i="0">
                          <a:solidFill>
                            <a:srgbClr val="FFFFFF"/>
                          </a:solidFill>
                          <a:latin typeface="Calibri"/>
                        </a:rPr>
                        <a:t>Repository</a:t>
                      </a:r>
                    </a:p>
                  </a:txBody>
                  <a:tcPr marL="32004" marR="32004" marT="10972" marB="10972" anchor="ctr">
                    <a:solidFill>
                      <a:srgbClr val="10243E"/>
                    </a:solidFill>
                  </a:tcPr>
                </a:tc>
                <a:tc>
                  <a:txBody>
                    <a:bodyPr wrap="square"/>
                    <a:lstStyle/>
                    <a:p>
                      <a:pPr algn="l">
                        <a:lnSpc>
                          <a:spcPct val="92000"/>
                        </a:lnSpc>
                      </a:pPr>
                      <a:r>
                        <a:rPr sz="750" b="1" i="0">
                          <a:solidFill>
                            <a:srgbClr val="FFFFFF"/>
                          </a:solidFill>
                          <a:latin typeface="Calibri"/>
                        </a:rPr>
                        <a:t>Mechanism</a:t>
                      </a:r>
                    </a:p>
                  </a:txBody>
                  <a:tcPr marL="32004" marR="32004" marT="10972" marB="10972" anchor="ctr">
                    <a:solidFill>
                      <a:srgbClr val="10243E"/>
                    </a:solidFill>
                  </a:tcPr>
                </a:tc>
                <a:tc>
                  <a:txBody>
                    <a:bodyPr wrap="square"/>
                    <a:lstStyle/>
                    <a:p>
                      <a:pPr algn="l">
                        <a:lnSpc>
                          <a:spcPct val="92000"/>
                        </a:lnSpc>
                      </a:pPr>
                      <a:r>
                        <a:rPr sz="750" b="1" i="0">
                          <a:solidFill>
                            <a:srgbClr val="FFFFFF"/>
                          </a:solidFill>
                          <a:latin typeface="Calibri"/>
                        </a:rPr>
                        <a:t>What it does for this tenet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Cost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Latency</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Runs</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Target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Stage</a:t>
                      </a:r>
                    </a:p>
                  </a:txBody>
                  <a:tcPr marL="32004" marR="32004" marT="10972" marB="10972" anchor="ctr">
                    <a:solidFill>
                      <a:srgbClr val="10243E"/>
                    </a:solidFill>
                  </a:tcPr>
                </a:tc>
              </a:tr>
              <a:tr h="262890">
                <a:tc>
                  <a:txBody>
                    <a:bodyPr wrap="square"/>
                    <a:lstStyle/>
                    <a:p>
                      <a:pPr algn="l">
                        <a:lnSpc>
                          <a:spcPct val="92000"/>
                        </a:lnSpc>
                      </a:pPr>
                      <a:r>
                        <a:rPr sz="640" b="1" i="0">
                          <a:solidFill>
                            <a:srgbClr val="10243E"/>
                          </a:solidFill>
                          <a:latin typeface="Calibri"/>
                        </a:rPr>
                        <a:t>hai-guardrails</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Keyword/Regex + LLM-judge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injectionGuard heuristic/pattern/LLM modes; secretGuard 25 vendor regexes gated by Shannon entropy</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Very low-High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FFFFF"/>
                    </a:solidFill>
                  </a:tcPr>
                </a:tc>
              </a:tr>
              <a:tr h="262890">
                <a:tc>
                  <a:txBody>
                    <a:bodyPr wrap="square"/>
                    <a:lstStyle/>
                    <a:p>
                      <a:pPr algn="l">
                        <a:lnSpc>
                          <a:spcPct val="92000"/>
                        </a:lnSpc>
                      </a:pPr>
                      <a:r>
                        <a:rPr sz="640" b="1" i="0">
                          <a:solidFill>
                            <a:srgbClr val="10243E"/>
                          </a:solidFill>
                          <a:latin typeface="Calibri"/>
                        </a:rPr>
                        <a:t>LLM Guard</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Classifier + Keyword/Regex</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protectai/deberta-v3-base-prompt-injection-v2 + bc-detect-secrets (95 plugins) + unicode invisible-char strip</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Very low-Low</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4F7FA"/>
                    </a:solidFill>
                  </a:tcPr>
                </a:tc>
              </a:tr>
              <a:tr h="262890">
                <a:tc>
                  <a:txBody>
                    <a:bodyPr wrap="square"/>
                    <a:lstStyle/>
                    <a:p>
                      <a:pPr algn="l">
                        <a:lnSpc>
                          <a:spcPct val="92000"/>
                        </a:lnSpc>
                      </a:pPr>
                      <a:r>
                        <a:rPr sz="640" b="1" i="0">
                          <a:solidFill>
                            <a:srgbClr val="10243E"/>
                          </a:solidFill>
                          <a:latin typeface="Calibri"/>
                        </a:rPr>
                        <a:t>NeMo Guardrails</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Classifier + Keyword/Regex</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NemoGuard-JailbreakDetect ONNX RF over Snowflake embeddings + YARA sqli/code/template/xss rules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Very low-Low</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FFFFF"/>
                    </a:solidFill>
                  </a:tcPr>
                </a:tc>
              </a:tr>
              <a:tr h="262890">
                <a:tc>
                  <a:txBody>
                    <a:bodyPr wrap="square"/>
                    <a:lstStyle/>
                    <a:p>
                      <a:pPr algn="l">
                        <a:lnSpc>
                          <a:spcPct val="92000"/>
                        </a:lnSpc>
                      </a:pPr>
                      <a:r>
                        <a:rPr sz="640" b="1" i="0">
                          <a:solidFill>
                            <a:srgbClr val="10243E"/>
                          </a:solidFill>
                          <a:latin typeface="Calibri"/>
                        </a:rPr>
                        <a:t>OpenGuardrails</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Keyword/Regex + Cloud API</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benchmark-harness KeywordBaseline 23-term list + 6 ConfigRules regexes + EGRESS_ALLOW; reference only</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Very low-Medium</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4F7FA"/>
                    </a:solidFill>
                  </a:tcPr>
                </a:tc>
              </a:tr>
              <a:tr h="262890">
                <a:tc>
                  <a:txBody>
                    <a:bodyPr wrap="square"/>
                    <a:lstStyle/>
                    <a:p>
                      <a:pPr algn="l">
                        <a:lnSpc>
                          <a:spcPct val="92000"/>
                        </a:lnSpc>
                      </a:pPr>
                      <a:r>
                        <a:rPr sz="640" b="1" i="0">
                          <a:solidFill>
                            <a:srgbClr val="10243E"/>
                          </a:solidFill>
                          <a:latin typeface="Calibri"/>
                        </a:rPr>
                        <a:t>Safe Zone (TSZ)</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Keyword/Regex + LLM-judge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PROMPT_INJECTION_SIMPLE/JAILBREAK_DAN regexes + AWS/API-key SECRET regexes; injection AI_PROMPT</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Very low-High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FFFFF"/>
                    </a:solidFill>
                  </a:tcPr>
                </a:tc>
              </a:tr>
              <a:tr h="262890">
                <a:tc>
                  <a:txBody>
                    <a:bodyPr wrap="square"/>
                    <a:lstStyle/>
                    <a:p>
                      <a:pPr algn="l">
                        <a:lnSpc>
                          <a:spcPct val="92000"/>
                        </a:lnSpc>
                      </a:pPr>
                      <a:r>
                        <a:rPr sz="640" b="1" i="0">
                          <a:solidFill>
                            <a:srgbClr val="10243E"/>
                          </a:solidFill>
                          <a:latin typeface="Calibri"/>
                        </a:rPr>
                        <a:t>Infosys RAI Toolkit</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Classifier + LLM-judge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fine_tuned_promptInjection model + mpnet cosine vs jailbreak_embeddings.json; SmoothLLM/Bergeron critique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Low-High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E88C00"/>
                          </a:solidFill>
                          <a:latin typeface="Calibri"/>
                        </a:rPr>
                        <a:t>Stage 2</a:t>
                      </a:r>
                    </a:p>
                  </a:txBody>
                  <a:tcPr marL="32004" marR="32004" marT="10972" marB="10972" anchor="ctr">
                    <a:solidFill>
                      <a:srgbClr val="F4F7FA"/>
                    </a:solidFill>
                  </a:tcPr>
                </a:tc>
              </a:tr>
              <a:tr h="262890">
                <a:tc>
                  <a:txBody>
                    <a:bodyPr wrap="square"/>
                    <a:lstStyle/>
                    <a:p>
                      <a:pPr algn="l">
                        <a:lnSpc>
                          <a:spcPct val="92000"/>
                        </a:lnSpc>
                      </a:pPr>
                      <a:r>
                        <a:rPr sz="640" b="1" i="0">
                          <a:solidFill>
                            <a:srgbClr val="10243E"/>
                          </a:solidFill>
                          <a:latin typeface="Calibri"/>
                        </a:rPr>
                        <a:t>DeepTeam</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Attack generator + LLM-judge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23 single-turn + 5 multi-turn attacks (Crescendo/Tree/Linear); PromptInjection and Cybersecurity guards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High-Batch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C0392B"/>
                          </a:solidFill>
                          <a:latin typeface="Calibri"/>
                        </a:rPr>
                        <a:t>Stage 3</a:t>
                      </a:r>
                    </a:p>
                  </a:txBody>
                  <a:tcPr marL="32004" marR="32004" marT="10972" marB="10972" anchor="ctr">
                    <a:solidFill>
                      <a:srgbClr val="FFFFFF"/>
                    </a:solidFill>
                  </a:tcPr>
                </a:tc>
              </a:tr>
              <a:tr h="262890">
                <a:tc>
                  <a:txBody>
                    <a:bodyPr wrap="square"/>
                    <a:lstStyle/>
                    <a:p>
                      <a:pPr algn="l">
                        <a:lnSpc>
                          <a:spcPct val="92000"/>
                        </a:lnSpc>
                      </a:pPr>
                      <a:r>
                        <a:rPr sz="640" b="1" i="0">
                          <a:solidFill>
                            <a:srgbClr val="10243E"/>
                          </a:solidFill>
                          <a:latin typeface="Calibri"/>
                        </a:rPr>
                        <a:t>Rebuff</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Keyword/Regex + LLM-judge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L1 free heuristic (11x8x20x5 generated keywords, SequenceMatcher) then paid gpt-3.5 judge + pinecone top-20</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Very low-High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C0392B"/>
                          </a:solidFill>
                          <a:latin typeface="Calibri"/>
                        </a:rPr>
                        <a:t>Stage 3</a:t>
                      </a:r>
                    </a:p>
                  </a:txBody>
                  <a:tcPr marL="32004" marR="32004" marT="10972" marB="10972" anchor="ctr">
                    <a:solidFill>
                      <a:srgbClr val="F4F7FA"/>
                    </a:solidFill>
                  </a:tcPr>
                </a:tc>
              </a:tr>
              <a:tr h="262890">
                <a:tc>
                  <a:txBody>
                    <a:bodyPr wrap="square"/>
                    <a:lstStyle/>
                    <a:p>
                      <a:pPr algn="l">
                        <a:lnSpc>
                          <a:spcPct val="92000"/>
                        </a:lnSpc>
                      </a:pPr>
                      <a:r>
                        <a:rPr sz="640" b="1" i="0">
                          <a:solidFill>
                            <a:srgbClr val="10243E"/>
                          </a:solidFill>
                          <a:latin typeface="Calibri"/>
                        </a:rPr>
                        <a:t>Agentic Security</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Attack generator + Keyword/Regex</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Jailbreak-dataset + stenography/adaptive-attack generators, YAML attack rules; SandboxEscapeDetector regex</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62890">
                <a:tc>
                  <a:txBody>
                    <a:bodyPr wrap="square"/>
                    <a:lstStyle/>
                    <a:p>
                      <a:pPr algn="l">
                        <a:lnSpc>
                          <a:spcPct val="92000"/>
                        </a:lnSpc>
                      </a:pPr>
                      <a:r>
                        <a:rPr sz="640" b="1" i="0">
                          <a:solidFill>
                            <a:srgbClr val="10243E"/>
                          </a:solidFill>
                          <a:latin typeface="Calibri"/>
                        </a:rPr>
                        <a:t>DeepEval</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Keyword/Regex + Module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ToolPermissionMetric allow/deny lists + ToolCorrectnessMetric set-compare; fully deterministic, no LLM</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62890">
                <a:tc>
                  <a:txBody>
                    <a:bodyPr wrap="square"/>
                    <a:lstStyle/>
                    <a:p>
                      <a:pPr algn="l">
                        <a:lnSpc>
                          <a:spcPct val="92000"/>
                        </a:lnSpc>
                      </a:pPr>
                      <a:r>
                        <a:rPr sz="640" b="1" i="0">
                          <a:solidFill>
                            <a:srgbClr val="10243E"/>
                          </a:solidFill>
                          <a:latin typeface="Calibri"/>
                        </a:rPr>
                        <a:t>FuzzyAI</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Attack generator + Cloud API</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20 attack handlers in attacks/enums.py: DAN, Crescendo, ActorAttack, BoN, pygad genetic, ManyShot, ArtPrompt</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62890">
                <a:tc>
                  <a:txBody>
                    <a:bodyPr wrap="square"/>
                    <a:lstStyle/>
                    <a:p>
                      <a:pPr algn="l">
                        <a:lnSpc>
                          <a:spcPct val="92000"/>
                        </a:lnSpc>
                      </a:pPr>
                      <a:r>
                        <a:rPr sz="640" b="1" i="0">
                          <a:solidFill>
                            <a:srgbClr val="10243E"/>
                          </a:solidFill>
                          <a:latin typeface="Calibri"/>
                        </a:rPr>
                        <a:t>garak</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Attack generator + Keyword/Regex</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DAN/encoding/latent-injection probe packs; string detectors dan.DAN, shields.Up/Down, 58 apikey regexes</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62890">
                <a:tc>
                  <a:txBody>
                    <a:bodyPr wrap="square"/>
                    <a:lstStyle/>
                    <a:p>
                      <a:pPr algn="l">
                        <a:lnSpc>
                          <a:spcPct val="92000"/>
                        </a:lnSpc>
                      </a:pPr>
                      <a:r>
                        <a:rPr sz="640" b="1" i="0">
                          <a:solidFill>
                            <a:srgbClr val="10243E"/>
                          </a:solidFill>
                          <a:latin typeface="Calibri"/>
                        </a:rPr>
                        <a:t>Giskard v3</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Attack generator + LLM-judge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18 OWASP-LLM01 scenarios in prompt_injection.jsonl (leet/base64/multilingual/DAN) + Crescendo/GOAT/GCG</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62890">
                <a:tc>
                  <a:txBody>
                    <a:bodyPr wrap="square"/>
                    <a:lstStyle/>
                    <a:p>
                      <a:pPr algn="l">
                        <a:lnSpc>
                          <a:spcPct val="92000"/>
                        </a:lnSpc>
                      </a:pPr>
                      <a:r>
                        <a:rPr sz="640" b="1" i="0">
                          <a:solidFill>
                            <a:srgbClr val="10243E"/>
                          </a:solidFill>
                          <a:latin typeface="Calibri"/>
                        </a:rPr>
                        <a:t>JCB</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Attack generator</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JCB loop: ChatGPT seed templates, WordNet synonym mutation, UCB/eps-greedy bandit reuse across behaviors</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62890">
                <a:tc>
                  <a:txBody>
                    <a:bodyPr wrap="square"/>
                    <a:lstStyle/>
                    <a:p>
                      <a:pPr algn="l">
                        <a:lnSpc>
                          <a:spcPct val="92000"/>
                        </a:lnSpc>
                      </a:pPr>
                      <a:r>
                        <a:rPr sz="640" b="1" i="0">
                          <a:solidFill>
                            <a:srgbClr val="10243E"/>
                          </a:solidFill>
                          <a:latin typeface="Calibri"/>
                        </a:rPr>
                        <a:t>Promptfoo</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Attack generator + LLM-judge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30+ jailbreak/encoding strategies (GCG, Crescendo, GOAT, base64/ROT13/morse) + per-plugin LLM rubric graders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62890">
                <a:tc>
                  <a:txBody>
                    <a:bodyPr wrap="square"/>
                    <a:lstStyle/>
                    <a:p>
                      <a:pPr algn="l">
                        <a:lnSpc>
                          <a:spcPct val="92000"/>
                        </a:lnSpc>
                      </a:pPr>
                      <a:r>
                        <a:rPr sz="640" b="1" i="0">
                          <a:solidFill>
                            <a:srgbClr val="10243E"/>
                          </a:solidFill>
                          <a:latin typeface="Calibri"/>
                        </a:rPr>
                        <a:t>PyRIT</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Attack generator + Keyword/Regex</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657 jailbreak templates + 90 converters + Crescendo/TAP/PAIR/SkeletonKey; regex SQLi/SSRF/secret scorers</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bl>
          </a:graphicData>
        </a:graphic>
      </p:graphicFrame>
      <p:sp>
        <p:nvSpPr>
          <p:cNvPr id="9" name="TextBox 8"/>
          <p:cNvSpPr txBox="1"/>
          <p:nvPr/>
        </p:nvSpPr>
        <p:spPr>
          <a:xfrm>
            <a:off x="502920" y="6135624"/>
            <a:ext cx="11155680" cy="182880"/>
          </a:xfrm>
          <a:prstGeom prst="rect">
            <a:avLst/>
          </a:prstGeom>
          <a:noFill/>
        </p:spPr>
        <p:txBody>
          <a:bodyPr wrap="square" anchor="t" lIns="0" rIns="0" tIns="0" bIns="0">
            <a:spAutoFit/>
          </a:bodyPr>
          <a:lstStyle/>
          <a:p>
            <a:pPr algn="l">
              <a:lnSpc>
                <a:spcPct val="100000"/>
              </a:lnSpc>
            </a:pPr>
            <a:r>
              <a:rPr sz="720" b="0" i="0">
                <a:solidFill>
                  <a:srgbClr val="1A1A2E"/>
                </a:solidFill>
                <a:latin typeface="Calibri"/>
              </a:rPr>
              <a:t>Stage 1  free + deterministic, runs on every request      Stage 2  local model, or cloud second opinion on borderline input only      Stage 3  paid / LLM-judge / heavy      Delegates  contract or taxonomy only, no detector of its own      Offline  CI and red-team only</a:t>
            </a:r>
          </a:p>
        </p:txBody>
      </p:sp>
      <p:sp>
        <p:nvSpPr>
          <p:cNvPr id="10" name="TextBox 9"/>
          <p:cNvSpPr txBox="1"/>
          <p:nvPr/>
        </p:nvSpPr>
        <p:spPr>
          <a:xfrm>
            <a:off x="502920" y="6309360"/>
            <a:ext cx="11155680" cy="164592"/>
          </a:xfrm>
          <a:prstGeom prst="rect">
            <a:avLst/>
          </a:prstGeom>
          <a:noFill/>
        </p:spPr>
        <p:txBody>
          <a:bodyPr wrap="square" anchor="t" lIns="0" rIns="0" tIns="0" bIns="0">
            <a:spAutoFit/>
          </a:bodyPr>
          <a:lstStyle/>
          <a:p>
            <a:pPr algn="l">
              <a:lnSpc>
                <a:spcPct val="100000"/>
              </a:lnSpc>
            </a:pPr>
            <a:r>
              <a:rPr sz="680" b="0" i="1">
                <a:solidFill>
                  <a:srgbClr val="5B6B7D"/>
                </a:solidFill>
                <a:latin typeface="Calibri"/>
              </a:rPr>
              <a:t>Stage = the earliest point this tool can contribute, taken from its cheapest mechanism. Latency is a range across its mechanisms, estimated from what the source actually does - not a benchmarked measurement.</a:t>
            </a:r>
          </a:p>
        </p:txBody>
      </p:sp>
      <p:sp>
        <p:nvSpPr>
          <p:cNvPr id="11" name="Rounded Rectangle 10"/>
          <p:cNvSpPr/>
          <p:nvPr/>
        </p:nvSpPr>
        <p:spPr>
          <a:xfrm>
            <a:off x="502920" y="6501384"/>
            <a:ext cx="11155680" cy="384048"/>
          </a:xfrm>
          <a:prstGeom prst="roundRect">
            <a:avLst>
              <a:gd name="adj" fmla="val 4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6537960"/>
            <a:ext cx="2286000" cy="146304"/>
          </a:xfrm>
          <a:prstGeom prst="rect">
            <a:avLst/>
          </a:prstGeom>
          <a:noFill/>
        </p:spPr>
        <p:txBody>
          <a:bodyPr wrap="square" anchor="t" lIns="0" rIns="0" tIns="0" bIns="0">
            <a:spAutoFit/>
          </a:bodyPr>
          <a:lstStyle/>
          <a:p>
            <a:pPr algn="l">
              <a:lnSpc>
                <a:spcPct val="100000"/>
              </a:lnSpc>
            </a:pPr>
            <a:r>
              <a:rPr sz="680" b="1" i="0">
                <a:solidFill>
                  <a:srgbClr val="1B9AAA"/>
                </a:solidFill>
                <a:latin typeface="Calibri"/>
              </a:rPr>
              <a:t>STAGE 3 - CLOUD / PAID FALLBACKS</a:t>
            </a:r>
          </a:p>
        </p:txBody>
      </p:sp>
      <p:sp>
        <p:nvSpPr>
          <p:cNvPr id="13" name="TextBox 12"/>
          <p:cNvSpPr txBox="1"/>
          <p:nvPr/>
        </p:nvSpPr>
        <p:spPr>
          <a:xfrm>
            <a:off x="630936" y="6675120"/>
            <a:ext cx="10899648" cy="182879"/>
          </a:xfrm>
          <a:prstGeom prst="rect">
            <a:avLst/>
          </a:prstGeom>
          <a:noFill/>
        </p:spPr>
        <p:txBody>
          <a:bodyPr wrap="square" anchor="t" lIns="0" rIns="0" tIns="0" bIns="0">
            <a:spAutoFit/>
          </a:bodyPr>
          <a:lstStyle/>
          <a:p>
            <a:pPr algn="l">
              <a:lnSpc>
                <a:spcPct val="108000"/>
              </a:lnSpc>
            </a:pPr>
            <a:r>
              <a:rPr sz="660" b="0" i="0">
                <a:solidFill>
                  <a:srgbClr val="CFDAE6"/>
                </a:solidFill>
                <a:latin typeface="Calibri"/>
              </a:rPr>
              <a:t>Azure AI Content Safety Prompt Shields (jailbreak and indirect-injection detection)   AWS Bedrock Guardrails   Azure AI Foundry red-team agent (already integrated in PyRIT)   Cisco AI Defense / CrowdStrike AIDR / Prompt Security (available as NeMo Guardrails rails)   Google Perspective API (as a scoring oracle)</a:t>
            </a:r>
          </a:p>
        </p:txBody>
      </p:sp>
      <p:sp>
        <p:nvSpPr>
          <p:cNvPr id="14" name="Rectangle 13"/>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6" name="TextBox 15"/>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Methodology - Security</a:t>
            </a:r>
          </a:p>
        </p:txBody>
      </p:sp>
      <p:sp>
        <p:nvSpPr>
          <p:cNvPr id="17" name="TextBox 16"/>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56</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6A4C93"/>
                </a:solidFill>
                <a:latin typeface="Calibri"/>
              </a:rPr>
              <a:t>TENET METHODOLOGY 3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Fairness &amp; Bias</a:t>
            </a:r>
          </a:p>
        </p:txBody>
      </p:sp>
      <p:sp>
        <p:nvSpPr>
          <p:cNvPr id="6" name="Rectangle 5"/>
          <p:cNvSpPr/>
          <p:nvPr/>
        </p:nvSpPr>
        <p:spPr>
          <a:xfrm>
            <a:off x="502920" y="1207008"/>
            <a:ext cx="2011680" cy="32004"/>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61872"/>
            <a:ext cx="11155680" cy="237744"/>
          </a:xfrm>
          <a:prstGeom prst="rect">
            <a:avLst/>
          </a:prstGeom>
          <a:noFill/>
        </p:spPr>
        <p:txBody>
          <a:bodyPr wrap="square" anchor="t" lIns="0" rIns="0" tIns="0" bIns="0">
            <a:spAutoFit/>
          </a:bodyPr>
          <a:lstStyle/>
          <a:p>
            <a:pPr algn="l">
              <a:lnSpc>
                <a:spcPct val="100000"/>
              </a:lnSpc>
            </a:pPr>
            <a:r>
              <a:rPr sz="950" b="0" i="0">
                <a:solidFill>
                  <a:srgbClr val="5B6B7D"/>
                </a:solidFill>
                <a:latin typeface="Calibri"/>
              </a:rPr>
              <a:t>All 13 reviewed tools that contribute a check to this tenet - what the check actually is, what it costs, and which cascade stage it belongs in.</a:t>
            </a:r>
          </a:p>
        </p:txBody>
      </p:sp>
      <p:graphicFrame>
        <p:nvGraphicFramePr>
          <p:cNvPr id="8" name="Table 7"/>
          <p:cNvGraphicFramePr>
            <a:graphicFrameLocks noGrp="1"/>
          </p:cNvGraphicFramePr>
          <p:nvPr/>
        </p:nvGraphicFramePr>
        <p:xfrm>
          <a:off x="502920" y="1572768"/>
          <a:ext cx="11155677" cy="3840480"/>
        </p:xfrm>
        <a:graphic>
          <a:graphicData uri="http://schemas.openxmlformats.org/drawingml/2006/table">
            <a:tbl>
              <a:tblPr>
                <a:tableStyleId>{5C22544A-7EE6-4342-B048-85BDC9FD1C3A}</a:tableStyleId>
              </a:tblPr>
              <a:tblGrid>
                <a:gridCol w="1549400"/>
                <a:gridCol w="1962573"/>
                <a:gridCol w="2685626"/>
                <a:gridCol w="1136226"/>
                <a:gridCol w="1136226"/>
                <a:gridCol w="929640"/>
                <a:gridCol w="1032933"/>
                <a:gridCol w="723053"/>
              </a:tblGrid>
              <a:tr h="274320">
                <a:tc>
                  <a:txBody>
                    <a:bodyPr wrap="square"/>
                    <a:lstStyle/>
                    <a:p>
                      <a:pPr algn="l">
                        <a:lnSpc>
                          <a:spcPct val="92000"/>
                        </a:lnSpc>
                      </a:pPr>
                      <a:r>
                        <a:rPr sz="750" b="1" i="0">
                          <a:solidFill>
                            <a:srgbClr val="FFFFFF"/>
                          </a:solidFill>
                          <a:latin typeface="Calibri"/>
                        </a:rPr>
                        <a:t>Repository</a:t>
                      </a:r>
                    </a:p>
                  </a:txBody>
                  <a:tcPr marL="32004" marR="32004" marT="10972" marB="10972" anchor="ctr">
                    <a:solidFill>
                      <a:srgbClr val="10243E"/>
                    </a:solidFill>
                  </a:tcPr>
                </a:tc>
                <a:tc>
                  <a:txBody>
                    <a:bodyPr wrap="square"/>
                    <a:lstStyle/>
                    <a:p>
                      <a:pPr algn="l">
                        <a:lnSpc>
                          <a:spcPct val="92000"/>
                        </a:lnSpc>
                      </a:pPr>
                      <a:r>
                        <a:rPr sz="750" b="1" i="0">
                          <a:solidFill>
                            <a:srgbClr val="FFFFFF"/>
                          </a:solidFill>
                          <a:latin typeface="Calibri"/>
                        </a:rPr>
                        <a:t>Mechanism</a:t>
                      </a:r>
                    </a:p>
                  </a:txBody>
                  <a:tcPr marL="32004" marR="32004" marT="10972" marB="10972" anchor="ctr">
                    <a:solidFill>
                      <a:srgbClr val="10243E"/>
                    </a:solidFill>
                  </a:tcPr>
                </a:tc>
                <a:tc>
                  <a:txBody>
                    <a:bodyPr wrap="square"/>
                    <a:lstStyle/>
                    <a:p>
                      <a:pPr algn="l">
                        <a:lnSpc>
                          <a:spcPct val="92000"/>
                        </a:lnSpc>
                      </a:pPr>
                      <a:r>
                        <a:rPr sz="750" b="1" i="0">
                          <a:solidFill>
                            <a:srgbClr val="FFFFFF"/>
                          </a:solidFill>
                          <a:latin typeface="Calibri"/>
                        </a:rPr>
                        <a:t>What it does for this tenet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Cost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Latency</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Runs</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Target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Stage</a:t>
                      </a:r>
                    </a:p>
                  </a:txBody>
                  <a:tcPr marL="32004" marR="32004" marT="10972" marB="10972" anchor="ctr">
                    <a:solidFill>
                      <a:srgbClr val="10243E"/>
                    </a:solidFill>
                  </a:tcPr>
                </a:tc>
              </a:tr>
              <a:tr h="274320">
                <a:tc>
                  <a:txBody>
                    <a:bodyPr wrap="square"/>
                    <a:lstStyle/>
                    <a:p>
                      <a:pPr algn="l">
                        <a:lnSpc>
                          <a:spcPct val="92000"/>
                        </a:lnSpc>
                      </a:pPr>
                      <a:r>
                        <a:rPr sz="640" b="1" i="0">
                          <a:solidFill>
                            <a:srgbClr val="10243E"/>
                          </a:solidFill>
                          <a:latin typeface="Calibri"/>
                        </a:rPr>
                        <a:t>LLM Guard</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Classifier</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Bias output scanner runs valurank/distilroberta-bias text-classification against a threshold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Low</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E88C00"/>
                          </a:solidFill>
                          <a:latin typeface="Calibri"/>
                        </a:rPr>
                        <a:t>Stage 2</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hai-guardrails</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LLM-judge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biasDetectionGuard = llmGuard scoring prompt, threshold 0.7, zod schema categories/affectedGroups</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High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C0392B"/>
                          </a:solidFill>
                          <a:latin typeface="Calibri"/>
                        </a:rPr>
                        <a:t>Stage 3</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AIF360</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Statistical + Module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ClassificationMetric disparities + Theil; MDSS/FACTS bias_scan discovers the biased subgroup itself</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Classical ML</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Deepchecks</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Statistical</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PerformanceBias subgroup score gaps + decision-tree weak-segment search; class imbalance; PPS leakage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Both</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DeepEval</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LLM-judge + Classifier</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BiasMetric rubric judge (gender/political/racial/geographic); BBQ + EquityMedQA harnesses; legacy Dbias model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DeepTeam</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LLM-judge + Attack generator</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BiasMetric judge on gender/race/religion/politics axes; NO bias guardrail exists - red-team only</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Fairlearn</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Statistical + Module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MetricFrame disaggregates metrics by sensitive_features; ThresholdOptimizer/ExponentiatedGradient mitigate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Classical ML</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garak</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Attack generator + Keyword/Regex</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lmrc probes (Deadnaming, SlurUsage, Bullying) scored by Surge/OFCOM wordlists; no fairness metrics at all</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Giskard v3</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LLM-judge + Attack generator</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Only adversarial 'Stereotypes and Discrimination' rules judged by Conformity + Toxicity hate_speech category</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Infosys RAI Toolkit</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Statistical + LLM-judge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aif360+fairlearn+holisticai disparity metrics and Reweighing/DIR/ThresholdOptimizer; GPT-4o image-bias judge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Both</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Promptfoo</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LLM-judge + Attack generator</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bias:age/disability/gender/race probes - REMOTE-generated only - graded by BiasGrader stereotyping rubric</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PyRIT</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Attack generator + LLM-judge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FairnessBiasBenchmark story probes over gendered_professions.yaml, scored by SelfAskCategoryScorer</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SHAP</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Statistical</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shap.plots.group_difference: bootstrapped mean-SHAP gap between two cohorts, decomposes group metrics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Classical ML</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bl>
          </a:graphicData>
        </a:graphic>
      </p:graphicFrame>
      <p:sp>
        <p:nvSpPr>
          <p:cNvPr id="9" name="TextBox 8"/>
          <p:cNvSpPr txBox="1"/>
          <p:nvPr/>
        </p:nvSpPr>
        <p:spPr>
          <a:xfrm>
            <a:off x="502920" y="5495544"/>
            <a:ext cx="11155680" cy="182880"/>
          </a:xfrm>
          <a:prstGeom prst="rect">
            <a:avLst/>
          </a:prstGeom>
          <a:noFill/>
        </p:spPr>
        <p:txBody>
          <a:bodyPr wrap="square" anchor="t" lIns="0" rIns="0" tIns="0" bIns="0">
            <a:spAutoFit/>
          </a:bodyPr>
          <a:lstStyle/>
          <a:p>
            <a:pPr algn="l">
              <a:lnSpc>
                <a:spcPct val="100000"/>
              </a:lnSpc>
            </a:pPr>
            <a:r>
              <a:rPr sz="720" b="0" i="0">
                <a:solidFill>
                  <a:srgbClr val="1A1A2E"/>
                </a:solidFill>
                <a:latin typeface="Calibri"/>
              </a:rPr>
              <a:t>Stage 1  free + deterministic, runs on every request      Stage 2  local model, or cloud second opinion on borderline input only      Stage 3  paid / LLM-judge / heavy      Delegates  contract or taxonomy only, no detector of its own      Offline  CI and red-team only</a:t>
            </a:r>
          </a:p>
        </p:txBody>
      </p:sp>
      <p:sp>
        <p:nvSpPr>
          <p:cNvPr id="10" name="TextBox 9"/>
          <p:cNvSpPr txBox="1"/>
          <p:nvPr/>
        </p:nvSpPr>
        <p:spPr>
          <a:xfrm>
            <a:off x="502920" y="5669280"/>
            <a:ext cx="11155680" cy="164592"/>
          </a:xfrm>
          <a:prstGeom prst="rect">
            <a:avLst/>
          </a:prstGeom>
          <a:noFill/>
        </p:spPr>
        <p:txBody>
          <a:bodyPr wrap="square" anchor="t" lIns="0" rIns="0" tIns="0" bIns="0">
            <a:spAutoFit/>
          </a:bodyPr>
          <a:lstStyle/>
          <a:p>
            <a:pPr algn="l">
              <a:lnSpc>
                <a:spcPct val="100000"/>
              </a:lnSpc>
            </a:pPr>
            <a:r>
              <a:rPr sz="680" b="0" i="1">
                <a:solidFill>
                  <a:srgbClr val="5B6B7D"/>
                </a:solidFill>
                <a:latin typeface="Calibri"/>
              </a:rPr>
              <a:t>Stage = the earliest point this tool can contribute, taken from its cheapest mechanism. Latency is a range across its mechanisms, estimated from what the source actually does - not a benchmarked measurement.</a:t>
            </a:r>
          </a:p>
        </p:txBody>
      </p:sp>
      <p:sp>
        <p:nvSpPr>
          <p:cNvPr id="11" name="Rounded Rectangle 10"/>
          <p:cNvSpPr/>
          <p:nvPr/>
        </p:nvSpPr>
        <p:spPr>
          <a:xfrm>
            <a:off x="502920" y="5861304"/>
            <a:ext cx="11155680" cy="475488"/>
          </a:xfrm>
          <a:prstGeom prst="roundRect">
            <a:avLst>
              <a:gd name="adj" fmla="val 4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5897880"/>
            <a:ext cx="2286000" cy="146304"/>
          </a:xfrm>
          <a:prstGeom prst="rect">
            <a:avLst/>
          </a:prstGeom>
          <a:noFill/>
        </p:spPr>
        <p:txBody>
          <a:bodyPr wrap="square" anchor="t" lIns="0" rIns="0" tIns="0" bIns="0">
            <a:spAutoFit/>
          </a:bodyPr>
          <a:lstStyle/>
          <a:p>
            <a:pPr algn="l">
              <a:lnSpc>
                <a:spcPct val="100000"/>
              </a:lnSpc>
            </a:pPr>
            <a:r>
              <a:rPr sz="680" b="1" i="0">
                <a:solidFill>
                  <a:srgbClr val="1B9AAA"/>
                </a:solidFill>
                <a:latin typeface="Calibri"/>
              </a:rPr>
              <a:t>STAGE 3 - CLOUD / PAID FALLBACKS</a:t>
            </a:r>
          </a:p>
        </p:txBody>
      </p:sp>
      <p:sp>
        <p:nvSpPr>
          <p:cNvPr id="13" name="TextBox 12"/>
          <p:cNvSpPr txBox="1"/>
          <p:nvPr/>
        </p:nvSpPr>
        <p:spPr>
          <a:xfrm>
            <a:off x="630936" y="6035040"/>
            <a:ext cx="10899648" cy="274320"/>
          </a:xfrm>
          <a:prstGeom prst="rect">
            <a:avLst/>
          </a:prstGeom>
          <a:noFill/>
        </p:spPr>
        <p:txBody>
          <a:bodyPr wrap="square" anchor="t" lIns="0" rIns="0" tIns="0" bIns="0">
            <a:spAutoFit/>
          </a:bodyPr>
          <a:lstStyle/>
          <a:p>
            <a:pPr algn="l">
              <a:lnSpc>
                <a:spcPct val="108000"/>
              </a:lnSpc>
            </a:pPr>
            <a:r>
              <a:rPr sz="660" b="0" i="0">
                <a:solidFill>
                  <a:srgbClr val="CFDAE6"/>
                </a:solidFill>
                <a:latin typeface="Calibri"/>
              </a:rPr>
              <a:t>Fiddler AI   Arthur AI   DataRobot (bias and fairness monitoring)   Truera   Monitaur   Azure Machine Learning Responsible AI dashboard (Fairlearn-based)</a:t>
            </a:r>
          </a:p>
        </p:txBody>
      </p:sp>
      <p:sp>
        <p:nvSpPr>
          <p:cNvPr id="14" name="Rectangle 13"/>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6" name="TextBox 15"/>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Methodology - Fairness &amp; Bias</a:t>
            </a:r>
          </a:p>
        </p:txBody>
      </p:sp>
      <p:sp>
        <p:nvSpPr>
          <p:cNvPr id="17" name="TextBox 16"/>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57</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08E45"/>
                </a:solidFill>
                <a:latin typeface="Calibri"/>
              </a:rPr>
              <a:t>TENET METHODOLOGY 4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Explainability &amp; Transparency</a:t>
            </a:r>
          </a:p>
        </p:txBody>
      </p:sp>
      <p:sp>
        <p:nvSpPr>
          <p:cNvPr id="6" name="Rectangle 5"/>
          <p:cNvSpPr/>
          <p:nvPr/>
        </p:nvSpPr>
        <p:spPr>
          <a:xfrm>
            <a:off x="502920" y="1207008"/>
            <a:ext cx="2011680" cy="32004"/>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61872"/>
            <a:ext cx="11155680" cy="237744"/>
          </a:xfrm>
          <a:prstGeom prst="rect">
            <a:avLst/>
          </a:prstGeom>
          <a:noFill/>
        </p:spPr>
        <p:txBody>
          <a:bodyPr wrap="square" anchor="t" lIns="0" rIns="0" tIns="0" bIns="0">
            <a:spAutoFit/>
          </a:bodyPr>
          <a:lstStyle/>
          <a:p>
            <a:pPr algn="l">
              <a:lnSpc>
                <a:spcPct val="100000"/>
              </a:lnSpc>
            </a:pPr>
            <a:r>
              <a:rPr sz="950" b="0" i="0">
                <a:solidFill>
                  <a:srgbClr val="5B6B7D"/>
                </a:solidFill>
                <a:latin typeface="Calibri"/>
              </a:rPr>
              <a:t>All 13 reviewed tools that contribute a check to this tenet - what the check actually is, what it costs, and which cascade stage it belongs in.</a:t>
            </a:r>
          </a:p>
        </p:txBody>
      </p:sp>
      <p:graphicFrame>
        <p:nvGraphicFramePr>
          <p:cNvPr id="8" name="Table 7"/>
          <p:cNvGraphicFramePr>
            <a:graphicFrameLocks noGrp="1"/>
          </p:cNvGraphicFramePr>
          <p:nvPr/>
        </p:nvGraphicFramePr>
        <p:xfrm>
          <a:off x="502920" y="1572768"/>
          <a:ext cx="11155677" cy="3840480"/>
        </p:xfrm>
        <a:graphic>
          <a:graphicData uri="http://schemas.openxmlformats.org/drawingml/2006/table">
            <a:tbl>
              <a:tblPr>
                <a:tableStyleId>{5C22544A-7EE6-4342-B048-85BDC9FD1C3A}</a:tableStyleId>
              </a:tblPr>
              <a:tblGrid>
                <a:gridCol w="1549400"/>
                <a:gridCol w="1962573"/>
                <a:gridCol w="2685626"/>
                <a:gridCol w="1136226"/>
                <a:gridCol w="1136226"/>
                <a:gridCol w="929640"/>
                <a:gridCol w="1032933"/>
                <a:gridCol w="723053"/>
              </a:tblGrid>
              <a:tr h="274320">
                <a:tc>
                  <a:txBody>
                    <a:bodyPr wrap="square"/>
                    <a:lstStyle/>
                    <a:p>
                      <a:pPr algn="l">
                        <a:lnSpc>
                          <a:spcPct val="92000"/>
                        </a:lnSpc>
                      </a:pPr>
                      <a:r>
                        <a:rPr sz="750" b="1" i="0">
                          <a:solidFill>
                            <a:srgbClr val="FFFFFF"/>
                          </a:solidFill>
                          <a:latin typeface="Calibri"/>
                        </a:rPr>
                        <a:t>Repository</a:t>
                      </a:r>
                    </a:p>
                  </a:txBody>
                  <a:tcPr marL="32004" marR="32004" marT="10972" marB="10972" anchor="ctr">
                    <a:solidFill>
                      <a:srgbClr val="10243E"/>
                    </a:solidFill>
                  </a:tcPr>
                </a:tc>
                <a:tc>
                  <a:txBody>
                    <a:bodyPr wrap="square"/>
                    <a:lstStyle/>
                    <a:p>
                      <a:pPr algn="l">
                        <a:lnSpc>
                          <a:spcPct val="92000"/>
                        </a:lnSpc>
                      </a:pPr>
                      <a:r>
                        <a:rPr sz="750" b="1" i="0">
                          <a:solidFill>
                            <a:srgbClr val="FFFFFF"/>
                          </a:solidFill>
                          <a:latin typeface="Calibri"/>
                        </a:rPr>
                        <a:t>Mechanism</a:t>
                      </a:r>
                    </a:p>
                  </a:txBody>
                  <a:tcPr marL="32004" marR="32004" marT="10972" marB="10972" anchor="ctr">
                    <a:solidFill>
                      <a:srgbClr val="10243E"/>
                    </a:solidFill>
                  </a:tcPr>
                </a:tc>
                <a:tc>
                  <a:txBody>
                    <a:bodyPr wrap="square"/>
                    <a:lstStyle/>
                    <a:p>
                      <a:pPr algn="l">
                        <a:lnSpc>
                          <a:spcPct val="92000"/>
                        </a:lnSpc>
                      </a:pPr>
                      <a:r>
                        <a:rPr sz="750" b="1" i="0">
                          <a:solidFill>
                            <a:srgbClr val="FFFFFF"/>
                          </a:solidFill>
                          <a:latin typeface="Calibri"/>
                        </a:rPr>
                        <a:t>What it does for this tenet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Cost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Latency</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Runs</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Target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Stage</a:t>
                      </a:r>
                    </a:p>
                  </a:txBody>
                  <a:tcPr marL="32004" marR="32004" marT="10972" marB="10972" anchor="ctr">
                    <a:solidFill>
                      <a:srgbClr val="10243E"/>
                    </a:solidFill>
                  </a:tcPr>
                </a:tc>
              </a:tr>
              <a:tr h="274320">
                <a:tc>
                  <a:txBody>
                    <a:bodyPr wrap="square"/>
                    <a:lstStyle/>
                    <a:p>
                      <a:pPr algn="l">
                        <a:lnSpc>
                          <a:spcPct val="92000"/>
                        </a:lnSpc>
                      </a:pPr>
                      <a:r>
                        <a:rPr sz="640" b="1" i="0">
                          <a:solidFill>
                            <a:srgbClr val="10243E"/>
                          </a:solidFill>
                          <a:latin typeface="Calibri"/>
                        </a:rPr>
                        <a:t>Guardrails AI</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Module + Keyword/Regex</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RAIL XML/Pydantic to JSON Schema, Draft2020-12 enforcement, char-offset ErrorSpans on streamed output</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Very low</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LLM Guard</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Module + Classifier</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JSON scanner regex + json-repair validate/repair; ReadingTime words/200; BanTopics zero-shot scope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Very low-Low</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OpenGuardrails</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Module + Cloud API</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verdict.schema.json findings path/start/end/score/detector; tailhold.go holds stream tail for one verdict</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Very low-Medium</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Rebuff</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Module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RebuffDetectionResponse/TacticResult return per-tactic score, threshold, detected flag and checks-run flags</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Very low</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Safe Zone (TSZ)</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Module + Keyword/Regex</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ConfidenceExplanation JSON (regex_score, ai_score, final_score) + gojsonschema SCHEMA/REGEX validators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Very low</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DeepTeam</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LLM-judge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TopicalGuard judges input/output against allowed_topics; HijackingMetric scores purpose deviation</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High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C0392B"/>
                          </a:solidFill>
                          <a:latin typeface="Calibri"/>
                        </a:rPr>
                        <a:t>Stage 3</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NeMo Guardrails</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LLM-judge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topic_safety_check prompt to nvidia/llama-3.1-nemoguard-8b-topic-control; on-topic/off-topic verdict</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High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C0392B"/>
                          </a:solidFill>
                          <a:latin typeface="Calibri"/>
                        </a:rPr>
                        <a:t>Stage 3</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AIF360</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Module + Statistical</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MetricTextExplainer/MetricJSONExplainer emit templated metric explanations; FACTS mines counterfactual recourse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Classical ML</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DeepEval</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LLM-judge + Module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GEval/DAG Jinja rubric judges emit score+reason; JsonCorrectness pydantic validate; PatternMatch regex</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Giskard v3</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Module + LLM-judge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JsonValid (jsonschema), Readability (textstat), RegexMatching/Equals, plus LLMJudge/Conformity rubric judges</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Infosys RAI Toolkit</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Statistical + LLM-judge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shap.KernelExplainer/LimeTabularExplainer for ML; GPT-4 token-importance, G-Eval rubric, CoT/CoVe/GoT</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Both</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Promptfoo</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LLM-judge + Keyword/Regex</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llm-rubric / g-eval / model-graded-closedqa judges return reasons; regex, is-json, word-count validators</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SHAP</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Statistical</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Explainer auto-picks Tree/Linear (exact) or Kernel/Deep/Permutation (approx); Text masker token attribution</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Both</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bl>
          </a:graphicData>
        </a:graphic>
      </p:graphicFrame>
      <p:sp>
        <p:nvSpPr>
          <p:cNvPr id="9" name="TextBox 8"/>
          <p:cNvSpPr txBox="1"/>
          <p:nvPr/>
        </p:nvSpPr>
        <p:spPr>
          <a:xfrm>
            <a:off x="502920" y="5495544"/>
            <a:ext cx="11155680" cy="182880"/>
          </a:xfrm>
          <a:prstGeom prst="rect">
            <a:avLst/>
          </a:prstGeom>
          <a:noFill/>
        </p:spPr>
        <p:txBody>
          <a:bodyPr wrap="square" anchor="t" lIns="0" rIns="0" tIns="0" bIns="0">
            <a:spAutoFit/>
          </a:bodyPr>
          <a:lstStyle/>
          <a:p>
            <a:pPr algn="l">
              <a:lnSpc>
                <a:spcPct val="100000"/>
              </a:lnSpc>
            </a:pPr>
            <a:r>
              <a:rPr sz="720" b="0" i="0">
                <a:solidFill>
                  <a:srgbClr val="1A1A2E"/>
                </a:solidFill>
                <a:latin typeface="Calibri"/>
              </a:rPr>
              <a:t>Stage 1  free + deterministic, runs on every request      Stage 2  local model, or cloud second opinion on borderline input only      Stage 3  paid / LLM-judge / heavy      Delegates  contract or taxonomy only, no detector of its own      Offline  CI and red-team only</a:t>
            </a:r>
          </a:p>
        </p:txBody>
      </p:sp>
      <p:sp>
        <p:nvSpPr>
          <p:cNvPr id="10" name="TextBox 9"/>
          <p:cNvSpPr txBox="1"/>
          <p:nvPr/>
        </p:nvSpPr>
        <p:spPr>
          <a:xfrm>
            <a:off x="502920" y="5669280"/>
            <a:ext cx="11155680" cy="164592"/>
          </a:xfrm>
          <a:prstGeom prst="rect">
            <a:avLst/>
          </a:prstGeom>
          <a:noFill/>
        </p:spPr>
        <p:txBody>
          <a:bodyPr wrap="square" anchor="t" lIns="0" rIns="0" tIns="0" bIns="0">
            <a:spAutoFit/>
          </a:bodyPr>
          <a:lstStyle/>
          <a:p>
            <a:pPr algn="l">
              <a:lnSpc>
                <a:spcPct val="100000"/>
              </a:lnSpc>
            </a:pPr>
            <a:r>
              <a:rPr sz="680" b="0" i="1">
                <a:solidFill>
                  <a:srgbClr val="5B6B7D"/>
                </a:solidFill>
                <a:latin typeface="Calibri"/>
              </a:rPr>
              <a:t>Stage = the earliest point this tool can contribute, taken from its cheapest mechanism. Latency is a range across its mechanisms, estimated from what the source actually does - not a benchmarked measurement.</a:t>
            </a:r>
          </a:p>
        </p:txBody>
      </p:sp>
      <p:sp>
        <p:nvSpPr>
          <p:cNvPr id="11" name="Rounded Rectangle 10"/>
          <p:cNvSpPr/>
          <p:nvPr/>
        </p:nvSpPr>
        <p:spPr>
          <a:xfrm>
            <a:off x="502920" y="5861304"/>
            <a:ext cx="11155680" cy="475488"/>
          </a:xfrm>
          <a:prstGeom prst="roundRect">
            <a:avLst>
              <a:gd name="adj" fmla="val 4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5897880"/>
            <a:ext cx="2286000" cy="146304"/>
          </a:xfrm>
          <a:prstGeom prst="rect">
            <a:avLst/>
          </a:prstGeom>
          <a:noFill/>
        </p:spPr>
        <p:txBody>
          <a:bodyPr wrap="square" anchor="t" lIns="0" rIns="0" tIns="0" bIns="0">
            <a:spAutoFit/>
          </a:bodyPr>
          <a:lstStyle/>
          <a:p>
            <a:pPr algn="l">
              <a:lnSpc>
                <a:spcPct val="100000"/>
              </a:lnSpc>
            </a:pPr>
            <a:r>
              <a:rPr sz="680" b="1" i="0">
                <a:solidFill>
                  <a:srgbClr val="1B9AAA"/>
                </a:solidFill>
                <a:latin typeface="Calibri"/>
              </a:rPr>
              <a:t>STAGE 3 - CLOUD / PAID FALLBACKS</a:t>
            </a:r>
          </a:p>
        </p:txBody>
      </p:sp>
      <p:sp>
        <p:nvSpPr>
          <p:cNvPr id="13" name="TextBox 12"/>
          <p:cNvSpPr txBox="1"/>
          <p:nvPr/>
        </p:nvSpPr>
        <p:spPr>
          <a:xfrm>
            <a:off x="630936" y="6035040"/>
            <a:ext cx="10899648" cy="274320"/>
          </a:xfrm>
          <a:prstGeom prst="rect">
            <a:avLst/>
          </a:prstGeom>
          <a:noFill/>
        </p:spPr>
        <p:txBody>
          <a:bodyPr wrap="square" anchor="t" lIns="0" rIns="0" tIns="0" bIns="0">
            <a:spAutoFit/>
          </a:bodyPr>
          <a:lstStyle/>
          <a:p>
            <a:pPr algn="l">
              <a:lnSpc>
                <a:spcPct val="108000"/>
              </a:lnSpc>
            </a:pPr>
            <a:r>
              <a:rPr sz="660" b="0" i="0">
                <a:solidFill>
                  <a:srgbClr val="CFDAE6"/>
                </a:solidFill>
                <a:latin typeface="Calibri"/>
              </a:rPr>
              <a:t>Microsoft InterpretML (open-source, Azure-aligned)   IBM AIX360   LIME (open-source, used inside the Infosys toolkit)   Fiddler AI / Arthur AI (hosted explainability dashboards)   Azure Machine Learning Responsible AI dashboard</a:t>
            </a:r>
          </a:p>
        </p:txBody>
      </p:sp>
      <p:sp>
        <p:nvSpPr>
          <p:cNvPr id="14" name="Rectangle 13"/>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6" name="TextBox 15"/>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Methodology - Explainability &amp; Transparency</a:t>
            </a:r>
          </a:p>
        </p:txBody>
      </p:sp>
      <p:sp>
        <p:nvSpPr>
          <p:cNvPr id="17" name="TextBox 16"/>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58</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76F51"/>
                </a:solidFill>
                <a:latin typeface="Calibri"/>
              </a:rPr>
              <a:t>TENET METHODOLOGY 5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Profanity / Content Safety</a:t>
            </a:r>
          </a:p>
        </p:txBody>
      </p:sp>
      <p:sp>
        <p:nvSpPr>
          <p:cNvPr id="6" name="Rectangle 5"/>
          <p:cNvSpPr/>
          <p:nvPr/>
        </p:nvSpPr>
        <p:spPr>
          <a:xfrm>
            <a:off x="502920" y="1207008"/>
            <a:ext cx="2011680" cy="32004"/>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61872"/>
            <a:ext cx="11155680" cy="237744"/>
          </a:xfrm>
          <a:prstGeom prst="rect">
            <a:avLst/>
          </a:prstGeom>
          <a:noFill/>
        </p:spPr>
        <p:txBody>
          <a:bodyPr wrap="square" anchor="t" lIns="0" rIns="0" tIns="0" bIns="0">
            <a:spAutoFit/>
          </a:bodyPr>
          <a:lstStyle/>
          <a:p>
            <a:pPr algn="l">
              <a:lnSpc>
                <a:spcPct val="100000"/>
              </a:lnSpc>
            </a:pPr>
            <a:r>
              <a:rPr sz="950" b="0" i="0">
                <a:solidFill>
                  <a:srgbClr val="5B6B7D"/>
                </a:solidFill>
                <a:latin typeface="Calibri"/>
              </a:rPr>
              <a:t>All 15 reviewed tools that contribute a check to this tenet - what the check actually is, what it costs, and which cascade stage it belongs in.</a:t>
            </a:r>
          </a:p>
        </p:txBody>
      </p:sp>
      <p:graphicFrame>
        <p:nvGraphicFramePr>
          <p:cNvPr id="8" name="Table 7"/>
          <p:cNvGraphicFramePr>
            <a:graphicFrameLocks noGrp="1"/>
          </p:cNvGraphicFramePr>
          <p:nvPr/>
        </p:nvGraphicFramePr>
        <p:xfrm>
          <a:off x="502920" y="1572768"/>
          <a:ext cx="11155677" cy="4389120"/>
        </p:xfrm>
        <a:graphic>
          <a:graphicData uri="http://schemas.openxmlformats.org/drawingml/2006/table">
            <a:tbl>
              <a:tblPr>
                <a:tableStyleId>{5C22544A-7EE6-4342-B048-85BDC9FD1C3A}</a:tableStyleId>
              </a:tblPr>
              <a:tblGrid>
                <a:gridCol w="1549400"/>
                <a:gridCol w="1962573"/>
                <a:gridCol w="2685626"/>
                <a:gridCol w="1136226"/>
                <a:gridCol w="1136226"/>
                <a:gridCol w="929640"/>
                <a:gridCol w="1032933"/>
                <a:gridCol w="723053"/>
              </a:tblGrid>
              <a:tr h="274320">
                <a:tc>
                  <a:txBody>
                    <a:bodyPr wrap="square"/>
                    <a:lstStyle/>
                    <a:p>
                      <a:pPr algn="l">
                        <a:lnSpc>
                          <a:spcPct val="92000"/>
                        </a:lnSpc>
                      </a:pPr>
                      <a:r>
                        <a:rPr sz="750" b="1" i="0">
                          <a:solidFill>
                            <a:srgbClr val="FFFFFF"/>
                          </a:solidFill>
                          <a:latin typeface="Calibri"/>
                        </a:rPr>
                        <a:t>Repository</a:t>
                      </a:r>
                    </a:p>
                  </a:txBody>
                  <a:tcPr marL="32004" marR="32004" marT="10972" marB="10972" anchor="ctr">
                    <a:solidFill>
                      <a:srgbClr val="10243E"/>
                    </a:solidFill>
                  </a:tcPr>
                </a:tc>
                <a:tc>
                  <a:txBody>
                    <a:bodyPr wrap="square"/>
                    <a:lstStyle/>
                    <a:p>
                      <a:pPr algn="l">
                        <a:lnSpc>
                          <a:spcPct val="92000"/>
                        </a:lnSpc>
                      </a:pPr>
                      <a:r>
                        <a:rPr sz="750" b="1" i="0">
                          <a:solidFill>
                            <a:srgbClr val="FFFFFF"/>
                          </a:solidFill>
                          <a:latin typeface="Calibri"/>
                        </a:rPr>
                        <a:t>Mechanism</a:t>
                      </a:r>
                    </a:p>
                  </a:txBody>
                  <a:tcPr marL="32004" marR="32004" marT="10972" marB="10972" anchor="ctr">
                    <a:solidFill>
                      <a:srgbClr val="10243E"/>
                    </a:solidFill>
                  </a:tcPr>
                </a:tc>
                <a:tc>
                  <a:txBody>
                    <a:bodyPr wrap="square"/>
                    <a:lstStyle/>
                    <a:p>
                      <a:pPr algn="l">
                        <a:lnSpc>
                          <a:spcPct val="92000"/>
                        </a:lnSpc>
                      </a:pPr>
                      <a:r>
                        <a:rPr sz="750" b="1" i="0">
                          <a:solidFill>
                            <a:srgbClr val="FFFFFF"/>
                          </a:solidFill>
                          <a:latin typeface="Calibri"/>
                        </a:rPr>
                        <a:t>What it does for this tenet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Cost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Latency</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Runs</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Target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Stage</a:t>
                      </a:r>
                    </a:p>
                  </a:txBody>
                  <a:tcPr marL="32004" marR="32004" marT="10972" marB="10972" anchor="ctr">
                    <a:solidFill>
                      <a:srgbClr val="10243E"/>
                    </a:solidFill>
                  </a:tcPr>
                </a:tc>
              </a:tr>
              <a:tr h="274320">
                <a:tc>
                  <a:txBody>
                    <a:bodyPr wrap="square"/>
                    <a:lstStyle/>
                    <a:p>
                      <a:pPr algn="l">
                        <a:lnSpc>
                          <a:spcPct val="92000"/>
                        </a:lnSpc>
                      </a:pPr>
                      <a:r>
                        <a:rPr sz="640" b="1" i="0">
                          <a:solidFill>
                            <a:srgbClr val="10243E"/>
                          </a:solidFill>
                          <a:latin typeface="Calibri"/>
                        </a:rPr>
                        <a:t>Infosys RAI Toolkit</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Classifier + Keyword/Regex</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Detoxify fine_tuned_toxicity_model, better_profanity wordlist (918 rows), deberta zero-shot, NudeNet/nsfw.h5</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Very low-Low</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LLM Guard</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Classifier + Keyword/Regex</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unitary/unbiased-toxic-roberta + BanSubstrings blocklist + BanTopics zero-shot + VADER sentiment</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Very low-Low</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NeMo Guardrails</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LLM-judge + Cloud API</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content_safety rails to nemoguard-8b-content-safety, Llama Guard, ShieldGemma; ~8 vendor adapters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Medium-High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E88C00"/>
                          </a:solidFill>
                          <a:latin typeface="Calibri"/>
                        </a:rPr>
                        <a:t>Stage 2</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Promptfoo</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Cloud API + Attack generator</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moderation assert to openai / azure text-content-safety / replicate llama-guard-4-12b; 26 harmful:* categories</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Medium-Batch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E88C00"/>
                          </a:solidFill>
                          <a:latin typeface="Calibri"/>
                        </a:rPr>
                        <a:t>Stage 2</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DeepTeam</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LLM-judge + Attack generator</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Toxicity/Graphic/Illegal judges + ToxicityGuard, IllegalGuard; Aegis and BeaverTails HF datasets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High-Batch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C0392B"/>
                          </a:solidFill>
                          <a:latin typeface="Calibri"/>
                        </a:rPr>
                        <a:t>Stage 3</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hai-guardrails</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LLM-judge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toxic/hateSpeech/adultContent/profanity guards are all LLM prompts - no wordlist, no classifier</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High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C0392B"/>
                          </a:solidFill>
                          <a:latin typeface="Calibri"/>
                        </a:rPr>
                        <a:t>Stage 3</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OpenGuardrails</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Cloud API</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taxonomy safety.* 11-category table only; no profanity or slur wordlist ships in this repo</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Medium</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10243E"/>
                          </a:solidFill>
                          <a:latin typeface="Calibri"/>
                        </a:rPr>
                        <a:t>Delegates</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Agentic Security</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Attack generator</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Loads AdvBench/ForbiddenQuestion/MaliciousInstruct via EasyJailbreak_Datasets purely as attack prompts</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Deepchecks</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Classifier + Statistical</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Toxicity via SkolkovoInstitute/roberta_toxicity_classifier + TextBlob sentiment/subjectivity</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DeepEval</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LLM-judge + Classifier</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ToxicityMetric LLM-judge on generate_verdicts.txt; optional Detoxify (original/unbiased/multilingual) scorer</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FuzzyAI</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Cloud API + NLI/Cross-encoder</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Harm oracles: OpenAI omni-moderation-latest, Azure ContentSafety, AWS Guardrails, local bart-large-mnli</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garak</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Classifier + Keyword/Regex</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HF detectors garak-llm/roberta_toxicity_classifier and toxic-comment-model; Surge/OFCOM/LDNOOBW wordlists</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Giskard v3</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LLM-judge + Attack generator</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Toxicity judge (6 categories) + HarmBench / Do-Not-Answer HF scenario sets via harmbench_safety.j2</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74320">
                <a:tc>
                  <a:txBody>
                    <a:bodyPr wrap="square"/>
                    <a:lstStyle/>
                    <a:p>
                      <a:pPr algn="l">
                        <a:lnSpc>
                          <a:spcPct val="92000"/>
                        </a:lnSpc>
                      </a:pPr>
                      <a:r>
                        <a:rPr sz="640" b="1" i="0">
                          <a:solidFill>
                            <a:srgbClr val="10243E"/>
                          </a:solidFill>
                          <a:latin typeface="Calibri"/>
                        </a:rPr>
                        <a:t>JCB</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Classifier + Attack generator</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400 HarmBench behaviors + 50-row AdvBench subset; harm scored by local vLLM HarmBench-Llama-2-13b-cls</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74320">
                <a:tc>
                  <a:txBody>
                    <a:bodyPr wrap="square"/>
                    <a:lstStyle/>
                    <a:p>
                      <a:pPr algn="l">
                        <a:lnSpc>
                          <a:spcPct val="92000"/>
                        </a:lnSpc>
                      </a:pPr>
                      <a:r>
                        <a:rPr sz="640" b="1" i="0">
                          <a:solidFill>
                            <a:srgbClr val="10243E"/>
                          </a:solidFill>
                          <a:latin typeface="Calibri"/>
                        </a:rPr>
                        <a:t>PyRIT</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LLM-judge + Cloud API</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SelfAskLikertScorer over harm_definition YAMLs; Llama-Guard-3-8B and shieldgemma-9b; AzureContentFilter</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bl>
          </a:graphicData>
        </a:graphic>
      </p:graphicFrame>
      <p:sp>
        <p:nvSpPr>
          <p:cNvPr id="9" name="TextBox 8"/>
          <p:cNvSpPr txBox="1"/>
          <p:nvPr/>
        </p:nvSpPr>
        <p:spPr>
          <a:xfrm>
            <a:off x="502920" y="6044183"/>
            <a:ext cx="11155680" cy="182880"/>
          </a:xfrm>
          <a:prstGeom prst="rect">
            <a:avLst/>
          </a:prstGeom>
          <a:noFill/>
        </p:spPr>
        <p:txBody>
          <a:bodyPr wrap="square" anchor="t" lIns="0" rIns="0" tIns="0" bIns="0">
            <a:spAutoFit/>
          </a:bodyPr>
          <a:lstStyle/>
          <a:p>
            <a:pPr algn="l">
              <a:lnSpc>
                <a:spcPct val="100000"/>
              </a:lnSpc>
            </a:pPr>
            <a:r>
              <a:rPr sz="720" b="0" i="0">
                <a:solidFill>
                  <a:srgbClr val="1A1A2E"/>
                </a:solidFill>
                <a:latin typeface="Calibri"/>
              </a:rPr>
              <a:t>Stage 1  free + deterministic, runs on every request      Stage 2  local model, or cloud second opinion on borderline input only      Stage 3  paid / LLM-judge / heavy      Delegates  contract or taxonomy only, no detector of its own      Offline  CI and red-team only</a:t>
            </a:r>
          </a:p>
        </p:txBody>
      </p:sp>
      <p:sp>
        <p:nvSpPr>
          <p:cNvPr id="10" name="TextBox 9"/>
          <p:cNvSpPr txBox="1"/>
          <p:nvPr/>
        </p:nvSpPr>
        <p:spPr>
          <a:xfrm>
            <a:off x="502920" y="6217920"/>
            <a:ext cx="11155680" cy="164592"/>
          </a:xfrm>
          <a:prstGeom prst="rect">
            <a:avLst/>
          </a:prstGeom>
          <a:noFill/>
        </p:spPr>
        <p:txBody>
          <a:bodyPr wrap="square" anchor="t" lIns="0" rIns="0" tIns="0" bIns="0">
            <a:spAutoFit/>
          </a:bodyPr>
          <a:lstStyle/>
          <a:p>
            <a:pPr algn="l">
              <a:lnSpc>
                <a:spcPct val="100000"/>
              </a:lnSpc>
            </a:pPr>
            <a:r>
              <a:rPr sz="680" b="0" i="1">
                <a:solidFill>
                  <a:srgbClr val="5B6B7D"/>
                </a:solidFill>
                <a:latin typeface="Calibri"/>
              </a:rPr>
              <a:t>Stage = the earliest point this tool can contribute, taken from its cheapest mechanism. Latency is a range across its mechanisms, estimated from what the source actually does - not a benchmarked measurement.</a:t>
            </a:r>
          </a:p>
        </p:txBody>
      </p:sp>
      <p:sp>
        <p:nvSpPr>
          <p:cNvPr id="11" name="Rounded Rectangle 10"/>
          <p:cNvSpPr/>
          <p:nvPr/>
        </p:nvSpPr>
        <p:spPr>
          <a:xfrm>
            <a:off x="502920" y="6409944"/>
            <a:ext cx="11155680" cy="384048"/>
          </a:xfrm>
          <a:prstGeom prst="roundRect">
            <a:avLst>
              <a:gd name="adj" fmla="val 4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6446520"/>
            <a:ext cx="2286000" cy="146304"/>
          </a:xfrm>
          <a:prstGeom prst="rect">
            <a:avLst/>
          </a:prstGeom>
          <a:noFill/>
        </p:spPr>
        <p:txBody>
          <a:bodyPr wrap="square" anchor="t" lIns="0" rIns="0" tIns="0" bIns="0">
            <a:spAutoFit/>
          </a:bodyPr>
          <a:lstStyle/>
          <a:p>
            <a:pPr algn="l">
              <a:lnSpc>
                <a:spcPct val="100000"/>
              </a:lnSpc>
            </a:pPr>
            <a:r>
              <a:rPr sz="680" b="1" i="0">
                <a:solidFill>
                  <a:srgbClr val="1B9AAA"/>
                </a:solidFill>
                <a:latin typeface="Calibri"/>
              </a:rPr>
              <a:t>STAGE 3 - CLOUD / PAID FALLBACKS</a:t>
            </a:r>
          </a:p>
        </p:txBody>
      </p:sp>
      <p:sp>
        <p:nvSpPr>
          <p:cNvPr id="13" name="TextBox 12"/>
          <p:cNvSpPr txBox="1"/>
          <p:nvPr/>
        </p:nvSpPr>
        <p:spPr>
          <a:xfrm>
            <a:off x="630936" y="6583680"/>
            <a:ext cx="10899648" cy="182879"/>
          </a:xfrm>
          <a:prstGeom prst="rect">
            <a:avLst/>
          </a:prstGeom>
          <a:noFill/>
        </p:spPr>
        <p:txBody>
          <a:bodyPr wrap="square" anchor="t" lIns="0" rIns="0" tIns="0" bIns="0">
            <a:spAutoFit/>
          </a:bodyPr>
          <a:lstStyle/>
          <a:p>
            <a:pPr algn="l">
              <a:lnSpc>
                <a:spcPct val="108000"/>
              </a:lnSpc>
            </a:pPr>
            <a:r>
              <a:rPr sz="660" b="0" i="0">
                <a:solidFill>
                  <a:srgbClr val="CFDAE6"/>
                </a:solidFill>
                <a:latin typeface="Calibri"/>
              </a:rPr>
              <a:t>Azure AI Content Safety (hate, sexual, violence, self-harm with severity levels, plus custom blocklists)   OpenAI Moderation API (omni-moderation)   AWS Bedrock Guardrails content filters   Google Perspective API   Llama Guard 3 / ShieldGemma / Nemotron Content Safety (self-hostable guard models, already wired into NeMo and PyRIT)</a:t>
            </a:r>
          </a:p>
        </p:txBody>
      </p:sp>
      <p:sp>
        <p:nvSpPr>
          <p:cNvPr id="14" name="Rectangle 13"/>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6" name="TextBox 15"/>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Methodology - Profanity / Content Safety</a:t>
            </a:r>
          </a:p>
        </p:txBody>
      </p:sp>
      <p:sp>
        <p:nvSpPr>
          <p:cNvPr id="17" name="TextBox 16"/>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59</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18A7E"/>
                </a:solidFill>
                <a:latin typeface="Calibri"/>
              </a:rPr>
              <a:t>TENET METHODOLOGY 6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Hallucination / Reliability</a:t>
            </a:r>
          </a:p>
        </p:txBody>
      </p:sp>
      <p:sp>
        <p:nvSpPr>
          <p:cNvPr id="6" name="Rectangle 5"/>
          <p:cNvSpPr/>
          <p:nvPr/>
        </p:nvSpPr>
        <p:spPr>
          <a:xfrm>
            <a:off x="502920" y="1207008"/>
            <a:ext cx="2011680" cy="32004"/>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61872"/>
            <a:ext cx="11155680" cy="237744"/>
          </a:xfrm>
          <a:prstGeom prst="rect">
            <a:avLst/>
          </a:prstGeom>
          <a:noFill/>
        </p:spPr>
        <p:txBody>
          <a:bodyPr wrap="square" anchor="t" lIns="0" rIns="0" tIns="0" bIns="0">
            <a:spAutoFit/>
          </a:bodyPr>
          <a:lstStyle/>
          <a:p>
            <a:pPr algn="l">
              <a:lnSpc>
                <a:spcPct val="100000"/>
              </a:lnSpc>
            </a:pPr>
            <a:r>
              <a:rPr sz="950" b="0" i="0">
                <a:solidFill>
                  <a:srgbClr val="5B6B7D"/>
                </a:solidFill>
                <a:latin typeface="Calibri"/>
              </a:rPr>
              <a:t>All 17 reviewed tools that contribute a check to this tenet - what the check actually is, what it costs, and which cascade stage it belongs in.</a:t>
            </a:r>
          </a:p>
        </p:txBody>
      </p:sp>
      <p:graphicFrame>
        <p:nvGraphicFramePr>
          <p:cNvPr id="8" name="Table 7"/>
          <p:cNvGraphicFramePr>
            <a:graphicFrameLocks noGrp="1"/>
          </p:cNvGraphicFramePr>
          <p:nvPr/>
        </p:nvGraphicFramePr>
        <p:xfrm>
          <a:off x="502920" y="1572768"/>
          <a:ext cx="11155677" cy="4480545"/>
        </p:xfrm>
        <a:graphic>
          <a:graphicData uri="http://schemas.openxmlformats.org/drawingml/2006/table">
            <a:tbl>
              <a:tblPr>
                <a:tableStyleId>{5C22544A-7EE6-4342-B048-85BDC9FD1C3A}</a:tableStyleId>
              </a:tblPr>
              <a:tblGrid>
                <a:gridCol w="1549400"/>
                <a:gridCol w="1962573"/>
                <a:gridCol w="2685626"/>
                <a:gridCol w="1136226"/>
                <a:gridCol w="1136226"/>
                <a:gridCol w="929640"/>
                <a:gridCol w="1032933"/>
                <a:gridCol w="723053"/>
              </a:tblGrid>
              <a:tr h="274320">
                <a:tc>
                  <a:txBody>
                    <a:bodyPr wrap="square"/>
                    <a:lstStyle/>
                    <a:p>
                      <a:pPr algn="l">
                        <a:lnSpc>
                          <a:spcPct val="92000"/>
                        </a:lnSpc>
                      </a:pPr>
                      <a:r>
                        <a:rPr sz="750" b="1" i="0">
                          <a:solidFill>
                            <a:srgbClr val="FFFFFF"/>
                          </a:solidFill>
                          <a:latin typeface="Calibri"/>
                        </a:rPr>
                        <a:t>Repository</a:t>
                      </a:r>
                    </a:p>
                  </a:txBody>
                  <a:tcPr marL="32004" marR="32004" marT="10972" marB="10972" anchor="ctr">
                    <a:solidFill>
                      <a:srgbClr val="10243E"/>
                    </a:solidFill>
                  </a:tcPr>
                </a:tc>
                <a:tc>
                  <a:txBody>
                    <a:bodyPr wrap="square"/>
                    <a:lstStyle/>
                    <a:p>
                      <a:pPr algn="l">
                        <a:lnSpc>
                          <a:spcPct val="92000"/>
                        </a:lnSpc>
                      </a:pPr>
                      <a:r>
                        <a:rPr sz="750" b="1" i="0">
                          <a:solidFill>
                            <a:srgbClr val="FFFFFF"/>
                          </a:solidFill>
                          <a:latin typeface="Calibri"/>
                        </a:rPr>
                        <a:t>Mechanism</a:t>
                      </a:r>
                    </a:p>
                  </a:txBody>
                  <a:tcPr marL="32004" marR="32004" marT="10972" marB="10972" anchor="ctr">
                    <a:solidFill>
                      <a:srgbClr val="10243E"/>
                    </a:solidFill>
                  </a:tcPr>
                </a:tc>
                <a:tc>
                  <a:txBody>
                    <a:bodyPr wrap="square"/>
                    <a:lstStyle/>
                    <a:p>
                      <a:pPr algn="l">
                        <a:lnSpc>
                          <a:spcPct val="92000"/>
                        </a:lnSpc>
                      </a:pPr>
                      <a:r>
                        <a:rPr sz="750" b="1" i="0">
                          <a:solidFill>
                            <a:srgbClr val="FFFFFF"/>
                          </a:solidFill>
                          <a:latin typeface="Calibri"/>
                        </a:rPr>
                        <a:t>What it does for this tenet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Cost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Latency</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Runs</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Target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Stage</a:t>
                      </a:r>
                    </a:p>
                  </a:txBody>
                  <a:tcPr marL="32004" marR="32004" marT="10972" marB="10972" anchor="ctr">
                    <a:solidFill>
                      <a:srgbClr val="10243E"/>
                    </a:solidFill>
                  </a:tcPr>
                </a:tc>
              </a:tr>
              <a:tr h="247425">
                <a:tc>
                  <a:txBody>
                    <a:bodyPr wrap="square"/>
                    <a:lstStyle/>
                    <a:p>
                      <a:pPr algn="l">
                        <a:lnSpc>
                          <a:spcPct val="92000"/>
                        </a:lnSpc>
                      </a:pPr>
                      <a:r>
                        <a:rPr sz="640" b="1" i="0">
                          <a:solidFill>
                            <a:srgbClr val="10243E"/>
                          </a:solidFill>
                          <a:latin typeface="Calibri"/>
                        </a:rPr>
                        <a:t>Safe Zone (TSZ)</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Module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JSON/XML/JSON-Schema structural checks only; no auto-repair and no re-ask path exists in the code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Very low</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LLM Guard</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NLI/Cross-encoder + Classifier</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FactualConsistency entailment via MoritzLaurer/deberta-v3-base-zeroshot-v2.0; NoRefusal classifier</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Low</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E88C00"/>
                          </a:solidFill>
                          <a:latin typeface="Calibri"/>
                        </a:rPr>
                        <a:t>Stage 2</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NeMo Guardrails</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NLI/Cross-encoder + LLM-judge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AlignScore roberta-base nli_sp server; self_check_facts prompt; Patronus-Lynx-70B and Cleanlab rails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Low-High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E88C00"/>
                          </a:solidFill>
                          <a:latin typeface="Calibri"/>
                        </a:rPr>
                        <a:t>Stage 2</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DeepTeam</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LLM-judge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HallucinationMetric probes fake citations/APIs/entities/stats; HallucinationGuard fact-checks output</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High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C0392B"/>
                          </a:solidFill>
                          <a:latin typeface="Calibri"/>
                        </a:rPr>
                        <a:t>Stage 3</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Guardrails AI</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Module + LLM-judge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Schema-fail re-ask via constants.xml prompts; groundedness ONLY via external provenance-llm/embeddings pkgs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Very low-High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C0392B"/>
                          </a:solidFill>
                          <a:latin typeface="Calibri"/>
                        </a:rPr>
                        <a:t>Stage 3</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hai-guardrails</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Module + LLM-judge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llmGuard repairs judge JSON via jsonrepair then zod safeParse; fails closed, no re-ask/retry loop</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Very low-High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C0392B"/>
                          </a:solidFill>
                          <a:latin typeface="Calibri"/>
                        </a:rPr>
                        <a:t>Stage 3</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Infosys RAI Toolkit</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LLM-judge + Statistical</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show_score weighted mpnet cosine (input/output/source); GPT-4 self-score, G-Eval, CoVe; TrustLLM truthfulness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High-Batch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C0392B"/>
                          </a:solidFill>
                          <a:latin typeface="Calibri"/>
                        </a:rPr>
                        <a:t>Stage 3</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Agentic Security</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Keyword/Regex + Classifier</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Refusal detection: 28-phrase REFUSAL_MARKS + one-class SVM (joblib); optional LLM judge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Deepchecks</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Statistical + Classifier</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Dataset drift (KS/EMD/PSI/Cramer's V), LoOP+IQR outliers, dup/null/mixed-type integrity, fasttext lang</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Both</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DeepEval</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LLM-judge + NLI/Cross-encoder</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Faithfulness claim-vs-truth verdicts; contextual precision/recall/relevancy judges; vectara CrossEncoder</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FuzzyAI</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Keyword/Regex + NLI/Cross-encoder</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Refusal detection only: 7-phrase prefix list + bart-large-mnli disapproval score; no factuality check</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garak</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Keyword/Regex + Classifier</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packagehallucination pkg-list lookup; refusal via mitigation string list or garak-refusal-detector</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Giskard v3</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LLM-judge + Module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Groundedness/Contradiction/AnswerRelevance judges + SemanticSimilarity cosine; KB sycophancy generator</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JCB</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Keyword/Regex + LLM-judge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29-prefix AdvBench refusal list + gpt-4.1 judge score cutoff 8.5; MinHash verbatim-reproduction check</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OpenAI Evals</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LLM-judge + Keyword/Regex</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463 registry evals; modelgraded fact/closedqa judge prompts + Match/FuzzyMatch/Includes/JsonValidator</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Promptfoo</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LLM-judge + Statistical</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context-faithfulness/recall/relevance + answer-relevance judges; rouge-n, bleu, meteor, levenshtein</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PyRIT</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Keyword/Regex + LLM-judge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PackageHallucinationScorer allow-list vs registry names (garak port); SelfAskRefusalScorer; PlagiarismScorer</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bl>
          </a:graphicData>
        </a:graphic>
      </p:graphicFrame>
      <p:sp>
        <p:nvSpPr>
          <p:cNvPr id="9" name="TextBox 8"/>
          <p:cNvSpPr txBox="1"/>
          <p:nvPr/>
        </p:nvSpPr>
        <p:spPr>
          <a:xfrm>
            <a:off x="502920" y="6135624"/>
            <a:ext cx="11155680" cy="182880"/>
          </a:xfrm>
          <a:prstGeom prst="rect">
            <a:avLst/>
          </a:prstGeom>
          <a:noFill/>
        </p:spPr>
        <p:txBody>
          <a:bodyPr wrap="square" anchor="t" lIns="0" rIns="0" tIns="0" bIns="0">
            <a:spAutoFit/>
          </a:bodyPr>
          <a:lstStyle/>
          <a:p>
            <a:pPr algn="l">
              <a:lnSpc>
                <a:spcPct val="100000"/>
              </a:lnSpc>
            </a:pPr>
            <a:r>
              <a:rPr sz="720" b="0" i="0">
                <a:solidFill>
                  <a:srgbClr val="1A1A2E"/>
                </a:solidFill>
                <a:latin typeface="Calibri"/>
              </a:rPr>
              <a:t>Stage 1  free + deterministic, runs on every request      Stage 2  local model, or cloud second opinion on borderline input only      Stage 3  paid / LLM-judge / heavy      Delegates  contract or taxonomy only, no detector of its own      Offline  CI and red-team only</a:t>
            </a:r>
          </a:p>
        </p:txBody>
      </p:sp>
      <p:sp>
        <p:nvSpPr>
          <p:cNvPr id="10" name="TextBox 9"/>
          <p:cNvSpPr txBox="1"/>
          <p:nvPr/>
        </p:nvSpPr>
        <p:spPr>
          <a:xfrm>
            <a:off x="502920" y="6309360"/>
            <a:ext cx="11155680" cy="164592"/>
          </a:xfrm>
          <a:prstGeom prst="rect">
            <a:avLst/>
          </a:prstGeom>
          <a:noFill/>
        </p:spPr>
        <p:txBody>
          <a:bodyPr wrap="square" anchor="t" lIns="0" rIns="0" tIns="0" bIns="0">
            <a:spAutoFit/>
          </a:bodyPr>
          <a:lstStyle/>
          <a:p>
            <a:pPr algn="l">
              <a:lnSpc>
                <a:spcPct val="100000"/>
              </a:lnSpc>
            </a:pPr>
            <a:r>
              <a:rPr sz="680" b="0" i="1">
                <a:solidFill>
                  <a:srgbClr val="5B6B7D"/>
                </a:solidFill>
                <a:latin typeface="Calibri"/>
              </a:rPr>
              <a:t>Stage = the earliest point this tool can contribute, taken from its cheapest mechanism. Latency is a range across its mechanisms, estimated from what the source actually does - not a benchmarked measurement.</a:t>
            </a:r>
          </a:p>
        </p:txBody>
      </p:sp>
      <p:sp>
        <p:nvSpPr>
          <p:cNvPr id="11" name="Rounded Rectangle 10"/>
          <p:cNvSpPr/>
          <p:nvPr/>
        </p:nvSpPr>
        <p:spPr>
          <a:xfrm>
            <a:off x="502920" y="6501384"/>
            <a:ext cx="11155680" cy="384048"/>
          </a:xfrm>
          <a:prstGeom prst="roundRect">
            <a:avLst>
              <a:gd name="adj" fmla="val 4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6537960"/>
            <a:ext cx="2286000" cy="146304"/>
          </a:xfrm>
          <a:prstGeom prst="rect">
            <a:avLst/>
          </a:prstGeom>
          <a:noFill/>
        </p:spPr>
        <p:txBody>
          <a:bodyPr wrap="square" anchor="t" lIns="0" rIns="0" tIns="0" bIns="0">
            <a:spAutoFit/>
          </a:bodyPr>
          <a:lstStyle/>
          <a:p>
            <a:pPr algn="l">
              <a:lnSpc>
                <a:spcPct val="100000"/>
              </a:lnSpc>
            </a:pPr>
            <a:r>
              <a:rPr sz="680" b="1" i="0">
                <a:solidFill>
                  <a:srgbClr val="1B9AAA"/>
                </a:solidFill>
                <a:latin typeface="Calibri"/>
              </a:rPr>
              <a:t>STAGE 3 - CLOUD / PAID FALLBACKS</a:t>
            </a:r>
          </a:p>
        </p:txBody>
      </p:sp>
      <p:sp>
        <p:nvSpPr>
          <p:cNvPr id="13" name="TextBox 12"/>
          <p:cNvSpPr txBox="1"/>
          <p:nvPr/>
        </p:nvSpPr>
        <p:spPr>
          <a:xfrm>
            <a:off x="630936" y="6675120"/>
            <a:ext cx="10899648" cy="182879"/>
          </a:xfrm>
          <a:prstGeom prst="rect">
            <a:avLst/>
          </a:prstGeom>
          <a:noFill/>
        </p:spPr>
        <p:txBody>
          <a:bodyPr wrap="square" anchor="t" lIns="0" rIns="0" tIns="0" bIns="0">
            <a:spAutoFit/>
          </a:bodyPr>
          <a:lstStyle/>
          <a:p>
            <a:pPr algn="l">
              <a:lnSpc>
                <a:spcPct val="108000"/>
              </a:lnSpc>
            </a:pPr>
            <a:r>
              <a:rPr sz="660" b="0" i="0">
                <a:solidFill>
                  <a:srgbClr val="CFDAE6"/>
                </a:solidFill>
                <a:latin typeface="Calibri"/>
              </a:rPr>
              <a:t>Azure AI Content Safety groundedness detection   Patronus AI Lynx hallucination model (available as a NeMo rail)   Cleanlab trustworthiness score (available as a NeMo rail)   Fiddler AI faithfulness monitoring   Vectara hallucination evaluation model (self-hostable, wired into DeepEval)</a:t>
            </a:r>
          </a:p>
        </p:txBody>
      </p:sp>
      <p:sp>
        <p:nvSpPr>
          <p:cNvPr id="14" name="Rectangle 13"/>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6" name="TextBox 15"/>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Methodology - Hallucination / Reliability</a:t>
            </a:r>
          </a:p>
        </p:txBody>
      </p:sp>
      <p:sp>
        <p:nvSpPr>
          <p:cNvPr id="17" name="TextBox 16"/>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4A6380"/>
                </a:solidFill>
                <a:latin typeface="Calibri"/>
              </a:rPr>
              <a:t>TENET METHODOLOGY 7 OF 7</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Accountability</a:t>
            </a:r>
          </a:p>
        </p:txBody>
      </p:sp>
      <p:sp>
        <p:nvSpPr>
          <p:cNvPr id="6" name="Rectangle 5"/>
          <p:cNvSpPr/>
          <p:nvPr/>
        </p:nvSpPr>
        <p:spPr>
          <a:xfrm>
            <a:off x="502920" y="1207008"/>
            <a:ext cx="2011680" cy="32004"/>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61872"/>
            <a:ext cx="11155680" cy="237744"/>
          </a:xfrm>
          <a:prstGeom prst="rect">
            <a:avLst/>
          </a:prstGeom>
          <a:noFill/>
        </p:spPr>
        <p:txBody>
          <a:bodyPr wrap="square" anchor="t" lIns="0" rIns="0" tIns="0" bIns="0">
            <a:spAutoFit/>
          </a:bodyPr>
          <a:lstStyle/>
          <a:p>
            <a:pPr algn="l">
              <a:lnSpc>
                <a:spcPct val="100000"/>
              </a:lnSpc>
            </a:pPr>
            <a:r>
              <a:rPr sz="950" b="0" i="0">
                <a:solidFill>
                  <a:srgbClr val="5B6B7D"/>
                </a:solidFill>
                <a:latin typeface="Calibri"/>
              </a:rPr>
              <a:t>All 17 reviewed tools that contribute a check to this tenet - what the check actually is, what it costs, and which cascade stage it belongs in.</a:t>
            </a:r>
          </a:p>
        </p:txBody>
      </p:sp>
      <p:graphicFrame>
        <p:nvGraphicFramePr>
          <p:cNvPr id="8" name="Table 7"/>
          <p:cNvGraphicFramePr>
            <a:graphicFrameLocks noGrp="1"/>
          </p:cNvGraphicFramePr>
          <p:nvPr/>
        </p:nvGraphicFramePr>
        <p:xfrm>
          <a:off x="502920" y="1572768"/>
          <a:ext cx="11155677" cy="4480545"/>
        </p:xfrm>
        <a:graphic>
          <a:graphicData uri="http://schemas.openxmlformats.org/drawingml/2006/table">
            <a:tbl>
              <a:tblPr>
                <a:tableStyleId>{5C22544A-7EE6-4342-B048-85BDC9FD1C3A}</a:tableStyleId>
              </a:tblPr>
              <a:tblGrid>
                <a:gridCol w="1549400"/>
                <a:gridCol w="1962573"/>
                <a:gridCol w="2685626"/>
                <a:gridCol w="1136226"/>
                <a:gridCol w="1136226"/>
                <a:gridCol w="929640"/>
                <a:gridCol w="1032933"/>
                <a:gridCol w="723053"/>
              </a:tblGrid>
              <a:tr h="274320">
                <a:tc>
                  <a:txBody>
                    <a:bodyPr wrap="square"/>
                    <a:lstStyle/>
                    <a:p>
                      <a:pPr algn="l">
                        <a:lnSpc>
                          <a:spcPct val="92000"/>
                        </a:lnSpc>
                      </a:pPr>
                      <a:r>
                        <a:rPr sz="750" b="1" i="0">
                          <a:solidFill>
                            <a:srgbClr val="FFFFFF"/>
                          </a:solidFill>
                          <a:latin typeface="Calibri"/>
                        </a:rPr>
                        <a:t>Repository</a:t>
                      </a:r>
                    </a:p>
                  </a:txBody>
                  <a:tcPr marL="32004" marR="32004" marT="10972" marB="10972" anchor="ctr">
                    <a:solidFill>
                      <a:srgbClr val="10243E"/>
                    </a:solidFill>
                  </a:tcPr>
                </a:tc>
                <a:tc>
                  <a:txBody>
                    <a:bodyPr wrap="square"/>
                    <a:lstStyle/>
                    <a:p>
                      <a:pPr algn="l">
                        <a:lnSpc>
                          <a:spcPct val="92000"/>
                        </a:lnSpc>
                      </a:pPr>
                      <a:r>
                        <a:rPr sz="750" b="1" i="0">
                          <a:solidFill>
                            <a:srgbClr val="FFFFFF"/>
                          </a:solidFill>
                          <a:latin typeface="Calibri"/>
                        </a:rPr>
                        <a:t>Mechanism</a:t>
                      </a:r>
                    </a:p>
                  </a:txBody>
                  <a:tcPr marL="32004" marR="32004" marT="10972" marB="10972" anchor="ctr">
                    <a:solidFill>
                      <a:srgbClr val="10243E"/>
                    </a:solidFill>
                  </a:tcPr>
                </a:tc>
                <a:tc>
                  <a:txBody>
                    <a:bodyPr wrap="square"/>
                    <a:lstStyle/>
                    <a:p>
                      <a:pPr algn="l">
                        <a:lnSpc>
                          <a:spcPct val="92000"/>
                        </a:lnSpc>
                      </a:pPr>
                      <a:r>
                        <a:rPr sz="750" b="1" i="0">
                          <a:solidFill>
                            <a:srgbClr val="FFFFFF"/>
                          </a:solidFill>
                          <a:latin typeface="Calibri"/>
                        </a:rPr>
                        <a:t>What it does for this tenet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Cost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Latency</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Runs</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Target</a:t>
                      </a:r>
                    </a:p>
                  </a:txBody>
                  <a:tcPr marL="32004" marR="32004" marT="10972" marB="10972" anchor="ctr">
                    <a:solidFill>
                      <a:srgbClr val="10243E"/>
                    </a:solidFill>
                  </a:tcPr>
                </a:tc>
                <a:tc>
                  <a:txBody>
                    <a:bodyPr wrap="square"/>
                    <a:lstStyle/>
                    <a:p>
                      <a:pPr algn="ctr">
                        <a:lnSpc>
                          <a:spcPct val="92000"/>
                        </a:lnSpc>
                      </a:pPr>
                      <a:r>
                        <a:rPr sz="750" b="1" i="0">
                          <a:solidFill>
                            <a:srgbClr val="FFFFFF"/>
                          </a:solidFill>
                          <a:latin typeface="Calibri"/>
                        </a:rPr>
                        <a:t>Stage</a:t>
                      </a:r>
                    </a:p>
                  </a:txBody>
                  <a:tcPr marL="32004" marR="32004" marT="10972" marB="10972" anchor="ctr">
                    <a:solidFill>
                      <a:srgbClr val="10243E"/>
                    </a:solidFill>
                  </a:tcPr>
                </a:tc>
              </a:tr>
              <a:tr h="247425">
                <a:tc>
                  <a:txBody>
                    <a:bodyPr wrap="square"/>
                    <a:lstStyle/>
                    <a:p>
                      <a:pPr algn="l">
                        <a:lnSpc>
                          <a:spcPct val="92000"/>
                        </a:lnSpc>
                      </a:pPr>
                      <a:r>
                        <a:rPr sz="640" b="1" i="0">
                          <a:solidFill>
                            <a:srgbClr val="10243E"/>
                          </a:solidFill>
                          <a:latin typeface="Calibri"/>
                        </a:rPr>
                        <a:t>Guardrails AI</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Module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SQLite guard_logs audit DB, Guard.history per-call tree, OTel spans, 8-value OnFailAction enum</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Very low</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Infosys RAI Toolkit</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Module + Statistical</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16 checks gathered into summary(status,reason); admin ModerationCheckThreshold per account/portfolio; telemetry</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Very low-Batch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Both</a:t>
                      </a:r>
                    </a:p>
                  </a:txBody>
                  <a:tcPr marL="32004" marR="32004" marT="10972" marB="10972" anchor="ctr">
                    <a:solidFill>
                      <a:srgbClr val="F4F7FA"/>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LLM Guard</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Classifier + Module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BanCompetitors NER (guishe/nuner-v1_orgs); TokenLimit via tiktoken; slowapi rate limit in API layer</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Very low-Low</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NeMo Guardrails</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Module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OpenTelemetry span adapter + RailDecision ALLOW/BLOCK/TRANSFORM; rail_guard fail-closed envelope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Very low</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OpenGuardrails</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Module + Statistical</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guard-event + verdict JSON Schemas, fail_mode open|closed + unjudged, composition strategies, F1 leaderboard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Very low-Batch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Safe Zone (TSZ)</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Module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SecurityEvent POSTed to SIEM_WEBHOOK_URL, [AUDIT] log line, 50-event ring buffer, per-route rate limits</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Very low</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2E8B57"/>
                          </a:solidFill>
                          <a:latin typeface="Calibri"/>
                        </a:rPr>
                        <a:t>Stage 1</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hai-guardrails</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LLM-judge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copyrightGuard llmGuard prompt, threshold 0.8, flags lyrics/excerpts/code; no ethics guard exists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High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C0392B"/>
                          </a:solidFill>
                          <a:latin typeface="Calibri"/>
                        </a:rPr>
                        <a:t>Stage 3</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Rebuff</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Module + Cloud API</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Tactics run in fixed order, OR-combined; log_leakage writes the confirmed attack back into the vector corpus</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Very low-Medium</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C0392B"/>
                          </a:solidFill>
                          <a:latin typeface="Calibri"/>
                        </a:rPr>
                        <a:t>Stage 3</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Agentic Security</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Statistical</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Per-module failure rate vs max_th=0.3 PASS/FAIL, failures.csv, matplotlib chart; never exits non-zero</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Deepchecks</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Module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Condition pass/fail per check with JUnit XML, JSON and HTML suite serializers for CI gating</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Both</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DeepEval</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Module + LLM-judge</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pytest11 assert_test fails on threshold miss; JSON results folder; Misuse/RoleViolation rubric judges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 (+opt paid)</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DeepTeam</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Module + LLM-judge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5 framework maps (OWASP LLM/ASI, NIST AI RMF, MITRE ATLAS, EU AI Act) + CVSS scoring report</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garak</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Statistical</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detector_metrics_summary.json holds per-detector F1/sensitivity/specificity from human + LLM labels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Giskard v3</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Module</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assert_passed + to_junit_xml/to_hub_format JSON; RegoPolicy via regorus; only OWASP LLM01 tags mapped</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OpenAI Evals</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LLM-judge + Statistical</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sandbagging (MMLU accuracy vs target), make_me_say/make_me_pay, ballots, steganography, bluff suites</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Paid API req.</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r h="247425">
                <a:tc>
                  <a:txBody>
                    <a:bodyPr wrap="square"/>
                    <a:lstStyle/>
                    <a:p>
                      <a:pPr algn="l">
                        <a:lnSpc>
                          <a:spcPct val="92000"/>
                        </a:lnSpc>
                      </a:pPr>
                      <a:r>
                        <a:rPr sz="640" b="1" i="0">
                          <a:solidFill>
                            <a:srgbClr val="10243E"/>
                          </a:solidFill>
                          <a:latin typeface="Calibri"/>
                        </a:rPr>
                        <a:t>Promptfoo</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Module + Statistical</a:t>
                      </a:r>
                    </a:p>
                  </a:txBody>
                  <a:tcPr marL="32004" marR="32004" marT="10972" marB="10972" anchor="ctr">
                    <a:solidFill>
                      <a:srgbClr val="F4F7FA"/>
                    </a:solidFill>
                  </a:tcPr>
                </a:tc>
                <a:tc>
                  <a:txBody>
                    <a:bodyPr wrap="square"/>
                    <a:lstStyle/>
                    <a:p>
                      <a:pPr algn="l">
                        <a:lnSpc>
                          <a:spcPct val="92000"/>
                        </a:lnSpc>
                      </a:pPr>
                      <a:r>
                        <a:rPr sz="600" b="0" i="0">
                          <a:solidFill>
                            <a:srgbClr val="1A1A2E"/>
                          </a:solidFill>
                          <a:latin typeface="Calibri"/>
                        </a:rPr>
                        <a:t>OTel spans + 6 framework maps (OWASP LLM, NIST RMF, ATLAS, EU AI Act, ISO 42001, GDPR), junit.xml, pass-rate gate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4F7FA"/>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4F7FA"/>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4F7FA"/>
                    </a:solidFill>
                  </a:tcPr>
                </a:tc>
              </a:tr>
              <a:tr h="247425">
                <a:tc>
                  <a:txBody>
                    <a:bodyPr wrap="square"/>
                    <a:lstStyle/>
                    <a:p>
                      <a:pPr algn="l">
                        <a:lnSpc>
                          <a:spcPct val="92000"/>
                        </a:lnSpc>
                      </a:pPr>
                      <a:r>
                        <a:rPr sz="640" b="1" i="0">
                          <a:solidFill>
                            <a:srgbClr val="10243E"/>
                          </a:solidFill>
                          <a:latin typeface="Calibri"/>
                        </a:rPr>
                        <a:t>PyRIT</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Module + Statistical</a:t>
                      </a:r>
                    </a:p>
                  </a:txBody>
                  <a:tcPr marL="32004" marR="32004" marT="10972" marB="10972" anchor="ctr">
                    <a:solidFill>
                      <a:srgbClr val="FFFFFF"/>
                    </a:solidFill>
                  </a:tcPr>
                </a:tc>
                <a:tc>
                  <a:txBody>
                    <a:bodyPr wrap="square"/>
                    <a:lstStyle/>
                    <a:p>
                      <a:pPr algn="l">
                        <a:lnSpc>
                          <a:spcPct val="92000"/>
                        </a:lnSpc>
                      </a:pPr>
                      <a:r>
                        <a:rPr sz="600" b="0" i="0">
                          <a:solidFill>
                            <a:srgbClr val="1A1A2E"/>
                          </a:solidFill>
                          <a:latin typeface="Calibri"/>
                        </a:rPr>
                        <a:t>SQLite/AzureSQL memory (PromptMemoryEntries, ScoreEntry, AttackResults); ScorerEvaluator Krippendorff alpha</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Free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Batch</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Local/remote</a:t>
                      </a:r>
                    </a:p>
                  </a:txBody>
                  <a:tcPr marL="32004" marR="32004" marT="10972" marB="10972" anchor="ctr">
                    <a:solidFill>
                      <a:srgbClr val="FFFFFF"/>
                    </a:solidFill>
                  </a:tcPr>
                </a:tc>
                <a:tc>
                  <a:txBody>
                    <a:bodyPr wrap="square"/>
                    <a:lstStyle/>
                    <a:p>
                      <a:pPr algn="ctr">
                        <a:lnSpc>
                          <a:spcPct val="92000"/>
                        </a:lnSpc>
                      </a:pPr>
                      <a:r>
                        <a:rPr sz="600" b="0" i="0">
                          <a:solidFill>
                            <a:srgbClr val="1A1A2E"/>
                          </a:solidFill>
                          <a:latin typeface="Calibri"/>
                        </a:rPr>
                        <a:t>LLM text</a:t>
                      </a:r>
                    </a:p>
                  </a:txBody>
                  <a:tcPr marL="32004" marR="32004" marT="10972" marB="10972" anchor="ctr">
                    <a:solidFill>
                      <a:srgbClr val="FFFFFF"/>
                    </a:solidFill>
                  </a:tcPr>
                </a:tc>
                <a:tc>
                  <a:txBody>
                    <a:bodyPr wrap="square"/>
                    <a:lstStyle/>
                    <a:p>
                      <a:pPr algn="ctr">
                        <a:lnSpc>
                          <a:spcPct val="92000"/>
                        </a:lnSpc>
                      </a:pPr>
                      <a:r>
                        <a:rPr sz="600" b="1" i="0">
                          <a:solidFill>
                            <a:srgbClr val="5B6B7D"/>
                          </a:solidFill>
                          <a:latin typeface="Calibri"/>
                        </a:rPr>
                        <a:t>Offline</a:t>
                      </a:r>
                    </a:p>
                  </a:txBody>
                  <a:tcPr marL="32004" marR="32004" marT="10972" marB="10972" anchor="ctr">
                    <a:solidFill>
                      <a:srgbClr val="FFFFFF"/>
                    </a:solidFill>
                  </a:tcPr>
                </a:tc>
              </a:tr>
            </a:tbl>
          </a:graphicData>
        </a:graphic>
      </p:graphicFrame>
      <p:sp>
        <p:nvSpPr>
          <p:cNvPr id="9" name="TextBox 8"/>
          <p:cNvSpPr txBox="1"/>
          <p:nvPr/>
        </p:nvSpPr>
        <p:spPr>
          <a:xfrm>
            <a:off x="502920" y="6135624"/>
            <a:ext cx="11155680" cy="182880"/>
          </a:xfrm>
          <a:prstGeom prst="rect">
            <a:avLst/>
          </a:prstGeom>
          <a:noFill/>
        </p:spPr>
        <p:txBody>
          <a:bodyPr wrap="square" anchor="t" lIns="0" rIns="0" tIns="0" bIns="0">
            <a:spAutoFit/>
          </a:bodyPr>
          <a:lstStyle/>
          <a:p>
            <a:pPr algn="l">
              <a:lnSpc>
                <a:spcPct val="100000"/>
              </a:lnSpc>
            </a:pPr>
            <a:r>
              <a:rPr sz="720" b="0" i="0">
                <a:solidFill>
                  <a:srgbClr val="1A1A2E"/>
                </a:solidFill>
                <a:latin typeface="Calibri"/>
              </a:rPr>
              <a:t>Stage 1  free + deterministic, runs on every request      Stage 2  local model, or cloud second opinion on borderline input only      Stage 3  paid / LLM-judge / heavy      Delegates  contract or taxonomy only, no detector of its own      Offline  CI and red-team only</a:t>
            </a:r>
          </a:p>
        </p:txBody>
      </p:sp>
      <p:sp>
        <p:nvSpPr>
          <p:cNvPr id="10" name="TextBox 9"/>
          <p:cNvSpPr txBox="1"/>
          <p:nvPr/>
        </p:nvSpPr>
        <p:spPr>
          <a:xfrm>
            <a:off x="502920" y="6309360"/>
            <a:ext cx="11155680" cy="164592"/>
          </a:xfrm>
          <a:prstGeom prst="rect">
            <a:avLst/>
          </a:prstGeom>
          <a:noFill/>
        </p:spPr>
        <p:txBody>
          <a:bodyPr wrap="square" anchor="t" lIns="0" rIns="0" tIns="0" bIns="0">
            <a:spAutoFit/>
          </a:bodyPr>
          <a:lstStyle/>
          <a:p>
            <a:pPr algn="l">
              <a:lnSpc>
                <a:spcPct val="100000"/>
              </a:lnSpc>
            </a:pPr>
            <a:r>
              <a:rPr sz="680" b="0" i="1">
                <a:solidFill>
                  <a:srgbClr val="5B6B7D"/>
                </a:solidFill>
                <a:latin typeface="Calibri"/>
              </a:rPr>
              <a:t>Stage = the earliest point this tool can contribute, taken from its cheapest mechanism. Latency is a range across its mechanisms, estimated from what the source actually does - not a benchmarked measurement.</a:t>
            </a:r>
          </a:p>
        </p:txBody>
      </p:sp>
      <p:sp>
        <p:nvSpPr>
          <p:cNvPr id="11" name="Rounded Rectangle 10"/>
          <p:cNvSpPr/>
          <p:nvPr/>
        </p:nvSpPr>
        <p:spPr>
          <a:xfrm>
            <a:off x="502920" y="6501384"/>
            <a:ext cx="11155680" cy="384048"/>
          </a:xfrm>
          <a:prstGeom prst="roundRect">
            <a:avLst>
              <a:gd name="adj" fmla="val 4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 y="6537960"/>
            <a:ext cx="2286000" cy="146304"/>
          </a:xfrm>
          <a:prstGeom prst="rect">
            <a:avLst/>
          </a:prstGeom>
          <a:noFill/>
        </p:spPr>
        <p:txBody>
          <a:bodyPr wrap="square" anchor="t" lIns="0" rIns="0" tIns="0" bIns="0">
            <a:spAutoFit/>
          </a:bodyPr>
          <a:lstStyle/>
          <a:p>
            <a:pPr algn="l">
              <a:lnSpc>
                <a:spcPct val="100000"/>
              </a:lnSpc>
            </a:pPr>
            <a:r>
              <a:rPr sz="680" b="1" i="0">
                <a:solidFill>
                  <a:srgbClr val="1B9AAA"/>
                </a:solidFill>
                <a:latin typeface="Calibri"/>
              </a:rPr>
              <a:t>STAGE 3 - CLOUD / PAID FALLBACKS</a:t>
            </a:r>
          </a:p>
        </p:txBody>
      </p:sp>
      <p:sp>
        <p:nvSpPr>
          <p:cNvPr id="13" name="TextBox 12"/>
          <p:cNvSpPr txBox="1"/>
          <p:nvPr/>
        </p:nvSpPr>
        <p:spPr>
          <a:xfrm>
            <a:off x="630936" y="6675120"/>
            <a:ext cx="10899648" cy="182879"/>
          </a:xfrm>
          <a:prstGeom prst="rect">
            <a:avLst/>
          </a:prstGeom>
          <a:noFill/>
        </p:spPr>
        <p:txBody>
          <a:bodyPr wrap="square" anchor="t" lIns="0" rIns="0" tIns="0" bIns="0">
            <a:spAutoFit/>
          </a:bodyPr>
          <a:lstStyle/>
          <a:p>
            <a:pPr algn="l">
              <a:lnSpc>
                <a:spcPct val="108000"/>
              </a:lnSpc>
            </a:pPr>
            <a:r>
              <a:rPr sz="660" b="0" i="0">
                <a:solidFill>
                  <a:srgbClr val="CFDAE6"/>
                </a:solidFill>
                <a:latin typeface="Calibri"/>
              </a:rPr>
              <a:t>Monitaur (AI governance and model audit records)   Fiddler AI / Arthur AI (production monitoring and drift alerting)   DataRobot governance and model registry   Azure Monitor plus Application Insights for guardrail telemetry   Microsoft Purview for data-governance lineage</a:t>
            </a:r>
          </a:p>
        </p:txBody>
      </p:sp>
      <p:sp>
        <p:nvSpPr>
          <p:cNvPr id="14" name="Rectangle 13"/>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6" name="TextBox 15"/>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Methodology - Accountability</a:t>
            </a:r>
          </a:p>
        </p:txBody>
      </p:sp>
      <p:sp>
        <p:nvSpPr>
          <p:cNvPr id="17" name="TextBox 16"/>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61</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2880360"/>
            <a:ext cx="5486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2286000"/>
            <a:ext cx="10058400" cy="365760"/>
          </a:xfrm>
          <a:prstGeom prst="rect">
            <a:avLst/>
          </a:prstGeom>
          <a:noFill/>
        </p:spPr>
        <p:txBody>
          <a:bodyPr wrap="square" anchor="t" lIns="0" rIns="0" tIns="0" bIns="0">
            <a:spAutoFit/>
          </a:bodyPr>
          <a:lstStyle/>
          <a:p>
            <a:pPr algn="l">
              <a:lnSpc>
                <a:spcPct val="100000"/>
              </a:lnSpc>
            </a:pPr>
            <a:r>
              <a:rPr sz="1400" b="1" i="0">
                <a:solidFill>
                  <a:srgbClr val="1B9AAA"/>
                </a:solidFill>
                <a:latin typeface="Calibri"/>
              </a:rPr>
              <a:t>SECTION</a:t>
            </a:r>
          </a:p>
        </p:txBody>
      </p:sp>
      <p:sp>
        <p:nvSpPr>
          <p:cNvPr id="6" name="TextBox 5"/>
          <p:cNvSpPr txBox="1"/>
          <p:nvPr/>
        </p:nvSpPr>
        <p:spPr>
          <a:xfrm>
            <a:off x="777240" y="3017520"/>
            <a:ext cx="10607040" cy="1005840"/>
          </a:xfrm>
          <a:prstGeom prst="rect">
            <a:avLst/>
          </a:prstGeom>
          <a:noFill/>
        </p:spPr>
        <p:txBody>
          <a:bodyPr wrap="square" anchor="t" lIns="0" rIns="0" tIns="0" bIns="0">
            <a:spAutoFit/>
          </a:bodyPr>
          <a:lstStyle/>
          <a:p>
            <a:pPr algn="l">
              <a:lnSpc>
                <a:spcPct val="100000"/>
              </a:lnSpc>
            </a:pPr>
            <a:r>
              <a:rPr sz="3400" b="1" i="0">
                <a:solidFill>
                  <a:srgbClr val="FFFFFF"/>
                </a:solidFill>
                <a:latin typeface="Calibri"/>
              </a:rPr>
              <a:t>Feasibility &amp; Unified Architecture</a:t>
            </a:r>
          </a:p>
        </p:txBody>
      </p:sp>
      <p:sp>
        <p:nvSpPr>
          <p:cNvPr id="7" name="TextBox 6"/>
          <p:cNvSpPr txBox="1"/>
          <p:nvPr/>
        </p:nvSpPr>
        <p:spPr>
          <a:xfrm>
            <a:off x="822960" y="3977639"/>
            <a:ext cx="9875520" cy="731520"/>
          </a:xfrm>
          <a:prstGeom prst="rect">
            <a:avLst/>
          </a:prstGeom>
          <a:noFill/>
        </p:spPr>
        <p:txBody>
          <a:bodyPr wrap="square" anchor="t" lIns="0" rIns="0" tIns="0" bIns="0">
            <a:spAutoFit/>
          </a:bodyPr>
          <a:lstStyle/>
          <a:p>
            <a:pPr algn="l">
              <a:lnSpc>
                <a:spcPct val="125000"/>
              </a:lnSpc>
            </a:pPr>
            <a:r>
              <a:rPr sz="1400" b="0" i="0">
                <a:solidFill>
                  <a:srgbClr val="CFDAE6"/>
                </a:solidFill>
                <a:latin typeface="Calibri"/>
              </a:rPr>
              <a:t>Which tools to adopt, how they fit together, and the plan to get there.</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C0392B"/>
                </a:solidFill>
                <a:latin typeface="Calibri"/>
              </a:rPr>
              <a:t>TWO HALVES, ONE LOOP</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Guardrail Development vs. Vulnerability Testing - By Tool</a:t>
            </a:r>
          </a:p>
        </p:txBody>
      </p:sp>
      <p:sp>
        <p:nvSpPr>
          <p:cNvPr id="6" name="Rectangle 5"/>
          <p:cNvSpPr/>
          <p:nvPr/>
        </p:nvSpPr>
        <p:spPr>
          <a:xfrm>
            <a:off x="502920" y="1207008"/>
            <a:ext cx="2011680" cy="32004"/>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02920" y="1353312"/>
            <a:ext cx="3429000" cy="329184"/>
          </a:xfrm>
          <a:prstGeom prst="roundRect">
            <a:avLst>
              <a:gd name="adj" fmla="val 20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53312"/>
            <a:ext cx="3429000" cy="329184"/>
          </a:xfrm>
          <a:prstGeom prst="rect">
            <a:avLst/>
          </a:prstGeom>
          <a:noFill/>
        </p:spPr>
        <p:txBody>
          <a:bodyPr wrap="square" anchor="ctr" lIns="0" rIns="0" tIns="0" bIns="0">
            <a:spAutoFit/>
          </a:bodyPr>
          <a:lstStyle/>
          <a:p>
            <a:pPr algn="ctr">
              <a:lnSpc>
                <a:spcPct val="100000"/>
              </a:lnSpc>
            </a:pPr>
            <a:r>
              <a:rPr sz="1100" b="1" i="0">
                <a:solidFill>
                  <a:srgbClr val="FFFFFF"/>
                </a:solidFill>
                <a:latin typeface="Calibri"/>
              </a:rPr>
              <a:t>DEVELOPMENT  (12)</a:t>
            </a:r>
          </a:p>
        </p:txBody>
      </p:sp>
      <p:sp>
        <p:nvSpPr>
          <p:cNvPr id="9" name="TextBox 8"/>
          <p:cNvSpPr txBox="1"/>
          <p:nvPr/>
        </p:nvSpPr>
        <p:spPr>
          <a:xfrm>
            <a:off x="502920" y="1792224"/>
            <a:ext cx="3429000" cy="1965960"/>
          </a:xfrm>
          <a:prstGeom prst="rect">
            <a:avLst/>
          </a:prstGeom>
          <a:noFill/>
        </p:spPr>
        <p:txBody>
          <a:bodyPr wrap="square" lIns="0" rIns="0" tIns="0" bIns="0">
            <a:spAutoFit/>
          </a:bodyPr>
          <a:lstStyle/>
          <a:p>
            <a:pPr>
              <a:lnSpc>
                <a:spcPct val="95000"/>
              </a:lnSpc>
              <a:spcAft>
                <a:spcPts val="400"/>
              </a:spcAft>
            </a:pPr>
            <a:r>
              <a:rPr sz="980" b="1">
                <a:solidFill>
                  <a:srgbClr val="1B9AAA"/>
                </a:solidFill>
                <a:latin typeface="Calibri"/>
              </a:rPr>
              <a:t>▪  </a:t>
            </a:r>
            <a:r>
              <a:rPr sz="980">
                <a:solidFill>
                  <a:srgbClr val="1A1A2E"/>
                </a:solidFill>
                <a:latin typeface="Calibri"/>
              </a:rPr>
              <a:t>LLM Guard</a:t>
            </a:r>
          </a:p>
          <a:p>
            <a:pPr>
              <a:lnSpc>
                <a:spcPct val="95000"/>
              </a:lnSpc>
              <a:spcAft>
                <a:spcPts val="400"/>
              </a:spcAft>
            </a:pPr>
            <a:r>
              <a:rPr sz="980" b="1">
                <a:solidFill>
                  <a:srgbClr val="1B9AAA"/>
                </a:solidFill>
                <a:latin typeface="Calibri"/>
              </a:rPr>
              <a:t>▪  </a:t>
            </a:r>
            <a:r>
              <a:rPr sz="980">
                <a:solidFill>
                  <a:srgbClr val="1A1A2E"/>
                </a:solidFill>
                <a:latin typeface="Calibri"/>
              </a:rPr>
              <a:t>NeMo Guardrails</a:t>
            </a:r>
          </a:p>
          <a:p>
            <a:pPr>
              <a:lnSpc>
                <a:spcPct val="95000"/>
              </a:lnSpc>
              <a:spcAft>
                <a:spcPts val="400"/>
              </a:spcAft>
            </a:pPr>
            <a:r>
              <a:rPr sz="980" b="1">
                <a:solidFill>
                  <a:srgbClr val="1B9AAA"/>
                </a:solidFill>
                <a:latin typeface="Calibri"/>
              </a:rPr>
              <a:t>▪  </a:t>
            </a:r>
            <a:r>
              <a:rPr sz="980">
                <a:solidFill>
                  <a:srgbClr val="1A1A2E"/>
                </a:solidFill>
                <a:latin typeface="Calibri"/>
              </a:rPr>
              <a:t>Guardrails AI</a:t>
            </a:r>
          </a:p>
          <a:p>
            <a:pPr>
              <a:lnSpc>
                <a:spcPct val="95000"/>
              </a:lnSpc>
              <a:spcAft>
                <a:spcPts val="400"/>
              </a:spcAft>
            </a:pPr>
            <a:r>
              <a:rPr sz="980" b="1">
                <a:solidFill>
                  <a:srgbClr val="1B9AAA"/>
                </a:solidFill>
                <a:latin typeface="Calibri"/>
              </a:rPr>
              <a:t>▪  </a:t>
            </a:r>
            <a:r>
              <a:rPr sz="980">
                <a:solidFill>
                  <a:srgbClr val="1A1A2E"/>
                </a:solidFill>
                <a:latin typeface="Calibri"/>
              </a:rPr>
              <a:t>hai-guardrails</a:t>
            </a:r>
          </a:p>
          <a:p>
            <a:pPr>
              <a:lnSpc>
                <a:spcPct val="95000"/>
              </a:lnSpc>
              <a:spcAft>
                <a:spcPts val="400"/>
              </a:spcAft>
            </a:pPr>
            <a:r>
              <a:rPr sz="980" b="1">
                <a:solidFill>
                  <a:srgbClr val="1B9AAA"/>
                </a:solidFill>
                <a:latin typeface="Calibri"/>
              </a:rPr>
              <a:t>▪  </a:t>
            </a:r>
            <a:r>
              <a:rPr sz="980">
                <a:solidFill>
                  <a:srgbClr val="1A1A2E"/>
                </a:solidFill>
                <a:latin typeface="Calibri"/>
              </a:rPr>
              <a:t>Safe Zone (TSZ)</a:t>
            </a:r>
          </a:p>
          <a:p>
            <a:pPr>
              <a:lnSpc>
                <a:spcPct val="95000"/>
              </a:lnSpc>
              <a:spcAft>
                <a:spcPts val="400"/>
              </a:spcAft>
            </a:pPr>
            <a:r>
              <a:rPr sz="980" b="1">
                <a:solidFill>
                  <a:srgbClr val="1B9AAA"/>
                </a:solidFill>
                <a:latin typeface="Calibri"/>
              </a:rPr>
              <a:t>▪  </a:t>
            </a:r>
            <a:r>
              <a:rPr sz="980">
                <a:solidFill>
                  <a:srgbClr val="1A1A2E"/>
                </a:solidFill>
                <a:latin typeface="Calibri"/>
              </a:rPr>
              <a:t>Rebuff</a:t>
            </a:r>
          </a:p>
          <a:p>
            <a:pPr>
              <a:lnSpc>
                <a:spcPct val="95000"/>
              </a:lnSpc>
              <a:spcAft>
                <a:spcPts val="400"/>
              </a:spcAft>
            </a:pPr>
            <a:r>
              <a:rPr sz="980" b="1">
                <a:solidFill>
                  <a:srgbClr val="1B9AAA"/>
                </a:solidFill>
                <a:latin typeface="Calibri"/>
              </a:rPr>
              <a:t>▪  </a:t>
            </a:r>
            <a:r>
              <a:rPr sz="980">
                <a:solidFill>
                  <a:srgbClr val="1A1A2E"/>
                </a:solidFill>
                <a:latin typeface="Calibri"/>
              </a:rPr>
              <a:t>Infosys RAI Toolkit</a:t>
            </a:r>
          </a:p>
          <a:p>
            <a:pPr>
              <a:lnSpc>
                <a:spcPct val="95000"/>
              </a:lnSpc>
              <a:spcAft>
                <a:spcPts val="400"/>
              </a:spcAft>
            </a:pPr>
            <a:r>
              <a:rPr sz="980" b="1">
                <a:solidFill>
                  <a:srgbClr val="1B9AAA"/>
                </a:solidFill>
                <a:latin typeface="Calibri"/>
              </a:rPr>
              <a:t>▪  </a:t>
            </a:r>
            <a:r>
              <a:rPr sz="980">
                <a:solidFill>
                  <a:srgbClr val="1A1A2E"/>
                </a:solidFill>
                <a:latin typeface="Calibri"/>
              </a:rPr>
              <a:t>Fairlearn</a:t>
            </a:r>
          </a:p>
          <a:p>
            <a:pPr>
              <a:lnSpc>
                <a:spcPct val="95000"/>
              </a:lnSpc>
              <a:spcAft>
                <a:spcPts val="400"/>
              </a:spcAft>
            </a:pPr>
            <a:r>
              <a:rPr sz="980" b="1">
                <a:solidFill>
                  <a:srgbClr val="1B9AAA"/>
                </a:solidFill>
                <a:latin typeface="Calibri"/>
              </a:rPr>
              <a:t>▪  </a:t>
            </a:r>
            <a:r>
              <a:rPr sz="980">
                <a:solidFill>
                  <a:srgbClr val="1A1A2E"/>
                </a:solidFill>
                <a:latin typeface="Calibri"/>
              </a:rPr>
              <a:t>AIF360</a:t>
            </a:r>
          </a:p>
          <a:p>
            <a:pPr>
              <a:lnSpc>
                <a:spcPct val="95000"/>
              </a:lnSpc>
              <a:spcAft>
                <a:spcPts val="400"/>
              </a:spcAft>
            </a:pPr>
            <a:r>
              <a:rPr sz="980" b="1">
                <a:solidFill>
                  <a:srgbClr val="1B9AAA"/>
                </a:solidFill>
                <a:latin typeface="Calibri"/>
              </a:rPr>
              <a:t>▪  </a:t>
            </a:r>
            <a:r>
              <a:rPr sz="980">
                <a:solidFill>
                  <a:srgbClr val="1A1A2E"/>
                </a:solidFill>
                <a:latin typeface="Calibri"/>
              </a:rPr>
              <a:t>SHAP</a:t>
            </a:r>
          </a:p>
          <a:p>
            <a:pPr>
              <a:lnSpc>
                <a:spcPct val="95000"/>
              </a:lnSpc>
              <a:spcAft>
                <a:spcPts val="400"/>
              </a:spcAft>
            </a:pPr>
            <a:r>
              <a:rPr sz="980" b="1">
                <a:solidFill>
                  <a:srgbClr val="1B9AAA"/>
                </a:solidFill>
                <a:latin typeface="Calibri"/>
              </a:rPr>
              <a:t>▪  </a:t>
            </a:r>
            <a:r>
              <a:rPr sz="980">
                <a:solidFill>
                  <a:srgbClr val="1A1A2E"/>
                </a:solidFill>
                <a:latin typeface="Calibri"/>
              </a:rPr>
              <a:t>Deepchecks</a:t>
            </a:r>
          </a:p>
          <a:p>
            <a:pPr>
              <a:lnSpc>
                <a:spcPct val="95000"/>
              </a:lnSpc>
              <a:spcAft>
                <a:spcPts val="400"/>
              </a:spcAft>
            </a:pPr>
            <a:r>
              <a:rPr sz="980" b="1">
                <a:solidFill>
                  <a:srgbClr val="1B9AAA"/>
                </a:solidFill>
                <a:latin typeface="Calibri"/>
              </a:rPr>
              <a:t>▪  </a:t>
            </a:r>
            <a:r>
              <a:rPr sz="980">
                <a:solidFill>
                  <a:srgbClr val="1A1A2E"/>
                </a:solidFill>
                <a:latin typeface="Calibri"/>
              </a:rPr>
              <a:t>DeepEval</a:t>
            </a:r>
          </a:p>
        </p:txBody>
      </p:sp>
      <p:sp>
        <p:nvSpPr>
          <p:cNvPr id="10" name="Rounded Rectangle 9"/>
          <p:cNvSpPr/>
          <p:nvPr/>
        </p:nvSpPr>
        <p:spPr>
          <a:xfrm>
            <a:off x="4114800" y="1353312"/>
            <a:ext cx="3429000" cy="329184"/>
          </a:xfrm>
          <a:prstGeom prst="roundRect">
            <a:avLst>
              <a:gd name="adj" fmla="val 20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14800" y="1353312"/>
            <a:ext cx="3429000" cy="329184"/>
          </a:xfrm>
          <a:prstGeom prst="rect">
            <a:avLst/>
          </a:prstGeom>
          <a:noFill/>
        </p:spPr>
        <p:txBody>
          <a:bodyPr wrap="square" anchor="ctr" lIns="0" rIns="0" tIns="0" bIns="0">
            <a:spAutoFit/>
          </a:bodyPr>
          <a:lstStyle/>
          <a:p>
            <a:pPr algn="ctr">
              <a:lnSpc>
                <a:spcPct val="100000"/>
              </a:lnSpc>
            </a:pPr>
            <a:r>
              <a:rPr sz="1100" b="1" i="0">
                <a:solidFill>
                  <a:srgbClr val="FFFFFF"/>
                </a:solidFill>
                <a:latin typeface="Calibri"/>
              </a:rPr>
              <a:t>TESTING  (4)</a:t>
            </a:r>
          </a:p>
        </p:txBody>
      </p:sp>
      <p:sp>
        <p:nvSpPr>
          <p:cNvPr id="12" name="TextBox 11"/>
          <p:cNvSpPr txBox="1"/>
          <p:nvPr/>
        </p:nvSpPr>
        <p:spPr>
          <a:xfrm>
            <a:off x="4114800" y="1792224"/>
            <a:ext cx="3429000" cy="1965960"/>
          </a:xfrm>
          <a:prstGeom prst="rect">
            <a:avLst/>
          </a:prstGeom>
          <a:noFill/>
        </p:spPr>
        <p:txBody>
          <a:bodyPr wrap="square" lIns="0" rIns="0" tIns="0" bIns="0">
            <a:spAutoFit/>
          </a:bodyPr>
          <a:lstStyle/>
          <a:p>
            <a:pPr>
              <a:lnSpc>
                <a:spcPct val="95000"/>
              </a:lnSpc>
              <a:spcAft>
                <a:spcPts val="400"/>
              </a:spcAft>
            </a:pPr>
            <a:r>
              <a:rPr sz="980" b="1">
                <a:solidFill>
                  <a:srgbClr val="C0392B"/>
                </a:solidFill>
                <a:latin typeface="Calibri"/>
              </a:rPr>
              <a:t>▪  </a:t>
            </a:r>
            <a:r>
              <a:rPr sz="980">
                <a:solidFill>
                  <a:srgbClr val="1A1A2E"/>
                </a:solidFill>
                <a:latin typeface="Calibri"/>
              </a:rPr>
              <a:t>garak</a:t>
            </a:r>
          </a:p>
          <a:p>
            <a:pPr>
              <a:lnSpc>
                <a:spcPct val="95000"/>
              </a:lnSpc>
              <a:spcAft>
                <a:spcPts val="400"/>
              </a:spcAft>
            </a:pPr>
            <a:r>
              <a:rPr sz="980" b="1">
                <a:solidFill>
                  <a:srgbClr val="C0392B"/>
                </a:solidFill>
                <a:latin typeface="Calibri"/>
              </a:rPr>
              <a:t>▪  </a:t>
            </a:r>
            <a:r>
              <a:rPr sz="980">
                <a:solidFill>
                  <a:srgbClr val="1A1A2E"/>
                </a:solidFill>
                <a:latin typeface="Calibri"/>
              </a:rPr>
              <a:t>FuzzyAI</a:t>
            </a:r>
          </a:p>
          <a:p>
            <a:pPr>
              <a:lnSpc>
                <a:spcPct val="95000"/>
              </a:lnSpc>
              <a:spcAft>
                <a:spcPts val="400"/>
              </a:spcAft>
            </a:pPr>
            <a:r>
              <a:rPr sz="980" b="1">
                <a:solidFill>
                  <a:srgbClr val="C0392B"/>
                </a:solidFill>
                <a:latin typeface="Calibri"/>
              </a:rPr>
              <a:t>▪  </a:t>
            </a:r>
            <a:r>
              <a:rPr sz="980">
                <a:solidFill>
                  <a:srgbClr val="1A1A2E"/>
                </a:solidFill>
                <a:latin typeface="Calibri"/>
              </a:rPr>
              <a:t>JCB</a:t>
            </a:r>
          </a:p>
          <a:p>
            <a:pPr>
              <a:lnSpc>
                <a:spcPct val="95000"/>
              </a:lnSpc>
              <a:spcAft>
                <a:spcPts val="400"/>
              </a:spcAft>
            </a:pPr>
            <a:r>
              <a:rPr sz="980" b="1">
                <a:solidFill>
                  <a:srgbClr val="C0392B"/>
                </a:solidFill>
                <a:latin typeface="Calibri"/>
              </a:rPr>
              <a:t>▪  </a:t>
            </a:r>
            <a:r>
              <a:rPr sz="980">
                <a:solidFill>
                  <a:srgbClr val="1A1A2E"/>
                </a:solidFill>
                <a:latin typeface="Calibri"/>
              </a:rPr>
              <a:t>LLMFuzzer</a:t>
            </a:r>
          </a:p>
        </p:txBody>
      </p:sp>
      <p:sp>
        <p:nvSpPr>
          <p:cNvPr id="13" name="Rounded Rectangle 12"/>
          <p:cNvSpPr/>
          <p:nvPr/>
        </p:nvSpPr>
        <p:spPr>
          <a:xfrm>
            <a:off x="7726679" y="1353312"/>
            <a:ext cx="3429000" cy="329184"/>
          </a:xfrm>
          <a:prstGeom prst="roundRect">
            <a:avLst>
              <a:gd name="adj" fmla="val 20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26679" y="1353312"/>
            <a:ext cx="3429000" cy="329184"/>
          </a:xfrm>
          <a:prstGeom prst="rect">
            <a:avLst/>
          </a:prstGeom>
          <a:noFill/>
        </p:spPr>
        <p:txBody>
          <a:bodyPr wrap="square" anchor="ctr" lIns="0" rIns="0" tIns="0" bIns="0">
            <a:spAutoFit/>
          </a:bodyPr>
          <a:lstStyle/>
          <a:p>
            <a:pPr algn="ctr">
              <a:lnSpc>
                <a:spcPct val="100000"/>
              </a:lnSpc>
            </a:pPr>
            <a:r>
              <a:rPr sz="1100" b="1" i="0">
                <a:solidFill>
                  <a:srgbClr val="FFFFFF"/>
                </a:solidFill>
                <a:latin typeface="Calibri"/>
              </a:rPr>
              <a:t>BOTH  (7)</a:t>
            </a:r>
          </a:p>
        </p:txBody>
      </p:sp>
      <p:sp>
        <p:nvSpPr>
          <p:cNvPr id="15" name="TextBox 14"/>
          <p:cNvSpPr txBox="1"/>
          <p:nvPr/>
        </p:nvSpPr>
        <p:spPr>
          <a:xfrm>
            <a:off x="7726679" y="1792224"/>
            <a:ext cx="3429000" cy="1965960"/>
          </a:xfrm>
          <a:prstGeom prst="rect">
            <a:avLst/>
          </a:prstGeom>
          <a:noFill/>
        </p:spPr>
        <p:txBody>
          <a:bodyPr wrap="square" lIns="0" rIns="0" tIns="0" bIns="0">
            <a:spAutoFit/>
          </a:bodyPr>
          <a:lstStyle/>
          <a:p>
            <a:pPr>
              <a:lnSpc>
                <a:spcPct val="95000"/>
              </a:lnSpc>
              <a:spcAft>
                <a:spcPts val="400"/>
              </a:spcAft>
            </a:pPr>
            <a:r>
              <a:rPr sz="980" b="1">
                <a:solidFill>
                  <a:srgbClr val="10243E"/>
                </a:solidFill>
                <a:latin typeface="Calibri"/>
              </a:rPr>
              <a:t>▪  </a:t>
            </a:r>
            <a:r>
              <a:rPr sz="980">
                <a:solidFill>
                  <a:srgbClr val="1A1A2E"/>
                </a:solidFill>
                <a:latin typeface="Calibri"/>
              </a:rPr>
              <a:t>PyRIT</a:t>
            </a:r>
          </a:p>
          <a:p>
            <a:pPr>
              <a:lnSpc>
                <a:spcPct val="95000"/>
              </a:lnSpc>
              <a:spcAft>
                <a:spcPts val="400"/>
              </a:spcAft>
            </a:pPr>
            <a:r>
              <a:rPr sz="980" b="1">
                <a:solidFill>
                  <a:srgbClr val="10243E"/>
                </a:solidFill>
                <a:latin typeface="Calibri"/>
              </a:rPr>
              <a:t>▪  </a:t>
            </a:r>
            <a:r>
              <a:rPr sz="980">
                <a:solidFill>
                  <a:srgbClr val="1A1A2E"/>
                </a:solidFill>
                <a:latin typeface="Calibri"/>
              </a:rPr>
              <a:t>DeepTeam</a:t>
            </a:r>
          </a:p>
          <a:p>
            <a:pPr>
              <a:lnSpc>
                <a:spcPct val="95000"/>
              </a:lnSpc>
              <a:spcAft>
                <a:spcPts val="400"/>
              </a:spcAft>
            </a:pPr>
            <a:r>
              <a:rPr sz="980" b="1">
                <a:solidFill>
                  <a:srgbClr val="10243E"/>
                </a:solidFill>
                <a:latin typeface="Calibri"/>
              </a:rPr>
              <a:t>▪  </a:t>
            </a:r>
            <a:r>
              <a:rPr sz="980">
                <a:solidFill>
                  <a:srgbClr val="1A1A2E"/>
                </a:solidFill>
                <a:latin typeface="Calibri"/>
              </a:rPr>
              <a:t>Promptfoo</a:t>
            </a:r>
          </a:p>
          <a:p>
            <a:pPr>
              <a:lnSpc>
                <a:spcPct val="95000"/>
              </a:lnSpc>
              <a:spcAft>
                <a:spcPts val="400"/>
              </a:spcAft>
            </a:pPr>
            <a:r>
              <a:rPr sz="980" b="1">
                <a:solidFill>
                  <a:srgbClr val="10243E"/>
                </a:solidFill>
                <a:latin typeface="Calibri"/>
              </a:rPr>
              <a:t>▪  </a:t>
            </a:r>
            <a:r>
              <a:rPr sz="980">
                <a:solidFill>
                  <a:srgbClr val="1A1A2E"/>
                </a:solidFill>
                <a:latin typeface="Calibri"/>
              </a:rPr>
              <a:t>Giskard</a:t>
            </a:r>
          </a:p>
          <a:p>
            <a:pPr>
              <a:lnSpc>
                <a:spcPct val="95000"/>
              </a:lnSpc>
              <a:spcAft>
                <a:spcPts val="400"/>
              </a:spcAft>
            </a:pPr>
            <a:r>
              <a:rPr sz="980" b="1">
                <a:solidFill>
                  <a:srgbClr val="10243E"/>
                </a:solidFill>
                <a:latin typeface="Calibri"/>
              </a:rPr>
              <a:t>▪  </a:t>
            </a:r>
            <a:r>
              <a:rPr sz="980">
                <a:solidFill>
                  <a:srgbClr val="1A1A2E"/>
                </a:solidFill>
                <a:latin typeface="Calibri"/>
              </a:rPr>
              <a:t>Agentic Security</a:t>
            </a:r>
          </a:p>
          <a:p>
            <a:pPr>
              <a:lnSpc>
                <a:spcPct val="95000"/>
              </a:lnSpc>
              <a:spcAft>
                <a:spcPts val="400"/>
              </a:spcAft>
            </a:pPr>
            <a:r>
              <a:rPr sz="980" b="1">
                <a:solidFill>
                  <a:srgbClr val="10243E"/>
                </a:solidFill>
                <a:latin typeface="Calibri"/>
              </a:rPr>
              <a:t>▪  </a:t>
            </a:r>
            <a:r>
              <a:rPr sz="980">
                <a:solidFill>
                  <a:srgbClr val="1A1A2E"/>
                </a:solidFill>
                <a:latin typeface="Calibri"/>
              </a:rPr>
              <a:t>OpenAI Evals</a:t>
            </a:r>
          </a:p>
          <a:p>
            <a:pPr>
              <a:lnSpc>
                <a:spcPct val="95000"/>
              </a:lnSpc>
              <a:spcAft>
                <a:spcPts val="400"/>
              </a:spcAft>
            </a:pPr>
            <a:r>
              <a:rPr sz="980" b="1">
                <a:solidFill>
                  <a:srgbClr val="10243E"/>
                </a:solidFill>
                <a:latin typeface="Calibri"/>
              </a:rPr>
              <a:t>▪  </a:t>
            </a:r>
            <a:r>
              <a:rPr sz="980">
                <a:solidFill>
                  <a:srgbClr val="1A1A2E"/>
                </a:solidFill>
                <a:latin typeface="Calibri"/>
              </a:rPr>
              <a:t>OpenGuardrails (OGR)</a:t>
            </a:r>
          </a:p>
        </p:txBody>
      </p:sp>
      <p:sp>
        <p:nvSpPr>
          <p:cNvPr id="16" name="Rectangle 15"/>
          <p:cNvSpPr/>
          <p:nvPr/>
        </p:nvSpPr>
        <p:spPr>
          <a:xfrm>
            <a:off x="502920" y="3877056"/>
            <a:ext cx="11064240" cy="18288"/>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02920" y="4005072"/>
            <a:ext cx="11064240" cy="201168"/>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HOW THEY CONNECT</a:t>
            </a:r>
          </a:p>
        </p:txBody>
      </p:sp>
      <p:sp>
        <p:nvSpPr>
          <p:cNvPr id="18" name="TextBox 17"/>
          <p:cNvSpPr txBox="1"/>
          <p:nvPr/>
        </p:nvSpPr>
        <p:spPr>
          <a:xfrm>
            <a:off x="502920" y="4233672"/>
            <a:ext cx="11064240" cy="2240280"/>
          </a:xfrm>
          <a:prstGeom prst="rect">
            <a:avLst/>
          </a:prstGeom>
          <a:noFill/>
        </p:spPr>
        <p:txBody>
          <a:bodyPr wrap="square" anchor="t" lIns="0" rIns="0" tIns="0" bIns="0">
            <a:spAutoFit/>
          </a:bodyPr>
          <a:lstStyle/>
          <a:p>
            <a:pPr algn="l">
              <a:lnSpc>
                <a:spcPct val="108000"/>
              </a:lnSpc>
            </a:pPr>
            <a:r>
              <a:rPr sz="930" b="0" i="0">
                <a:solidFill>
                  <a:srgbClr val="1A1A2E"/>
                </a:solidFill>
                <a:latin typeface="Calibri"/>
              </a:rPr>
              <a:t>Treat the two halves as one closed loop with four concrete hand-offs, all of them automated. First, the attack corpus becomes the test suite. PyRIT, garak, DeepTeam and promptfoo each generate adversarial inputs and score whether the target complied. AFNI should export those generated prompts, together with the scored verdict, into a single versioned regression corpus in git, tagged by tenet and by OWASP LLM Top 10 category. That corpus is the asset, not the tool: it survives any future tool swap. Second, every finding becomes a named guardrail requirement. A jailbreak that got through is not just a report line, it is a ticket against a specific rail in NeMo Guardrails, a threshold change in LLM Guard, or a new blocklist entry, and it is closed only when the same input is replayed and blocked. Third, CI gates the deploy. The pipeline runs three tiers on every pull request touching prompts, rails, thresholds or model versions: a fast deterministic tier of a few minutes (DeepEval and promptfoo deterministic assertions, PyRIT regex output scorers, replay of the frozen corpus of previously-fixed attacks, which must be 100 percent blocked or the build fails); a medium tier on merge to main of roughly 30 to 60 minutes (a promptfoo redteam run over the OWASP-mapped plugin set plus a garak probe subset, gated on a maximum attack-success rate rather than zero findings, since zero is not achievable); and a slow nightly or pre-release tier (full PyRIT Crescendo, TAP and PAIR multi-turn attacks, DeepTeam agentic vulnerabilities, and Deepchecks drift and data-quality suites). Findings from the medium and slow tiers land as tickets; regressions in the fast tier block the merge outright. Fourth, and most often skipped: test the guardrails, not just the model. garak's shields up and shields down probes are pointed at AFNI's own gateway to confirm the rails actually fire, and PyRIT's scorer_evaluation tooling with Krippendorff's alpha is run against a human-labelled sample of production traffic each quarter so AFNI can state a measured precision and recall figure for each detector instead of a vendor claim. Every result from every tier is written in the OpenGuardrails Verdict schema, so a red-team finding, a CI failure and a live production block are all the same record shape and can be trended on one dashboard. The whole loop is what AFNI shows a client reviewer: here is the attack corpus, here is the gate, here is the measured detector accuracy, here is the trend.</a:t>
            </a:r>
          </a:p>
        </p:txBody>
      </p:sp>
      <p:sp>
        <p:nvSpPr>
          <p:cNvPr id="19" name="Rectangle 18"/>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21" name="TextBox 20"/>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Development vs Testing</a:t>
            </a:r>
          </a:p>
        </p:txBody>
      </p:sp>
      <p:sp>
        <p:nvSpPr>
          <p:cNvPr id="22" name="TextBox 21"/>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63</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0243E"/>
                </a:solidFill>
                <a:latin typeface="Calibri"/>
              </a:rPr>
              <a:t>FEASIBILITY CHECK</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Can We Integrate It? (1 of 2)</a:t>
            </a:r>
          </a:p>
        </p:txBody>
      </p:sp>
      <p:sp>
        <p:nvSpPr>
          <p:cNvPr id="6" name="Rectangle 5"/>
          <p:cNvSpPr/>
          <p:nvPr/>
        </p:nvSpPr>
        <p:spPr>
          <a:xfrm>
            <a:off x="502920" y="1207008"/>
            <a:ext cx="2011680" cy="32004"/>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02920" y="1417320"/>
          <a:ext cx="11155677" cy="4956048"/>
        </p:xfrm>
        <a:graphic>
          <a:graphicData uri="http://schemas.openxmlformats.org/drawingml/2006/table">
            <a:tbl>
              <a:tblPr firstRow="1" bandRow="1">
                <a:tableStyleId>{5C22544A-7EE6-4342-B048-85BDC9FD1C3A}</a:tableStyleId>
              </a:tblPr>
              <a:tblGrid>
                <a:gridCol w="2479039"/>
                <a:gridCol w="1239519"/>
                <a:gridCol w="2479039"/>
                <a:gridCol w="1363472"/>
                <a:gridCol w="1363472"/>
                <a:gridCol w="2231136"/>
              </a:tblGrid>
              <a:tr h="347472">
                <a:tc>
                  <a:txBody>
                    <a:bodyPr/>
                    <a:lstStyle/>
                    <a:p>
                      <a:r>
                        <a:rPr sz="1050" b="1">
                          <a:solidFill>
                            <a:srgbClr val="FFFFFF"/>
                          </a:solidFill>
                          <a:latin typeface="Calibri"/>
                        </a:rPr>
                        <a:t>Tool</a:t>
                      </a:r>
                    </a:p>
                  </a:txBody>
                  <a:tcPr marL="73152" marR="54864" marT="27432" marB="27432" anchor="ctr">
                    <a:solidFill>
                      <a:srgbClr val="10243E"/>
                    </a:solidFill>
                  </a:tcPr>
                </a:tc>
                <a:tc>
                  <a:txBody>
                    <a:bodyPr/>
                    <a:lstStyle/>
                    <a:p>
                      <a:r>
                        <a:rPr sz="1050" b="1">
                          <a:solidFill>
                            <a:srgbClr val="FFFFFF"/>
                          </a:solidFill>
                          <a:latin typeface="Calibri"/>
                        </a:rPr>
                        <a:t>Effort</a:t>
                      </a:r>
                    </a:p>
                  </a:txBody>
                  <a:tcPr marL="73152" marR="54864" marT="27432" marB="27432" anchor="ctr">
                    <a:solidFill>
                      <a:srgbClr val="10243E"/>
                    </a:solidFill>
                  </a:tcPr>
                </a:tc>
                <a:tc>
                  <a:txBody>
                    <a:bodyPr/>
                    <a:lstStyle/>
                    <a:p>
                      <a:r>
                        <a:rPr sz="1050" b="1">
                          <a:solidFill>
                            <a:srgbClr val="FFFFFF"/>
                          </a:solidFill>
                          <a:latin typeface="Calibri"/>
                        </a:rPr>
                        <a:t>Cost</a:t>
                      </a:r>
                    </a:p>
                  </a:txBody>
                  <a:tcPr marL="73152" marR="54864" marT="27432" marB="27432" anchor="ctr">
                    <a:solidFill>
                      <a:srgbClr val="10243E"/>
                    </a:solidFill>
                  </a:tcPr>
                </a:tc>
                <a:tc>
                  <a:txBody>
                    <a:bodyPr/>
                    <a:lstStyle/>
                    <a:p>
                      <a:r>
                        <a:rPr sz="1050" b="1">
                          <a:solidFill>
                            <a:srgbClr val="FFFFFF"/>
                          </a:solidFill>
                          <a:latin typeface="Calibri"/>
                        </a:rPr>
                        <a:t>Reliability</a:t>
                      </a:r>
                    </a:p>
                  </a:txBody>
                  <a:tcPr marL="73152" marR="54864" marT="27432" marB="27432" anchor="ctr">
                    <a:solidFill>
                      <a:srgbClr val="10243E"/>
                    </a:solidFill>
                  </a:tcPr>
                </a:tc>
                <a:tc>
                  <a:txBody>
                    <a:bodyPr/>
                    <a:lstStyle/>
                    <a:p>
                      <a:r>
                        <a:rPr sz="1050" b="1">
                          <a:solidFill>
                            <a:srgbClr val="FFFFFF"/>
                          </a:solidFill>
                          <a:latin typeface="Calibri"/>
                        </a:rPr>
                        <a:t>Maintenance</a:t>
                      </a:r>
                    </a:p>
                  </a:txBody>
                  <a:tcPr marL="73152" marR="54864" marT="27432" marB="27432" anchor="ctr">
                    <a:solidFill>
                      <a:srgbClr val="10243E"/>
                    </a:solidFill>
                  </a:tcPr>
                </a:tc>
                <a:tc>
                  <a:txBody>
                    <a:bodyPr/>
                    <a:lstStyle/>
                    <a:p>
                      <a:r>
                        <a:rPr sz="1050" b="1">
                          <a:solidFill>
                            <a:srgbClr val="FFFFFF"/>
                          </a:solidFill>
                          <a:latin typeface="Calibri"/>
                        </a:rPr>
                        <a:t>Verdict</a:t>
                      </a:r>
                    </a:p>
                  </a:txBody>
                  <a:tcPr marL="73152" marR="54864" marT="27432" marB="27432" anchor="ctr">
                    <a:solidFill>
                      <a:srgbClr val="10243E"/>
                    </a:solidFill>
                  </a:tcPr>
                </a:tc>
              </a:tr>
              <a:tr h="384048">
                <a:tc>
                  <a:txBody>
                    <a:bodyPr wrap="square"/>
                    <a:lstStyle/>
                    <a:p>
                      <a:r>
                        <a:rPr sz="1000">
                          <a:solidFill>
                            <a:srgbClr val="1A1A2E"/>
                          </a:solidFill>
                          <a:latin typeface="Calibri"/>
                        </a:rPr>
                        <a:t>LLM Guard</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Free / open-source</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High</a:t>
                      </a:r>
                    </a:p>
                  </a:txBody>
                  <a:tcPr marL="73152" marR="54864" marT="27432" marB="27432" anchor="ctr">
                    <a:solidFill>
                      <a:srgbClr val="FFFFFF"/>
                    </a:solidFill>
                  </a:tcPr>
                </a:tc>
                <a:tc>
                  <a:txBody>
                    <a:bodyPr wrap="square"/>
                    <a:lstStyle/>
                    <a:p>
                      <a:r>
                        <a:rPr sz="1000">
                          <a:solidFill>
                            <a:srgbClr val="1A1A2E"/>
                          </a:solidFill>
                          <a:latin typeface="Calibri"/>
                        </a:rPr>
                        <a:t>Adopt now</a:t>
                      </a:r>
                    </a:p>
                  </a:txBody>
                  <a:tcPr marL="73152" marR="54864" marT="27432" marB="27432" anchor="ctr">
                    <a:solidFill>
                      <a:srgbClr val="FFFFFF"/>
                    </a:solidFill>
                  </a:tcPr>
                </a:tc>
              </a:tr>
              <a:tr h="384048">
                <a:tc>
                  <a:txBody>
                    <a:bodyPr wrap="square"/>
                    <a:lstStyle/>
                    <a:p>
                      <a:r>
                        <a:rPr sz="1000">
                          <a:solidFill>
                            <a:srgbClr val="1A1A2E"/>
                          </a:solidFill>
                          <a:latin typeface="Calibri"/>
                        </a:rPr>
                        <a:t>NeMo Guardrails</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High</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Adopt now</a:t>
                      </a:r>
                    </a:p>
                  </a:txBody>
                  <a:tcPr marL="73152" marR="54864" marT="27432" marB="27432" anchor="ctr">
                    <a:solidFill>
                      <a:srgbClr val="F0F4F8"/>
                    </a:solidFill>
                  </a:tcPr>
                </a:tc>
              </a:tr>
              <a:tr h="384048">
                <a:tc>
                  <a:txBody>
                    <a:bodyPr wrap="square"/>
                    <a:lstStyle/>
                    <a:p>
                      <a:r>
                        <a:rPr sz="1000">
                          <a:solidFill>
                            <a:srgbClr val="1A1A2E"/>
                          </a:solidFill>
                          <a:latin typeface="Calibri"/>
                        </a:rPr>
                        <a:t>PyRIT</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Mixed</a:t>
                      </a:r>
                    </a:p>
                  </a:txBody>
                  <a:tcPr marL="73152" marR="54864" marT="27432" marB="27432" anchor="ctr">
                    <a:solidFill>
                      <a:srgbClr val="FFFFFF"/>
                    </a:solidFill>
                  </a:tcPr>
                </a:tc>
                <a:tc>
                  <a:txBody>
                    <a:bodyPr wrap="square"/>
                    <a:lstStyle/>
                    <a:p>
                      <a:r>
                        <a:rPr sz="1000">
                          <a:solidFill>
                            <a:srgbClr val="1A1A2E"/>
                          </a:solidFill>
                          <a:latin typeface="Calibri"/>
                        </a:rPr>
                        <a:t>High</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Adopt now</a:t>
                      </a:r>
                    </a:p>
                  </a:txBody>
                  <a:tcPr marL="73152" marR="54864" marT="27432" marB="27432" anchor="ctr">
                    <a:solidFill>
                      <a:srgbClr val="FFFFFF"/>
                    </a:solidFill>
                  </a:tcPr>
                </a:tc>
              </a:tr>
              <a:tr h="384048">
                <a:tc>
                  <a:txBody>
                    <a:bodyPr wrap="square"/>
                    <a:lstStyle/>
                    <a:p>
                      <a:r>
                        <a:rPr sz="1000">
                          <a:solidFill>
                            <a:srgbClr val="1A1A2E"/>
                          </a:solidFill>
                          <a:latin typeface="Calibri"/>
                        </a:rPr>
                        <a:t>garak</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Low</a:t>
                      </a:r>
                    </a:p>
                  </a:txBody>
                  <a:tcPr marL="73152" marR="54864" marT="27432" marB="27432" anchor="ctr">
                    <a:solidFill>
                      <a:srgbClr val="F0F4F8"/>
                    </a:solidFill>
                  </a:tcPr>
                </a:tc>
                <a:tc>
                  <a:txBody>
                    <a:bodyPr wrap="square"/>
                    <a:lstStyle/>
                    <a:p>
                      <a:r>
                        <a:rPr sz="1000">
                          <a:solidFill>
                            <a:srgbClr val="1A1A2E"/>
                          </a:solidFill>
                          <a:latin typeface="Calibri"/>
                        </a:rPr>
                        <a:t>Adopt now</a:t>
                      </a:r>
                    </a:p>
                  </a:txBody>
                  <a:tcPr marL="73152" marR="54864" marT="27432" marB="27432" anchor="ctr">
                    <a:solidFill>
                      <a:srgbClr val="F0F4F8"/>
                    </a:solidFill>
                  </a:tcPr>
                </a:tc>
              </a:tr>
              <a:tr h="384048">
                <a:tc>
                  <a:txBody>
                    <a:bodyPr wrap="square"/>
                    <a:lstStyle/>
                    <a:p>
                      <a:r>
                        <a:rPr sz="1000">
                          <a:solidFill>
                            <a:srgbClr val="1A1A2E"/>
                          </a:solidFill>
                          <a:latin typeface="Calibri"/>
                        </a:rPr>
                        <a:t>Promptfoo</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Mixed</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Adopt now</a:t>
                      </a:r>
                    </a:p>
                  </a:txBody>
                  <a:tcPr marL="73152" marR="54864" marT="27432" marB="27432" anchor="ctr">
                    <a:solidFill>
                      <a:srgbClr val="FFFFFF"/>
                    </a:solidFill>
                  </a:tcPr>
                </a:tc>
              </a:tr>
              <a:tr h="384048">
                <a:tc>
                  <a:txBody>
                    <a:bodyPr wrap="square"/>
                    <a:lstStyle/>
                    <a:p>
                      <a:r>
                        <a:rPr sz="1000">
                          <a:solidFill>
                            <a:srgbClr val="1A1A2E"/>
                          </a:solidFill>
                          <a:latin typeface="Calibri"/>
                        </a:rPr>
                        <a:t>DeepEval</a:t>
                      </a:r>
                    </a:p>
                  </a:txBody>
                  <a:tcPr marL="73152" marR="54864" marT="27432" marB="27432" anchor="ctr">
                    <a:solidFill>
                      <a:srgbClr val="F0F4F8"/>
                    </a:solidFill>
                  </a:tcPr>
                </a:tc>
                <a:tc>
                  <a:txBody>
                    <a:bodyPr wrap="square"/>
                    <a:lstStyle/>
                    <a:p>
                      <a:r>
                        <a:rPr sz="1000">
                          <a:solidFill>
                            <a:srgbClr val="1A1A2E"/>
                          </a:solidFill>
                          <a:latin typeface="Calibri"/>
                        </a:rPr>
                        <a:t>Low</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Low</a:t>
                      </a:r>
                    </a:p>
                  </a:txBody>
                  <a:tcPr marL="73152" marR="54864" marT="27432" marB="27432" anchor="ctr">
                    <a:solidFill>
                      <a:srgbClr val="F0F4F8"/>
                    </a:solidFill>
                  </a:tcPr>
                </a:tc>
                <a:tc>
                  <a:txBody>
                    <a:bodyPr wrap="square"/>
                    <a:lstStyle/>
                    <a:p>
                      <a:r>
                        <a:rPr sz="1000">
                          <a:solidFill>
                            <a:srgbClr val="1A1A2E"/>
                          </a:solidFill>
                          <a:latin typeface="Calibri"/>
                        </a:rPr>
                        <a:t>Adopt now</a:t>
                      </a:r>
                    </a:p>
                  </a:txBody>
                  <a:tcPr marL="73152" marR="54864" marT="27432" marB="27432" anchor="ctr">
                    <a:solidFill>
                      <a:srgbClr val="F0F4F8"/>
                    </a:solidFill>
                  </a:tcPr>
                </a:tc>
              </a:tr>
              <a:tr h="384048">
                <a:tc>
                  <a:txBody>
                    <a:bodyPr wrap="square"/>
                    <a:lstStyle/>
                    <a:p>
                      <a:r>
                        <a:rPr sz="1000">
                          <a:solidFill>
                            <a:srgbClr val="1A1A2E"/>
                          </a:solidFill>
                          <a:latin typeface="Calibri"/>
                        </a:rPr>
                        <a:t>DeepTeam</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Requires paid API or hosted model</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Adopt now</a:t>
                      </a:r>
                    </a:p>
                  </a:txBody>
                  <a:tcPr marL="73152" marR="54864" marT="27432" marB="27432" anchor="ctr">
                    <a:solidFill>
                      <a:srgbClr val="FFFFFF"/>
                    </a:solidFill>
                  </a:tcPr>
                </a:tc>
              </a:tr>
              <a:tr h="384048">
                <a:tc>
                  <a:txBody>
                    <a:bodyPr wrap="square"/>
                    <a:lstStyle/>
                    <a:p>
                      <a:r>
                        <a:rPr sz="1000">
                          <a:solidFill>
                            <a:srgbClr val="1A1A2E"/>
                          </a:solidFill>
                          <a:latin typeface="Calibri"/>
                        </a:rPr>
                        <a:t>Fairlearn</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Free / open-source</a:t>
                      </a:r>
                    </a:p>
                  </a:txBody>
                  <a:tcPr marL="73152" marR="54864" marT="27432" marB="27432" anchor="ctr">
                    <a:solidFill>
                      <a:srgbClr val="F0F4F8"/>
                    </a:solidFill>
                  </a:tcPr>
                </a:tc>
                <a:tc>
                  <a:txBody>
                    <a:bodyPr wrap="square"/>
                    <a:lstStyle/>
                    <a:p>
                      <a:r>
                        <a:rPr sz="1000">
                          <a:solidFill>
                            <a:srgbClr val="1A1A2E"/>
                          </a:solidFill>
                          <a:latin typeface="Calibri"/>
                        </a:rPr>
                        <a:t>High</a:t>
                      </a:r>
                    </a:p>
                  </a:txBody>
                  <a:tcPr marL="73152" marR="54864" marT="27432" marB="27432" anchor="ctr">
                    <a:solidFill>
                      <a:srgbClr val="F0F4F8"/>
                    </a:solidFill>
                  </a:tcPr>
                </a:tc>
                <a:tc>
                  <a:txBody>
                    <a:bodyPr wrap="square"/>
                    <a:lstStyle/>
                    <a:p>
                      <a:r>
                        <a:rPr sz="1000">
                          <a:solidFill>
                            <a:srgbClr val="1A1A2E"/>
                          </a:solidFill>
                          <a:latin typeface="Calibri"/>
                        </a:rPr>
                        <a:t>Low</a:t>
                      </a:r>
                    </a:p>
                  </a:txBody>
                  <a:tcPr marL="73152" marR="54864" marT="27432" marB="27432" anchor="ctr">
                    <a:solidFill>
                      <a:srgbClr val="F0F4F8"/>
                    </a:solidFill>
                  </a:tcPr>
                </a:tc>
                <a:tc>
                  <a:txBody>
                    <a:bodyPr wrap="square"/>
                    <a:lstStyle/>
                    <a:p>
                      <a:r>
                        <a:rPr sz="1000">
                          <a:solidFill>
                            <a:srgbClr val="1A1A2E"/>
                          </a:solidFill>
                          <a:latin typeface="Calibri"/>
                        </a:rPr>
                        <a:t>Adopt now</a:t>
                      </a:r>
                    </a:p>
                  </a:txBody>
                  <a:tcPr marL="73152" marR="54864" marT="27432" marB="27432" anchor="ctr">
                    <a:solidFill>
                      <a:srgbClr val="F0F4F8"/>
                    </a:solidFill>
                  </a:tcPr>
                </a:tc>
              </a:tr>
              <a:tr h="384048">
                <a:tc>
                  <a:txBody>
                    <a:bodyPr wrap="square"/>
                    <a:lstStyle/>
                    <a:p>
                      <a:r>
                        <a:rPr sz="1000">
                          <a:solidFill>
                            <a:srgbClr val="1A1A2E"/>
                          </a:solidFill>
                          <a:latin typeface="Calibri"/>
                        </a:rPr>
                        <a:t>SHAP</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Free / open-source</a:t>
                      </a:r>
                    </a:p>
                  </a:txBody>
                  <a:tcPr marL="73152" marR="54864" marT="27432" marB="27432" anchor="ctr">
                    <a:solidFill>
                      <a:srgbClr val="FFFFFF"/>
                    </a:solidFill>
                  </a:tcPr>
                </a:tc>
                <a:tc>
                  <a:txBody>
                    <a:bodyPr wrap="square"/>
                    <a:lstStyle/>
                    <a:p>
                      <a:r>
                        <a:rPr sz="1000">
                          <a:solidFill>
                            <a:srgbClr val="1A1A2E"/>
                          </a:solidFill>
                          <a:latin typeface="Calibri"/>
                        </a:rPr>
                        <a:t>High</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Adopt now</a:t>
                      </a:r>
                    </a:p>
                  </a:txBody>
                  <a:tcPr marL="73152" marR="54864" marT="27432" marB="27432" anchor="ctr">
                    <a:solidFill>
                      <a:srgbClr val="FFFFFF"/>
                    </a:solidFill>
                  </a:tcPr>
                </a:tc>
              </a:tr>
              <a:tr h="384048">
                <a:tc>
                  <a:txBody>
                    <a:bodyPr wrap="square"/>
                    <a:lstStyle/>
                    <a:p>
                      <a:r>
                        <a:rPr sz="1000">
                          <a:solidFill>
                            <a:srgbClr val="1A1A2E"/>
                          </a:solidFill>
                          <a:latin typeface="Calibri"/>
                        </a:rPr>
                        <a:t>OpenGuardrails (OGR)</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Low</a:t>
                      </a:r>
                    </a:p>
                  </a:txBody>
                  <a:tcPr marL="73152" marR="54864" marT="27432" marB="27432" anchor="ctr">
                    <a:solidFill>
                      <a:srgbClr val="F0F4F8"/>
                    </a:solidFill>
                  </a:tcPr>
                </a:tc>
                <a:tc>
                  <a:txBody>
                    <a:bodyPr wrap="square"/>
                    <a:lstStyle/>
                    <a:p>
                      <a:r>
                        <a:rPr sz="1000">
                          <a:solidFill>
                            <a:srgbClr val="1A1A2E"/>
                          </a:solidFill>
                          <a:latin typeface="Calibri"/>
                        </a:rPr>
                        <a:t>Adopt now</a:t>
                      </a:r>
                    </a:p>
                  </a:txBody>
                  <a:tcPr marL="73152" marR="54864" marT="27432" marB="27432" anchor="ctr">
                    <a:solidFill>
                      <a:srgbClr val="F0F4F8"/>
                    </a:solidFill>
                  </a:tcPr>
                </a:tc>
              </a:tr>
              <a:tr h="384048">
                <a:tc>
                  <a:txBody>
                    <a:bodyPr wrap="square"/>
                    <a:lstStyle/>
                    <a:p>
                      <a:r>
                        <a:rPr sz="1000">
                          <a:solidFill>
                            <a:srgbClr val="1A1A2E"/>
                          </a:solidFill>
                          <a:latin typeface="Calibri"/>
                        </a:rPr>
                        <a:t>AIF360</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Free / open-source</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Combine with fairlearn-main</a:t>
                      </a:r>
                    </a:p>
                  </a:txBody>
                  <a:tcPr marL="73152" marR="54864" marT="27432" marB="27432" anchor="ctr">
                    <a:solidFill>
                      <a:srgbClr val="FFFFFF"/>
                    </a:solidFill>
                  </a:tcPr>
                </a:tc>
              </a:tr>
              <a:tr h="384048">
                <a:tc>
                  <a:txBody>
                    <a:bodyPr wrap="square"/>
                    <a:lstStyle/>
                    <a:p>
                      <a:r>
                        <a:rPr sz="1000">
                          <a:solidFill>
                            <a:srgbClr val="1A1A2E"/>
                          </a:solidFill>
                          <a:latin typeface="Calibri"/>
                        </a:rPr>
                        <a:t>Infosys RAI Toolkit</a:t>
                      </a:r>
                    </a:p>
                  </a:txBody>
                  <a:tcPr marL="73152" marR="54864" marT="27432" marB="27432" anchor="ctr">
                    <a:solidFill>
                      <a:srgbClr val="F0F4F8"/>
                    </a:solidFill>
                  </a:tcPr>
                </a:tc>
                <a:tc>
                  <a:txBody>
                    <a:bodyPr wrap="square"/>
                    <a:lstStyle/>
                    <a:p>
                      <a:r>
                        <a:rPr sz="1000">
                          <a:solidFill>
                            <a:srgbClr val="1A1A2E"/>
                          </a:solidFill>
                          <a:latin typeface="Calibri"/>
                        </a:rPr>
                        <a:t>High</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High</a:t>
                      </a:r>
                    </a:p>
                  </a:txBody>
                  <a:tcPr marL="73152" marR="54864" marT="27432" marB="27432" anchor="ctr">
                    <a:solidFill>
                      <a:srgbClr val="F0F4F8"/>
                    </a:solidFill>
                  </a:tcPr>
                </a:tc>
                <a:tc>
                  <a:txBody>
                    <a:bodyPr wrap="square"/>
                    <a:lstStyle/>
                    <a:p>
                      <a:r>
                        <a:rPr sz="1000">
                          <a:solidFill>
                            <a:srgbClr val="1A1A2E"/>
                          </a:solidFill>
                          <a:latin typeface="Calibri"/>
                        </a:rPr>
                        <a:t>Combine with Guardrails-develop</a:t>
                      </a:r>
                    </a:p>
                  </a:txBody>
                  <a:tcPr marL="73152" marR="54864" marT="27432" marB="27432" anchor="ctr">
                    <a:solidFill>
                      <a:srgbClr val="F0F4F8"/>
                    </a:solidFill>
                  </a:tcPr>
                </a:tc>
              </a:tr>
            </a:tbl>
          </a:graphicData>
        </a:graphic>
      </p:graphicFrame>
      <p:sp>
        <p:nvSpPr>
          <p:cNvPr id="8" name="Rectangle 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0" name="TextBox 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Feasibility Check</a:t>
            </a:r>
          </a:p>
        </p:txBody>
      </p:sp>
      <p:sp>
        <p:nvSpPr>
          <p:cNvPr id="11" name="TextBox 1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0243E"/>
                </a:solidFill>
                <a:latin typeface="Calibri"/>
              </a:rPr>
              <a:t>FEASIBILITY CHECK</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Can We Integrate It? (2 of 2)</a:t>
            </a:r>
          </a:p>
        </p:txBody>
      </p:sp>
      <p:sp>
        <p:nvSpPr>
          <p:cNvPr id="6" name="Rectangle 5"/>
          <p:cNvSpPr/>
          <p:nvPr/>
        </p:nvSpPr>
        <p:spPr>
          <a:xfrm>
            <a:off x="502920" y="1207008"/>
            <a:ext cx="2011680" cy="32004"/>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02920" y="1417320"/>
          <a:ext cx="11155677" cy="4572000"/>
        </p:xfrm>
        <a:graphic>
          <a:graphicData uri="http://schemas.openxmlformats.org/drawingml/2006/table">
            <a:tbl>
              <a:tblPr firstRow="1" bandRow="1">
                <a:tableStyleId>{5C22544A-7EE6-4342-B048-85BDC9FD1C3A}</a:tableStyleId>
              </a:tblPr>
              <a:tblGrid>
                <a:gridCol w="2479039"/>
                <a:gridCol w="1239519"/>
                <a:gridCol w="2479039"/>
                <a:gridCol w="1363472"/>
                <a:gridCol w="1363472"/>
                <a:gridCol w="2231136"/>
              </a:tblGrid>
              <a:tr h="347472">
                <a:tc>
                  <a:txBody>
                    <a:bodyPr/>
                    <a:lstStyle/>
                    <a:p>
                      <a:r>
                        <a:rPr sz="1050" b="1">
                          <a:solidFill>
                            <a:srgbClr val="FFFFFF"/>
                          </a:solidFill>
                          <a:latin typeface="Calibri"/>
                        </a:rPr>
                        <a:t>Tool</a:t>
                      </a:r>
                    </a:p>
                  </a:txBody>
                  <a:tcPr marL="73152" marR="54864" marT="27432" marB="27432" anchor="ctr">
                    <a:solidFill>
                      <a:srgbClr val="10243E"/>
                    </a:solidFill>
                  </a:tcPr>
                </a:tc>
                <a:tc>
                  <a:txBody>
                    <a:bodyPr/>
                    <a:lstStyle/>
                    <a:p>
                      <a:r>
                        <a:rPr sz="1050" b="1">
                          <a:solidFill>
                            <a:srgbClr val="FFFFFF"/>
                          </a:solidFill>
                          <a:latin typeface="Calibri"/>
                        </a:rPr>
                        <a:t>Effort</a:t>
                      </a:r>
                    </a:p>
                  </a:txBody>
                  <a:tcPr marL="73152" marR="54864" marT="27432" marB="27432" anchor="ctr">
                    <a:solidFill>
                      <a:srgbClr val="10243E"/>
                    </a:solidFill>
                  </a:tcPr>
                </a:tc>
                <a:tc>
                  <a:txBody>
                    <a:bodyPr/>
                    <a:lstStyle/>
                    <a:p>
                      <a:r>
                        <a:rPr sz="1050" b="1">
                          <a:solidFill>
                            <a:srgbClr val="FFFFFF"/>
                          </a:solidFill>
                          <a:latin typeface="Calibri"/>
                        </a:rPr>
                        <a:t>Cost</a:t>
                      </a:r>
                    </a:p>
                  </a:txBody>
                  <a:tcPr marL="73152" marR="54864" marT="27432" marB="27432" anchor="ctr">
                    <a:solidFill>
                      <a:srgbClr val="10243E"/>
                    </a:solidFill>
                  </a:tcPr>
                </a:tc>
                <a:tc>
                  <a:txBody>
                    <a:bodyPr/>
                    <a:lstStyle/>
                    <a:p>
                      <a:r>
                        <a:rPr sz="1050" b="1">
                          <a:solidFill>
                            <a:srgbClr val="FFFFFF"/>
                          </a:solidFill>
                          <a:latin typeface="Calibri"/>
                        </a:rPr>
                        <a:t>Reliability</a:t>
                      </a:r>
                    </a:p>
                  </a:txBody>
                  <a:tcPr marL="73152" marR="54864" marT="27432" marB="27432" anchor="ctr">
                    <a:solidFill>
                      <a:srgbClr val="10243E"/>
                    </a:solidFill>
                  </a:tcPr>
                </a:tc>
                <a:tc>
                  <a:txBody>
                    <a:bodyPr/>
                    <a:lstStyle/>
                    <a:p>
                      <a:r>
                        <a:rPr sz="1050" b="1">
                          <a:solidFill>
                            <a:srgbClr val="FFFFFF"/>
                          </a:solidFill>
                          <a:latin typeface="Calibri"/>
                        </a:rPr>
                        <a:t>Maintenance</a:t>
                      </a:r>
                    </a:p>
                  </a:txBody>
                  <a:tcPr marL="73152" marR="54864" marT="27432" marB="27432" anchor="ctr">
                    <a:solidFill>
                      <a:srgbClr val="10243E"/>
                    </a:solidFill>
                  </a:tcPr>
                </a:tc>
                <a:tc>
                  <a:txBody>
                    <a:bodyPr/>
                    <a:lstStyle/>
                    <a:p>
                      <a:r>
                        <a:rPr sz="1050" b="1">
                          <a:solidFill>
                            <a:srgbClr val="FFFFFF"/>
                          </a:solidFill>
                          <a:latin typeface="Calibri"/>
                        </a:rPr>
                        <a:t>Verdict</a:t>
                      </a:r>
                    </a:p>
                  </a:txBody>
                  <a:tcPr marL="73152" marR="54864" marT="27432" marB="27432" anchor="ctr">
                    <a:solidFill>
                      <a:srgbClr val="10243E"/>
                    </a:solidFill>
                  </a:tcPr>
                </a:tc>
              </a:tr>
              <a:tr h="384048">
                <a:tc>
                  <a:txBody>
                    <a:bodyPr wrap="square"/>
                    <a:lstStyle/>
                    <a:p>
                      <a:r>
                        <a:rPr sz="1000">
                          <a:solidFill>
                            <a:srgbClr val="1A1A2E"/>
                          </a:solidFill>
                          <a:latin typeface="Calibri"/>
                        </a:rPr>
                        <a:t>hai-guardrails</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Mixed</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Combine with llm-guard-main</a:t>
                      </a:r>
                    </a:p>
                  </a:txBody>
                  <a:tcPr marL="73152" marR="54864" marT="27432" marB="27432" anchor="ctr">
                    <a:solidFill>
                      <a:srgbClr val="FFFFFF"/>
                    </a:solidFill>
                  </a:tcPr>
                </a:tc>
              </a:tr>
              <a:tr h="384048">
                <a:tc>
                  <a:txBody>
                    <a:bodyPr wrap="square"/>
                    <a:lstStyle/>
                    <a:p>
                      <a:r>
                        <a:rPr sz="1000">
                          <a:solidFill>
                            <a:srgbClr val="1A1A2E"/>
                          </a:solidFill>
                          <a:latin typeface="Calibri"/>
                        </a:rPr>
                        <a:t>Rebuff</a:t>
                      </a:r>
                    </a:p>
                  </a:txBody>
                  <a:tcPr marL="73152" marR="54864" marT="27432" marB="27432" anchor="ctr">
                    <a:solidFill>
                      <a:srgbClr val="F0F4F8"/>
                    </a:solidFill>
                  </a:tcPr>
                </a:tc>
                <a:tc>
                  <a:txBody>
                    <a:bodyPr wrap="square"/>
                    <a:lstStyle/>
                    <a:p>
                      <a:r>
                        <a:rPr sz="1000">
                          <a:solidFill>
                            <a:srgbClr val="1A1A2E"/>
                          </a:solidFill>
                          <a:latin typeface="Calibri"/>
                        </a:rPr>
                        <a:t>Low</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Low</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Combine with Guardrails-develop</a:t>
                      </a:r>
                    </a:p>
                  </a:txBody>
                  <a:tcPr marL="73152" marR="54864" marT="27432" marB="27432" anchor="ctr">
                    <a:solidFill>
                      <a:srgbClr val="F0F4F8"/>
                    </a:solidFill>
                  </a:tcPr>
                </a:tc>
              </a:tr>
              <a:tr h="384048">
                <a:tc>
                  <a:txBody>
                    <a:bodyPr wrap="square"/>
                    <a:lstStyle/>
                    <a:p>
                      <a:r>
                        <a:rPr sz="1000">
                          <a:solidFill>
                            <a:srgbClr val="1A1A2E"/>
                          </a:solidFill>
                          <a:latin typeface="Calibri"/>
                        </a:rPr>
                        <a:t>Safe Zone (TSZ)</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Mixed</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Bench for later</a:t>
                      </a:r>
                    </a:p>
                  </a:txBody>
                  <a:tcPr marL="73152" marR="54864" marT="27432" marB="27432" anchor="ctr">
                    <a:solidFill>
                      <a:srgbClr val="FFFFFF"/>
                    </a:solidFill>
                  </a:tcPr>
                </a:tc>
              </a:tr>
              <a:tr h="384048">
                <a:tc>
                  <a:txBody>
                    <a:bodyPr wrap="square"/>
                    <a:lstStyle/>
                    <a:p>
                      <a:r>
                        <a:rPr sz="1000">
                          <a:solidFill>
                            <a:srgbClr val="1A1A2E"/>
                          </a:solidFill>
                          <a:latin typeface="Calibri"/>
                        </a:rPr>
                        <a:t>Deepchecks</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Free / open-source</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Bench for later</a:t>
                      </a:r>
                    </a:p>
                  </a:txBody>
                  <a:tcPr marL="73152" marR="54864" marT="27432" marB="27432" anchor="ctr">
                    <a:solidFill>
                      <a:srgbClr val="F0F4F8"/>
                    </a:solidFill>
                  </a:tcPr>
                </a:tc>
              </a:tr>
              <a:tr h="384048">
                <a:tc>
                  <a:txBody>
                    <a:bodyPr wrap="square"/>
                    <a:lstStyle/>
                    <a:p>
                      <a:r>
                        <a:rPr sz="1000">
                          <a:solidFill>
                            <a:srgbClr val="1A1A2E"/>
                          </a:solidFill>
                          <a:latin typeface="Calibri"/>
                        </a:rPr>
                        <a:t>Giskard</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Mixed</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Bench for later</a:t>
                      </a:r>
                    </a:p>
                  </a:txBody>
                  <a:tcPr marL="73152" marR="54864" marT="27432" marB="27432" anchor="ctr">
                    <a:solidFill>
                      <a:srgbClr val="FFFFFF"/>
                    </a:solidFill>
                  </a:tcPr>
                </a:tc>
              </a:tr>
              <a:tr h="384048">
                <a:tc>
                  <a:txBody>
                    <a:bodyPr wrap="square"/>
                    <a:lstStyle/>
                    <a:p>
                      <a:r>
                        <a:rPr sz="1000">
                          <a:solidFill>
                            <a:srgbClr val="1A1A2E"/>
                          </a:solidFill>
                          <a:latin typeface="Calibri"/>
                        </a:rPr>
                        <a:t>Agentic Security</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Bench for later</a:t>
                      </a:r>
                    </a:p>
                  </a:txBody>
                  <a:tcPr marL="73152" marR="54864" marT="27432" marB="27432" anchor="ctr">
                    <a:solidFill>
                      <a:srgbClr val="F0F4F8"/>
                    </a:solidFill>
                  </a:tcPr>
                </a:tc>
              </a:tr>
              <a:tr h="384048">
                <a:tc>
                  <a:txBody>
                    <a:bodyPr wrap="square"/>
                    <a:lstStyle/>
                    <a:p>
                      <a:r>
                        <a:rPr sz="1000">
                          <a:solidFill>
                            <a:srgbClr val="1A1A2E"/>
                          </a:solidFill>
                          <a:latin typeface="Calibri"/>
                        </a:rPr>
                        <a:t>FuzzyAI</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Mixed</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Bench for later</a:t>
                      </a:r>
                    </a:p>
                  </a:txBody>
                  <a:tcPr marL="73152" marR="54864" marT="27432" marB="27432" anchor="ctr">
                    <a:solidFill>
                      <a:srgbClr val="FFFFFF"/>
                    </a:solidFill>
                  </a:tcPr>
                </a:tc>
              </a:tr>
              <a:tr h="384048">
                <a:tc>
                  <a:txBody>
                    <a:bodyPr wrap="square"/>
                    <a:lstStyle/>
                    <a:p>
                      <a:r>
                        <a:rPr sz="1000">
                          <a:solidFill>
                            <a:srgbClr val="1A1A2E"/>
                          </a:solidFill>
                          <a:latin typeface="Calibri"/>
                        </a:rPr>
                        <a:t>OpenAI Evals</a:t>
                      </a:r>
                    </a:p>
                  </a:txBody>
                  <a:tcPr marL="73152" marR="54864" marT="27432" marB="27432" anchor="ctr">
                    <a:solidFill>
                      <a:srgbClr val="F0F4F8"/>
                    </a:solidFill>
                  </a:tcPr>
                </a:tc>
                <a:tc>
                  <a:txBody>
                    <a:bodyPr wrap="square"/>
                    <a:lstStyle/>
                    <a:p>
                      <a:r>
                        <a:rPr sz="1000">
                          <a:solidFill>
                            <a:srgbClr val="1A1A2E"/>
                          </a:solidFill>
                          <a:latin typeface="Calibri"/>
                        </a:rPr>
                        <a:t>High</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Medium</a:t>
                      </a:r>
                    </a:p>
                  </a:txBody>
                  <a:tcPr marL="73152" marR="54864" marT="27432" marB="27432" anchor="ctr">
                    <a:solidFill>
                      <a:srgbClr val="F0F4F8"/>
                    </a:solidFill>
                  </a:tcPr>
                </a:tc>
                <a:tc>
                  <a:txBody>
                    <a:bodyPr wrap="square"/>
                    <a:lstStyle/>
                    <a:p>
                      <a:r>
                        <a:rPr sz="1000">
                          <a:solidFill>
                            <a:srgbClr val="1A1A2E"/>
                          </a:solidFill>
                          <a:latin typeface="Calibri"/>
                        </a:rPr>
                        <a:t>Bench for later</a:t>
                      </a:r>
                    </a:p>
                  </a:txBody>
                  <a:tcPr marL="73152" marR="54864" marT="27432" marB="27432" anchor="ctr">
                    <a:solidFill>
                      <a:srgbClr val="F0F4F8"/>
                    </a:solidFill>
                  </a:tcPr>
                </a:tc>
              </a:tr>
              <a:tr h="384048">
                <a:tc>
                  <a:txBody>
                    <a:bodyPr wrap="square"/>
                    <a:lstStyle/>
                    <a:p>
                      <a:r>
                        <a:rPr sz="1000">
                          <a:solidFill>
                            <a:srgbClr val="1A1A2E"/>
                          </a:solidFill>
                          <a:latin typeface="Calibri"/>
                        </a:rPr>
                        <a:t>Guardrails AI</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Mixed</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Medium</a:t>
                      </a:r>
                    </a:p>
                  </a:txBody>
                  <a:tcPr marL="73152" marR="54864" marT="27432" marB="27432" anchor="ctr">
                    <a:solidFill>
                      <a:srgbClr val="FFFFFF"/>
                    </a:solidFill>
                  </a:tcPr>
                </a:tc>
                <a:tc>
                  <a:txBody>
                    <a:bodyPr wrap="square"/>
                    <a:lstStyle/>
                    <a:p>
                      <a:r>
                        <a:rPr sz="1000">
                          <a:solidFill>
                            <a:srgbClr val="1A1A2E"/>
                          </a:solidFill>
                          <a:latin typeface="Calibri"/>
                        </a:rPr>
                        <a:t>Skip</a:t>
                      </a:r>
                    </a:p>
                  </a:txBody>
                  <a:tcPr marL="73152" marR="54864" marT="27432" marB="27432" anchor="ctr">
                    <a:solidFill>
                      <a:srgbClr val="FFFFFF"/>
                    </a:solidFill>
                  </a:tcPr>
                </a:tc>
              </a:tr>
              <a:tr h="384048">
                <a:tc>
                  <a:txBody>
                    <a:bodyPr wrap="square"/>
                    <a:lstStyle/>
                    <a:p>
                      <a:r>
                        <a:rPr sz="1000">
                          <a:solidFill>
                            <a:srgbClr val="1A1A2E"/>
                          </a:solidFill>
                          <a:latin typeface="Calibri"/>
                        </a:rPr>
                        <a:t>JCB</a:t>
                      </a:r>
                    </a:p>
                  </a:txBody>
                  <a:tcPr marL="73152" marR="54864" marT="27432" marB="27432" anchor="ctr">
                    <a:solidFill>
                      <a:srgbClr val="F0F4F8"/>
                    </a:solidFill>
                  </a:tcPr>
                </a:tc>
                <a:tc>
                  <a:txBody>
                    <a:bodyPr wrap="square"/>
                    <a:lstStyle/>
                    <a:p>
                      <a:r>
                        <a:rPr sz="1000">
                          <a:solidFill>
                            <a:srgbClr val="1A1A2E"/>
                          </a:solidFill>
                          <a:latin typeface="Calibri"/>
                        </a:rPr>
                        <a:t>High</a:t>
                      </a:r>
                    </a:p>
                  </a:txBody>
                  <a:tcPr marL="73152" marR="54864" marT="27432" marB="27432" anchor="ctr">
                    <a:solidFill>
                      <a:srgbClr val="F0F4F8"/>
                    </a:solidFill>
                  </a:tcPr>
                </a:tc>
                <a:tc>
                  <a:txBody>
                    <a:bodyPr wrap="square"/>
                    <a:lstStyle/>
                    <a:p>
                      <a:r>
                        <a:rPr sz="1000">
                          <a:solidFill>
                            <a:srgbClr val="1A1A2E"/>
                          </a:solidFill>
                          <a:latin typeface="Calibri"/>
                        </a:rPr>
                        <a:t>Mixed</a:t>
                      </a:r>
                    </a:p>
                  </a:txBody>
                  <a:tcPr marL="73152" marR="54864" marT="27432" marB="27432" anchor="ctr">
                    <a:solidFill>
                      <a:srgbClr val="F0F4F8"/>
                    </a:solidFill>
                  </a:tcPr>
                </a:tc>
                <a:tc>
                  <a:txBody>
                    <a:bodyPr wrap="square"/>
                    <a:lstStyle/>
                    <a:p>
                      <a:r>
                        <a:rPr sz="1000">
                          <a:solidFill>
                            <a:srgbClr val="1A1A2E"/>
                          </a:solidFill>
                          <a:latin typeface="Calibri"/>
                        </a:rPr>
                        <a:t>Low</a:t>
                      </a:r>
                    </a:p>
                  </a:txBody>
                  <a:tcPr marL="73152" marR="54864" marT="27432" marB="27432" anchor="ctr">
                    <a:solidFill>
                      <a:srgbClr val="F0F4F8"/>
                    </a:solidFill>
                  </a:tcPr>
                </a:tc>
                <a:tc>
                  <a:txBody>
                    <a:bodyPr wrap="square"/>
                    <a:lstStyle/>
                    <a:p>
                      <a:r>
                        <a:rPr sz="1000">
                          <a:solidFill>
                            <a:srgbClr val="1A1A2E"/>
                          </a:solidFill>
                          <a:latin typeface="Calibri"/>
                        </a:rPr>
                        <a:t>High</a:t>
                      </a:r>
                    </a:p>
                  </a:txBody>
                  <a:tcPr marL="73152" marR="54864" marT="27432" marB="27432" anchor="ctr">
                    <a:solidFill>
                      <a:srgbClr val="F0F4F8"/>
                    </a:solidFill>
                  </a:tcPr>
                </a:tc>
                <a:tc>
                  <a:txBody>
                    <a:bodyPr wrap="square"/>
                    <a:lstStyle/>
                    <a:p>
                      <a:r>
                        <a:rPr sz="1000">
                          <a:solidFill>
                            <a:srgbClr val="1A1A2E"/>
                          </a:solidFill>
                          <a:latin typeface="Calibri"/>
                        </a:rPr>
                        <a:t>Skip</a:t>
                      </a:r>
                    </a:p>
                  </a:txBody>
                  <a:tcPr marL="73152" marR="54864" marT="27432" marB="27432" anchor="ctr">
                    <a:solidFill>
                      <a:srgbClr val="F0F4F8"/>
                    </a:solidFill>
                  </a:tcPr>
                </a:tc>
              </a:tr>
              <a:tr h="384048">
                <a:tc>
                  <a:txBody>
                    <a:bodyPr wrap="square"/>
                    <a:lstStyle/>
                    <a:p>
                      <a:r>
                        <a:rPr sz="1000">
                          <a:solidFill>
                            <a:srgbClr val="1A1A2E"/>
                          </a:solidFill>
                          <a:latin typeface="Calibri"/>
                        </a:rPr>
                        <a:t>LLMFuzzer</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Free / open-source</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Low</a:t>
                      </a:r>
                    </a:p>
                  </a:txBody>
                  <a:tcPr marL="73152" marR="54864" marT="27432" marB="27432" anchor="ctr">
                    <a:solidFill>
                      <a:srgbClr val="FFFFFF"/>
                    </a:solidFill>
                  </a:tcPr>
                </a:tc>
                <a:tc>
                  <a:txBody>
                    <a:bodyPr wrap="square"/>
                    <a:lstStyle/>
                    <a:p>
                      <a:r>
                        <a:rPr sz="1000">
                          <a:solidFill>
                            <a:srgbClr val="1A1A2E"/>
                          </a:solidFill>
                          <a:latin typeface="Calibri"/>
                        </a:rPr>
                        <a:t>Skip</a:t>
                      </a:r>
                    </a:p>
                  </a:txBody>
                  <a:tcPr marL="73152" marR="54864" marT="27432" marB="27432" anchor="ctr">
                    <a:solidFill>
                      <a:srgbClr val="FFFFFF"/>
                    </a:solidFill>
                  </a:tcPr>
                </a:tc>
              </a:tr>
            </a:tbl>
          </a:graphicData>
        </a:graphic>
      </p:graphicFrame>
      <p:sp>
        <p:nvSpPr>
          <p:cNvPr id="8" name="Rectangle 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0" name="TextBox 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Feasibility Check</a:t>
            </a:r>
          </a:p>
        </p:txBody>
      </p:sp>
      <p:sp>
        <p:nvSpPr>
          <p:cNvPr id="11" name="TextBox 1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65</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THE UNIFIED DESIGN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One Gateway, One Contract, Two Loops</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71600"/>
            <a:ext cx="11155680" cy="3931920"/>
          </a:xfrm>
          <a:prstGeom prst="rect">
            <a:avLst/>
          </a:prstGeom>
          <a:noFill/>
        </p:spPr>
        <p:txBody>
          <a:bodyPr wrap="square" anchor="t" lIns="0" rIns="0" tIns="0" bIns="0">
            <a:spAutoFit/>
          </a:bodyPr>
          <a:lstStyle/>
          <a:p>
            <a:pPr algn="l">
              <a:lnSpc>
                <a:spcPct val="122000"/>
              </a:lnSpc>
            </a:pPr>
            <a:r>
              <a:rPr sz="1230" b="0" i="0">
                <a:solidFill>
                  <a:srgbClr val="1A1A2E"/>
                </a:solidFill>
                <a:latin typeface="Calibri"/>
              </a:rPr>
              <a:t>AFNI should build one shared gateway rather than asking every project to wire up its own checks. Every AI-native application calls an internal Responsible AI gateway, a Python FastAPI service running NVIDIA NeMo Guardrails as the rail engine, and that gateway speaks a single fixed contract borrowed from the OpenGuardrails specification: an event goes in, a verdict comes back with findings, severity, scores and redaction spans. On the way in, the gateway runs the cheap deterministic checks first (invisible-text and unicode smuggling, secret patterns with an entropy floor, YARA injection rules, context-bloat heuristics, Presidio and NER-based PII detection with reversible vault redaction) and only escalates to a paid model call for input that scores near a threshold. The model call then happens, and on the way out a second set of rails runs (toxicity classification, NLI-based groundedness against the retrieved sources, PII re-check, OWASP insecure-output regex scorers, tool-call schema validation) before anything reaches the user, with streaming responses re-validated on each chunk so a bad answer can be cut off mid-flight. In parallel and completely offline, CI runs the red-team and evaluation layer on every change to prompts, rails, thresholds or model versions: a fast deterministic tier that must pass, a medium OWASP-mapped scan gated on a maximum attack-success rate, and a slow nightly tier of multi-turn attacks, agentic probes and drift checks. Every decision from every layer, live or offline, is written in the same verdict schema to a durable audit store with OpenTelemetry traces, so a red-team finding, a CI failure and a production block are the same record shape and can be trended, reported against OWASP and NIST, and handed to a client reviewer as evidence. Only two rules are non-negotiable: the gateway fails closed for client-facing traffic, and any check that could not run is reported as unjudged rather than silently passed.</a:t>
            </a:r>
          </a:p>
        </p:txBody>
      </p:sp>
      <p:sp>
        <p:nvSpPr>
          <p:cNvPr id="8" name="Rectangle 7"/>
          <p:cNvSpPr/>
          <p:nvPr/>
        </p:nvSpPr>
        <p:spPr>
          <a:xfrm>
            <a:off x="502920" y="5486400"/>
            <a:ext cx="11155680" cy="18288"/>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5623560"/>
            <a:ext cx="11155680" cy="228600"/>
          </a:xfrm>
          <a:prstGeom prst="rect">
            <a:avLst/>
          </a:prstGeom>
          <a:noFill/>
        </p:spPr>
        <p:txBody>
          <a:bodyPr wrap="square" anchor="t" lIns="0" rIns="0" tIns="0" bIns="0">
            <a:spAutoFit/>
          </a:bodyPr>
          <a:lstStyle/>
          <a:p>
            <a:pPr algn="l">
              <a:lnSpc>
                <a:spcPct val="100000"/>
              </a:lnSpc>
            </a:pPr>
            <a:r>
              <a:rPr sz="1050" b="1" i="0">
                <a:solidFill>
                  <a:srgbClr val="10243E"/>
                </a:solidFill>
                <a:latin typeface="Calibri"/>
              </a:rPr>
              <a:t>WHY INFOSYS TOOLKIT AS THE STARTING SHAPE</a:t>
            </a:r>
          </a:p>
        </p:txBody>
      </p:sp>
      <p:sp>
        <p:nvSpPr>
          <p:cNvPr id="10" name="TextBox 9"/>
          <p:cNvSpPr txBox="1"/>
          <p:nvPr/>
        </p:nvSpPr>
        <p:spPr>
          <a:xfrm>
            <a:off x="502920" y="5870448"/>
            <a:ext cx="11155680" cy="594360"/>
          </a:xfrm>
          <a:prstGeom prst="rect">
            <a:avLst/>
          </a:prstGeom>
          <a:noFill/>
        </p:spPr>
        <p:txBody>
          <a:bodyPr wrap="square" anchor="t" lIns="0" rIns="0" tIns="0" bIns="0">
            <a:spAutoFit/>
          </a:bodyPr>
          <a:lstStyle/>
          <a:p>
            <a:pPr algn="l">
              <a:lnSpc>
                <a:spcPct val="110000"/>
              </a:lnSpc>
            </a:pPr>
            <a:r>
              <a:rPr sz="1050" b="0" i="0">
                <a:solidFill>
                  <a:srgbClr val="5B6B7D"/>
                </a:solidFill>
                <a:latin typeface="Calibri"/>
              </a:rPr>
              <a:t>The Infosys toolkit's one-dispatcher, per-tenant threshold pattern is the right shape to copy - but NeMo Guardrails is the recommended engine to actually build it on (see next slide).</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Unified Architecture</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66</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HOW IT ACTUALLY WORKS</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Step by Step: One Request, Start to Finish</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20040" y="1463040"/>
            <a:ext cx="960120" cy="640080"/>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1A1A2E"/>
                </a:solidFill>
                <a:latin typeface="Calibri"/>
              </a:rPr>
              <a:t>Request</a:t>
            </a:r>
          </a:p>
        </p:txBody>
      </p:sp>
      <p:sp>
        <p:nvSpPr>
          <p:cNvPr id="8" name="Rounded Rectangle 7"/>
          <p:cNvSpPr/>
          <p:nvPr/>
        </p:nvSpPr>
        <p:spPr>
          <a:xfrm>
            <a:off x="1444752" y="1463040"/>
            <a:ext cx="1600200" cy="640080"/>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1A1A2E"/>
                </a:solidFill>
                <a:latin typeface="Calibri"/>
              </a:rPr>
              <a:t>Input Rails</a:t>
            </a:r>
          </a:p>
          <a:p>
            <a:pPr algn="ctr"/>
            <a:r>
              <a:rPr sz="830" b="0">
                <a:solidFill>
                  <a:srgbClr val="5B6B7D"/>
                </a:solidFill>
                <a:latin typeface="Calibri"/>
              </a:rPr>
              <a:t>PII · secrets · injection · unicode</a:t>
            </a:r>
          </a:p>
        </p:txBody>
      </p:sp>
      <p:sp>
        <p:nvSpPr>
          <p:cNvPr id="9" name="Diamond 8"/>
          <p:cNvSpPr/>
          <p:nvPr/>
        </p:nvSpPr>
        <p:spPr>
          <a:xfrm>
            <a:off x="3209544" y="1348740"/>
            <a:ext cx="1097280" cy="868680"/>
          </a:xfrm>
          <a:prstGeom prst="diamond">
            <a:avLst/>
          </a:prstGeom>
          <a:solidFill>
            <a:srgbClr val="F6F8FB"/>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1A1A2E"/>
                </a:solidFill>
                <a:latin typeface="Calibri"/>
              </a:rPr>
              <a:t>Block, escalate,
or clear?</a:t>
            </a:r>
          </a:p>
        </p:txBody>
      </p:sp>
      <p:sp>
        <p:nvSpPr>
          <p:cNvPr id="10" name="Rounded Rectangle 9"/>
          <p:cNvSpPr/>
          <p:nvPr/>
        </p:nvSpPr>
        <p:spPr>
          <a:xfrm>
            <a:off x="4471416" y="1463040"/>
            <a:ext cx="1051560" cy="640080"/>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1A1A2E"/>
                </a:solidFill>
                <a:latin typeface="Calibri"/>
              </a:rPr>
              <a:t>Model Call</a:t>
            </a:r>
          </a:p>
        </p:txBody>
      </p:sp>
      <p:sp>
        <p:nvSpPr>
          <p:cNvPr id="11" name="Rounded Rectangle 10"/>
          <p:cNvSpPr/>
          <p:nvPr/>
        </p:nvSpPr>
        <p:spPr>
          <a:xfrm>
            <a:off x="5687568" y="1463040"/>
            <a:ext cx="1737360" cy="640080"/>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1A1A2E"/>
                </a:solidFill>
                <a:latin typeface="Calibri"/>
              </a:rPr>
              <a:t>Output Rails</a:t>
            </a:r>
          </a:p>
          <a:p>
            <a:pPr algn="ctr"/>
            <a:r>
              <a:rPr sz="830" b="0">
                <a:solidFill>
                  <a:srgbClr val="5B6B7D"/>
                </a:solidFill>
                <a:latin typeface="Calibri"/>
              </a:rPr>
              <a:t>toxicity · groundedness · PII · schema</a:t>
            </a:r>
          </a:p>
        </p:txBody>
      </p:sp>
      <p:sp>
        <p:nvSpPr>
          <p:cNvPr id="12" name="Diamond 11"/>
          <p:cNvSpPr/>
          <p:nvPr/>
        </p:nvSpPr>
        <p:spPr>
          <a:xfrm>
            <a:off x="7589520" y="1348740"/>
            <a:ext cx="1097280" cy="868680"/>
          </a:xfrm>
          <a:prstGeom prst="diamond">
            <a:avLst/>
          </a:prstGeom>
          <a:solidFill>
            <a:srgbClr val="F6F8FB"/>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00" b="1">
                <a:solidFill>
                  <a:srgbClr val="1A1A2E"/>
                </a:solidFill>
                <a:latin typeface="Calibri"/>
              </a:rPr>
              <a:t>All clear?</a:t>
            </a:r>
          </a:p>
        </p:txBody>
      </p:sp>
      <p:sp>
        <p:nvSpPr>
          <p:cNvPr id="13" name="Rounded Rectangle 12"/>
          <p:cNvSpPr/>
          <p:nvPr/>
        </p:nvSpPr>
        <p:spPr>
          <a:xfrm>
            <a:off x="8851392" y="1463040"/>
            <a:ext cx="1371600" cy="640080"/>
          </a:xfrm>
          <a:prstGeom prst="roundRect">
            <a:avLst>
              <a:gd name="adj" fmla="val 12000"/>
            </a:avLst>
          </a:prstGeom>
          <a:solidFill>
            <a:srgbClr val="10243E"/>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050" b="1">
                <a:solidFill>
                  <a:srgbClr val="FFFFFF"/>
                </a:solidFill>
                <a:latin typeface="Calibri"/>
              </a:rPr>
              <a:t>Deliver Response</a:t>
            </a:r>
          </a:p>
          <a:p>
            <a:pPr algn="ctr"/>
            <a:r>
              <a:rPr sz="830" b="0">
                <a:solidFill>
                  <a:srgbClr val="5B6B7D"/>
                </a:solidFill>
                <a:latin typeface="Calibri"/>
              </a:rPr>
              <a:t>to user / app</a:t>
            </a:r>
          </a:p>
        </p:txBody>
      </p:sp>
      <p:cxnSp>
        <p:nvCxnSpPr>
          <p:cNvPr id="14" name="Connector 13"/>
          <p:cNvCxnSpPr/>
          <p:nvPr/>
        </p:nvCxnSpPr>
        <p:spPr>
          <a:xfrm>
            <a:off x="1280160" y="1783080"/>
            <a:ext cx="146304" cy="0"/>
          </a:xfrm>
          <a:prstGeom prst="line">
            <a:avLst/>
          </a:prstGeom>
          <a:ln w="1905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1385316" y="1741932"/>
            <a:ext cx="82296" cy="82296"/>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044952" y="1783080"/>
            <a:ext cx="146304" cy="0"/>
          </a:xfrm>
          <a:prstGeom prst="line">
            <a:avLst/>
          </a:prstGeom>
          <a:ln w="1905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3150108" y="1741932"/>
            <a:ext cx="82296" cy="82296"/>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4306824" y="1783080"/>
            <a:ext cx="146304" cy="0"/>
          </a:xfrm>
          <a:prstGeom prst="line">
            <a:avLst/>
          </a:prstGeom>
          <a:ln w="19050">
            <a:solidFill>
              <a:srgbClr val="1B9AAA"/>
            </a:solidFill>
          </a:ln>
          <a:effectLst/>
        </p:spPr>
        <p:style>
          <a:lnRef idx="2">
            <a:schemeClr val="accent1"/>
          </a:lnRef>
          <a:fillRef idx="0">
            <a:schemeClr val="accent1"/>
          </a:fillRef>
          <a:effectRef idx="1">
            <a:schemeClr val="accent1"/>
          </a:effectRef>
          <a:fontRef idx="minor">
            <a:schemeClr val="tx1"/>
          </a:fontRef>
        </p:style>
      </p:cxnSp>
      <p:sp>
        <p:nvSpPr>
          <p:cNvPr id="19" name="Isosceles Triangle 18"/>
          <p:cNvSpPr/>
          <p:nvPr/>
        </p:nvSpPr>
        <p:spPr>
          <a:xfrm rot="5400000">
            <a:off x="4411980" y="1741932"/>
            <a:ext cx="82296" cy="82296"/>
          </a:xfrm>
          <a:prstGeom prst="triangl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831336" y="1636776"/>
            <a:ext cx="1097280" cy="164592"/>
          </a:xfrm>
          <a:prstGeom prst="rect">
            <a:avLst/>
          </a:prstGeom>
          <a:noFill/>
        </p:spPr>
        <p:txBody>
          <a:bodyPr wrap="none" anchor="t" lIns="0" rIns="0" tIns="0" bIns="0">
            <a:spAutoFit/>
          </a:bodyPr>
          <a:lstStyle/>
          <a:p>
            <a:pPr algn="ctr">
              <a:lnSpc>
                <a:spcPct val="100000"/>
              </a:lnSpc>
            </a:pPr>
            <a:r>
              <a:rPr sz="850" b="0" i="0">
                <a:solidFill>
                  <a:srgbClr val="1B9AAA"/>
                </a:solidFill>
                <a:latin typeface="Calibri"/>
              </a:rPr>
              <a:t>clear</a:t>
            </a:r>
          </a:p>
        </p:txBody>
      </p:sp>
      <p:cxnSp>
        <p:nvCxnSpPr>
          <p:cNvPr id="21" name="Connector 20"/>
          <p:cNvCxnSpPr/>
          <p:nvPr/>
        </p:nvCxnSpPr>
        <p:spPr>
          <a:xfrm>
            <a:off x="5522976" y="1783080"/>
            <a:ext cx="146304" cy="0"/>
          </a:xfrm>
          <a:prstGeom prst="line">
            <a:avLst/>
          </a:prstGeom>
          <a:ln w="1905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22" name="Isosceles Triangle 21"/>
          <p:cNvSpPr/>
          <p:nvPr/>
        </p:nvSpPr>
        <p:spPr>
          <a:xfrm rot="5400000">
            <a:off x="5628132" y="1741932"/>
            <a:ext cx="82296" cy="82296"/>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7424927" y="1783080"/>
            <a:ext cx="146304" cy="0"/>
          </a:xfrm>
          <a:prstGeom prst="line">
            <a:avLst/>
          </a:prstGeom>
          <a:ln w="1905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24" name="Isosceles Triangle 23"/>
          <p:cNvSpPr/>
          <p:nvPr/>
        </p:nvSpPr>
        <p:spPr>
          <a:xfrm rot="5400000">
            <a:off x="7530083" y="1741932"/>
            <a:ext cx="82296" cy="82296"/>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 name="Connector 24"/>
          <p:cNvCxnSpPr/>
          <p:nvPr/>
        </p:nvCxnSpPr>
        <p:spPr>
          <a:xfrm>
            <a:off x="8686800" y="1783080"/>
            <a:ext cx="146304" cy="0"/>
          </a:xfrm>
          <a:prstGeom prst="line">
            <a:avLst/>
          </a:prstGeom>
          <a:ln w="19050">
            <a:solidFill>
              <a:srgbClr val="2E8B57"/>
            </a:solidFill>
          </a:ln>
          <a:effectLst/>
        </p:spPr>
        <p:style>
          <a:lnRef idx="2">
            <a:schemeClr val="accent1"/>
          </a:lnRef>
          <a:fillRef idx="0">
            <a:schemeClr val="accent1"/>
          </a:fillRef>
          <a:effectRef idx="1">
            <a:schemeClr val="accent1"/>
          </a:effectRef>
          <a:fontRef idx="minor">
            <a:schemeClr val="tx1"/>
          </a:fontRef>
        </p:style>
      </p:cxnSp>
      <p:sp>
        <p:nvSpPr>
          <p:cNvPr id="26" name="Isosceles Triangle 25"/>
          <p:cNvSpPr/>
          <p:nvPr/>
        </p:nvSpPr>
        <p:spPr>
          <a:xfrm rot="5400000">
            <a:off x="8791956" y="1741932"/>
            <a:ext cx="82296" cy="82296"/>
          </a:xfrm>
          <a:prstGeom prst="triangle">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11312" y="1636776"/>
            <a:ext cx="1097280" cy="164592"/>
          </a:xfrm>
          <a:prstGeom prst="rect">
            <a:avLst/>
          </a:prstGeom>
          <a:noFill/>
        </p:spPr>
        <p:txBody>
          <a:bodyPr wrap="none" anchor="t" lIns="0" rIns="0" tIns="0" bIns="0">
            <a:spAutoFit/>
          </a:bodyPr>
          <a:lstStyle/>
          <a:p>
            <a:pPr algn="ctr">
              <a:lnSpc>
                <a:spcPct val="100000"/>
              </a:lnSpc>
            </a:pPr>
            <a:r>
              <a:rPr sz="850" b="0" i="0">
                <a:solidFill>
                  <a:srgbClr val="2E8B57"/>
                </a:solidFill>
                <a:latin typeface="Calibri"/>
              </a:rPr>
              <a:t>safe</a:t>
            </a:r>
          </a:p>
        </p:txBody>
      </p:sp>
      <p:sp>
        <p:nvSpPr>
          <p:cNvPr id="28" name="Rounded Rectangle 27"/>
          <p:cNvSpPr/>
          <p:nvPr/>
        </p:nvSpPr>
        <p:spPr>
          <a:xfrm>
            <a:off x="2148840" y="2395728"/>
            <a:ext cx="1508760" cy="530352"/>
          </a:xfrm>
          <a:prstGeom prst="roundRect">
            <a:avLst>
              <a:gd name="adj" fmla="val 12000"/>
            </a:avLst>
          </a:prstGeom>
          <a:solidFill>
            <a:srgbClr val="C0392B"/>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FFFFFF"/>
                </a:solidFill>
                <a:latin typeface="Calibri"/>
              </a:rPr>
              <a:t>BLOCK &amp; Refuse</a:t>
            </a:r>
          </a:p>
        </p:txBody>
      </p:sp>
      <p:sp>
        <p:nvSpPr>
          <p:cNvPr id="29" name="Rounded Rectangle 28"/>
          <p:cNvSpPr/>
          <p:nvPr/>
        </p:nvSpPr>
        <p:spPr>
          <a:xfrm>
            <a:off x="3931920" y="2395728"/>
            <a:ext cx="1600200" cy="530352"/>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1A1A2E"/>
                </a:solidFill>
                <a:latin typeface="Calibri"/>
              </a:rPr>
              <a:t>Cloud 2nd Opinion</a:t>
            </a:r>
          </a:p>
          <a:p>
            <a:pPr algn="ctr"/>
            <a:r>
              <a:rPr sz="830" b="0">
                <a:solidFill>
                  <a:srgbClr val="5B6B7D"/>
                </a:solidFill>
                <a:latin typeface="Calibri"/>
              </a:rPr>
              <a:t>Azure / vendor</a:t>
            </a:r>
          </a:p>
        </p:txBody>
      </p:sp>
      <p:cxnSp>
        <p:nvCxnSpPr>
          <p:cNvPr id="30" name="Connector 29"/>
          <p:cNvCxnSpPr/>
          <p:nvPr/>
        </p:nvCxnSpPr>
        <p:spPr>
          <a:xfrm flipH="1">
            <a:off x="2468880" y="2217420"/>
            <a:ext cx="877823" cy="178308"/>
          </a:xfrm>
          <a:prstGeom prst="line">
            <a:avLst/>
          </a:prstGeom>
          <a:ln w="19050">
            <a:solidFill>
              <a:srgbClr val="C0392B"/>
            </a:solidFill>
          </a:ln>
          <a:effectLst/>
        </p:spPr>
        <p:style>
          <a:lnRef idx="2">
            <a:schemeClr val="accent1"/>
          </a:lnRef>
          <a:fillRef idx="0">
            <a:schemeClr val="accent1"/>
          </a:fillRef>
          <a:effectRef idx="1">
            <a:schemeClr val="accent1"/>
          </a:effectRef>
          <a:fontRef idx="minor">
            <a:schemeClr val="tx1"/>
          </a:fontRef>
        </p:style>
      </p:cxnSp>
      <p:sp>
        <p:nvSpPr>
          <p:cNvPr id="31" name="Isosceles Triangle 30"/>
          <p:cNvSpPr/>
          <p:nvPr/>
        </p:nvSpPr>
        <p:spPr>
          <a:xfrm rot="16200000">
            <a:off x="2427732" y="2354580"/>
            <a:ext cx="82296" cy="82296"/>
          </a:xfrm>
          <a:prstGeom prst="triangl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359151" y="2160270"/>
            <a:ext cx="1097280" cy="164592"/>
          </a:xfrm>
          <a:prstGeom prst="rect">
            <a:avLst/>
          </a:prstGeom>
          <a:noFill/>
        </p:spPr>
        <p:txBody>
          <a:bodyPr wrap="none" anchor="t" lIns="0" rIns="0" tIns="0" bIns="0">
            <a:spAutoFit/>
          </a:bodyPr>
          <a:lstStyle/>
          <a:p>
            <a:pPr algn="ctr">
              <a:lnSpc>
                <a:spcPct val="100000"/>
              </a:lnSpc>
            </a:pPr>
            <a:r>
              <a:rPr sz="850" b="0" i="0">
                <a:solidFill>
                  <a:srgbClr val="C0392B"/>
                </a:solidFill>
                <a:latin typeface="Calibri"/>
              </a:rPr>
              <a:t>block</a:t>
            </a:r>
          </a:p>
        </p:txBody>
      </p:sp>
      <p:cxnSp>
        <p:nvCxnSpPr>
          <p:cNvPr id="33" name="Connector 32"/>
          <p:cNvCxnSpPr/>
          <p:nvPr/>
        </p:nvCxnSpPr>
        <p:spPr>
          <a:xfrm>
            <a:off x="4169663" y="2217420"/>
            <a:ext cx="310896" cy="178308"/>
          </a:xfrm>
          <a:prstGeom prst="line">
            <a:avLst/>
          </a:prstGeom>
          <a:ln w="19050">
            <a:solidFill>
              <a:srgbClr val="E88C00"/>
            </a:solidFill>
          </a:ln>
          <a:effectLst/>
        </p:spPr>
        <p:style>
          <a:lnRef idx="2">
            <a:schemeClr val="accent1"/>
          </a:lnRef>
          <a:fillRef idx="0">
            <a:schemeClr val="accent1"/>
          </a:fillRef>
          <a:effectRef idx="1">
            <a:schemeClr val="accent1"/>
          </a:effectRef>
          <a:fontRef idx="minor">
            <a:schemeClr val="tx1"/>
          </a:fontRef>
        </p:style>
      </p:cxnSp>
      <p:sp>
        <p:nvSpPr>
          <p:cNvPr id="34" name="Isosceles Triangle 33"/>
          <p:cNvSpPr/>
          <p:nvPr/>
        </p:nvSpPr>
        <p:spPr>
          <a:xfrm rot="5400000">
            <a:off x="4439412" y="2354580"/>
            <a:ext cx="82296" cy="82296"/>
          </a:xfrm>
          <a:prstGeom prst="triangle">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776472" y="2160270"/>
            <a:ext cx="1097280" cy="164592"/>
          </a:xfrm>
          <a:prstGeom prst="rect">
            <a:avLst/>
          </a:prstGeom>
          <a:noFill/>
        </p:spPr>
        <p:txBody>
          <a:bodyPr wrap="none" anchor="t" lIns="0" rIns="0" tIns="0" bIns="0">
            <a:spAutoFit/>
          </a:bodyPr>
          <a:lstStyle/>
          <a:p>
            <a:pPr algn="ctr">
              <a:lnSpc>
                <a:spcPct val="100000"/>
              </a:lnSpc>
            </a:pPr>
            <a:r>
              <a:rPr sz="850" b="0" i="0">
                <a:solidFill>
                  <a:srgbClr val="E88C00"/>
                </a:solidFill>
                <a:latin typeface="Calibri"/>
              </a:rPr>
              <a:t>borderline</a:t>
            </a:r>
          </a:p>
        </p:txBody>
      </p:sp>
      <p:cxnSp>
        <p:nvCxnSpPr>
          <p:cNvPr id="36" name="Connector 35"/>
          <p:cNvCxnSpPr/>
          <p:nvPr/>
        </p:nvCxnSpPr>
        <p:spPr>
          <a:xfrm flipH="1" flipV="1">
            <a:off x="5111496" y="2103120"/>
            <a:ext cx="192024" cy="292608"/>
          </a:xfrm>
          <a:prstGeom prst="line">
            <a:avLst/>
          </a:prstGeom>
          <a:ln w="19050">
            <a:solidFill>
              <a:srgbClr val="1B9AAA"/>
            </a:solidFill>
          </a:ln>
          <a:effectLst/>
        </p:spPr>
        <p:style>
          <a:lnRef idx="2">
            <a:schemeClr val="accent1"/>
          </a:lnRef>
          <a:fillRef idx="0">
            <a:schemeClr val="accent1"/>
          </a:fillRef>
          <a:effectRef idx="1">
            <a:schemeClr val="accent1"/>
          </a:effectRef>
          <a:fontRef idx="minor">
            <a:schemeClr val="tx1"/>
          </a:fontRef>
        </p:style>
      </p:cxnSp>
      <p:sp>
        <p:nvSpPr>
          <p:cNvPr id="37" name="Isosceles Triangle 36"/>
          <p:cNvSpPr/>
          <p:nvPr/>
        </p:nvSpPr>
        <p:spPr>
          <a:xfrm>
            <a:off x="5070348" y="2061972"/>
            <a:ext cx="82296" cy="82296"/>
          </a:xfrm>
          <a:prstGeom prst="triangl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5212080" y="3310128"/>
            <a:ext cx="1417320" cy="566928"/>
          </a:xfrm>
          <a:prstGeom prst="roundRect">
            <a:avLst>
              <a:gd name="adj" fmla="val 12000"/>
            </a:avLst>
          </a:prstGeom>
          <a:solidFill>
            <a:srgbClr val="C0392B"/>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0">
                <a:solidFill>
                  <a:srgbClr val="FFFFFF"/>
                </a:solidFill>
                <a:latin typeface="Calibri"/>
              </a:rPr>
              <a:t>Toxic
→ Block / Refuse</a:t>
            </a:r>
          </a:p>
        </p:txBody>
      </p:sp>
      <p:sp>
        <p:nvSpPr>
          <p:cNvPr id="39" name="Rounded Rectangle 38"/>
          <p:cNvSpPr/>
          <p:nvPr/>
        </p:nvSpPr>
        <p:spPr>
          <a:xfrm>
            <a:off x="6812280" y="3310128"/>
            <a:ext cx="1691640" cy="566928"/>
          </a:xfrm>
          <a:prstGeom prst="roundRect">
            <a:avLst>
              <a:gd name="adj" fmla="val 12000"/>
            </a:avLst>
          </a:prstGeom>
          <a:solidFill>
            <a:srgbClr val="E88C00"/>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0">
                <a:solidFill>
                  <a:srgbClr val="FFFFFF"/>
                </a:solidFill>
                <a:latin typeface="Calibri"/>
              </a:rPr>
              <a:t>PII Leak
→ Mask &amp; Continue</a:t>
            </a:r>
          </a:p>
        </p:txBody>
      </p:sp>
      <p:sp>
        <p:nvSpPr>
          <p:cNvPr id="40" name="Rounded Rectangle 39"/>
          <p:cNvSpPr/>
          <p:nvPr/>
        </p:nvSpPr>
        <p:spPr>
          <a:xfrm>
            <a:off x="8686800" y="3310128"/>
            <a:ext cx="1783080" cy="566928"/>
          </a:xfrm>
          <a:prstGeom prst="roundRect">
            <a:avLst>
              <a:gd name="adj" fmla="val 12000"/>
            </a:avLst>
          </a:prstGeom>
          <a:solidFill>
            <a:srgbClr val="E88C00"/>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0">
                <a:solidFill>
                  <a:srgbClr val="FFFFFF"/>
                </a:solidFill>
                <a:latin typeface="Calibri"/>
              </a:rPr>
              <a:t>Not Grounded
→ Flag / Regenerate</a:t>
            </a:r>
          </a:p>
        </p:txBody>
      </p:sp>
      <p:sp>
        <p:nvSpPr>
          <p:cNvPr id="41" name="Rounded Rectangle 40"/>
          <p:cNvSpPr/>
          <p:nvPr/>
        </p:nvSpPr>
        <p:spPr>
          <a:xfrm>
            <a:off x="10652760" y="3310128"/>
            <a:ext cx="1097280" cy="566928"/>
          </a:xfrm>
          <a:prstGeom prst="roundRect">
            <a:avLst>
              <a:gd name="adj" fmla="val 12000"/>
            </a:avLst>
          </a:prstGeom>
          <a:solidFill>
            <a:srgbClr val="C0392B"/>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0">
                <a:solidFill>
                  <a:srgbClr val="FFFFFF"/>
                </a:solidFill>
                <a:latin typeface="Calibri"/>
              </a:rPr>
              <a:t>Bad Tool Call
→ Block</a:t>
            </a:r>
          </a:p>
        </p:txBody>
      </p:sp>
      <p:cxnSp>
        <p:nvCxnSpPr>
          <p:cNvPr id="42" name="Connector 41"/>
          <p:cNvCxnSpPr/>
          <p:nvPr/>
        </p:nvCxnSpPr>
        <p:spPr>
          <a:xfrm>
            <a:off x="8138160" y="2217420"/>
            <a:ext cx="0" cy="909828"/>
          </a:xfrm>
          <a:prstGeom prst="line">
            <a:avLst/>
          </a:prstGeom>
          <a:ln w="19050">
            <a:solidFill>
              <a:srgbClr val="E88C00"/>
            </a:solidFill>
          </a:ln>
          <a:effectLst/>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a:off x="5920740" y="3127248"/>
            <a:ext cx="5280660" cy="0"/>
          </a:xfrm>
          <a:prstGeom prst="line">
            <a:avLst/>
          </a:prstGeom>
          <a:ln w="19050">
            <a:solidFill>
              <a:srgbClr val="E88C00"/>
            </a:solidFill>
          </a:ln>
          <a:effectLst/>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7635240" y="2834640"/>
            <a:ext cx="1188720" cy="182880"/>
          </a:xfrm>
          <a:prstGeom prst="rect">
            <a:avLst/>
          </a:prstGeom>
          <a:noFill/>
        </p:spPr>
        <p:txBody>
          <a:bodyPr wrap="square" anchor="t" lIns="0" rIns="0" tIns="0" bIns="0">
            <a:spAutoFit/>
          </a:bodyPr>
          <a:lstStyle/>
          <a:p>
            <a:pPr algn="ctr">
              <a:lnSpc>
                <a:spcPct val="100000"/>
              </a:lnSpc>
            </a:pPr>
            <a:r>
              <a:rPr sz="850" b="0" i="0">
                <a:solidFill>
                  <a:srgbClr val="E88C00"/>
                </a:solidFill>
                <a:latin typeface="Calibri"/>
              </a:rPr>
              <a:t>not safe</a:t>
            </a:r>
          </a:p>
        </p:txBody>
      </p:sp>
      <p:cxnSp>
        <p:nvCxnSpPr>
          <p:cNvPr id="45" name="Connector 44"/>
          <p:cNvCxnSpPr/>
          <p:nvPr/>
        </p:nvCxnSpPr>
        <p:spPr>
          <a:xfrm>
            <a:off x="5920740" y="3127248"/>
            <a:ext cx="0" cy="182880"/>
          </a:xfrm>
          <a:prstGeom prst="line">
            <a:avLst/>
          </a:prstGeom>
          <a:ln w="15240">
            <a:solidFill>
              <a:srgbClr val="E88C00"/>
            </a:solidFill>
          </a:ln>
          <a:effectLst/>
        </p:spPr>
        <p:style>
          <a:lnRef idx="2">
            <a:schemeClr val="accent1"/>
          </a:lnRef>
          <a:fillRef idx="0">
            <a:schemeClr val="accent1"/>
          </a:fillRef>
          <a:effectRef idx="1">
            <a:schemeClr val="accent1"/>
          </a:effectRef>
          <a:fontRef idx="minor">
            <a:schemeClr val="tx1"/>
          </a:fontRef>
        </p:style>
      </p:cxnSp>
      <p:sp>
        <p:nvSpPr>
          <p:cNvPr id="46" name="Isosceles Triangle 45"/>
          <p:cNvSpPr/>
          <p:nvPr/>
        </p:nvSpPr>
        <p:spPr>
          <a:xfrm rot="10800000">
            <a:off x="5879592" y="3268980"/>
            <a:ext cx="82296" cy="82296"/>
          </a:xfrm>
          <a:prstGeom prst="triangle">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7" name="Connector 46"/>
          <p:cNvCxnSpPr/>
          <p:nvPr/>
        </p:nvCxnSpPr>
        <p:spPr>
          <a:xfrm>
            <a:off x="7658100" y="3127248"/>
            <a:ext cx="0" cy="182880"/>
          </a:xfrm>
          <a:prstGeom prst="line">
            <a:avLst/>
          </a:prstGeom>
          <a:ln w="15240">
            <a:solidFill>
              <a:srgbClr val="E88C00"/>
            </a:solidFill>
          </a:ln>
          <a:effectLst/>
        </p:spPr>
        <p:style>
          <a:lnRef idx="2">
            <a:schemeClr val="accent1"/>
          </a:lnRef>
          <a:fillRef idx="0">
            <a:schemeClr val="accent1"/>
          </a:fillRef>
          <a:effectRef idx="1">
            <a:schemeClr val="accent1"/>
          </a:effectRef>
          <a:fontRef idx="minor">
            <a:schemeClr val="tx1"/>
          </a:fontRef>
        </p:style>
      </p:cxnSp>
      <p:sp>
        <p:nvSpPr>
          <p:cNvPr id="48" name="Isosceles Triangle 47"/>
          <p:cNvSpPr/>
          <p:nvPr/>
        </p:nvSpPr>
        <p:spPr>
          <a:xfrm rot="10800000">
            <a:off x="7616952" y="3268980"/>
            <a:ext cx="82296" cy="82296"/>
          </a:xfrm>
          <a:prstGeom prst="triangle">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9" name="Connector 48"/>
          <p:cNvCxnSpPr/>
          <p:nvPr/>
        </p:nvCxnSpPr>
        <p:spPr>
          <a:xfrm>
            <a:off x="9578340" y="3127248"/>
            <a:ext cx="0" cy="182880"/>
          </a:xfrm>
          <a:prstGeom prst="line">
            <a:avLst/>
          </a:prstGeom>
          <a:ln w="15240">
            <a:solidFill>
              <a:srgbClr val="E88C00"/>
            </a:solidFill>
          </a:ln>
          <a:effectLst/>
        </p:spPr>
        <p:style>
          <a:lnRef idx="2">
            <a:schemeClr val="accent1"/>
          </a:lnRef>
          <a:fillRef idx="0">
            <a:schemeClr val="accent1"/>
          </a:fillRef>
          <a:effectRef idx="1">
            <a:schemeClr val="accent1"/>
          </a:effectRef>
          <a:fontRef idx="minor">
            <a:schemeClr val="tx1"/>
          </a:fontRef>
        </p:style>
      </p:cxnSp>
      <p:sp>
        <p:nvSpPr>
          <p:cNvPr id="50" name="Isosceles Triangle 49"/>
          <p:cNvSpPr/>
          <p:nvPr/>
        </p:nvSpPr>
        <p:spPr>
          <a:xfrm rot="10800000">
            <a:off x="9537192" y="3268980"/>
            <a:ext cx="82296" cy="82296"/>
          </a:xfrm>
          <a:prstGeom prst="triangle">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1" name="Connector 50"/>
          <p:cNvCxnSpPr/>
          <p:nvPr/>
        </p:nvCxnSpPr>
        <p:spPr>
          <a:xfrm>
            <a:off x="11201400" y="3127248"/>
            <a:ext cx="0" cy="182880"/>
          </a:xfrm>
          <a:prstGeom prst="line">
            <a:avLst/>
          </a:prstGeom>
          <a:ln w="15240">
            <a:solidFill>
              <a:srgbClr val="E88C00"/>
            </a:solidFill>
          </a:ln>
          <a:effectLst/>
        </p:spPr>
        <p:style>
          <a:lnRef idx="2">
            <a:schemeClr val="accent1"/>
          </a:lnRef>
          <a:fillRef idx="0">
            <a:schemeClr val="accent1"/>
          </a:fillRef>
          <a:effectRef idx="1">
            <a:schemeClr val="accent1"/>
          </a:effectRef>
          <a:fontRef idx="minor">
            <a:schemeClr val="tx1"/>
          </a:fontRef>
        </p:style>
      </p:cxnSp>
      <p:sp>
        <p:nvSpPr>
          <p:cNvPr id="52" name="Isosceles Triangle 51"/>
          <p:cNvSpPr/>
          <p:nvPr/>
        </p:nvSpPr>
        <p:spPr>
          <a:xfrm rot="10800000">
            <a:off x="11160252" y="3268980"/>
            <a:ext cx="82296" cy="82296"/>
          </a:xfrm>
          <a:prstGeom prst="triangle">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2651760" y="4041648"/>
            <a:ext cx="8778240" cy="502920"/>
          </a:xfrm>
          <a:prstGeom prst="roundRect">
            <a:avLst>
              <a:gd name="adj" fmla="val 12000"/>
            </a:avLst>
          </a:prstGeom>
          <a:solidFill>
            <a:srgbClr val="10243E"/>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Calibri"/>
              </a:rPr>
              <a:t>AUDIT STORE — every verdict, one schema</a:t>
            </a:r>
          </a:p>
          <a:p>
            <a:pPr algn="ctr"/>
            <a:r>
              <a:rPr sz="850" b="0">
                <a:solidFill>
                  <a:srgbClr val="5B6B7D"/>
                </a:solidFill>
                <a:latin typeface="Calibri"/>
              </a:rPr>
              <a:t>findings · severity · score · redaction spans · OpenTelemetry trace</a:t>
            </a:r>
          </a:p>
        </p:txBody>
      </p:sp>
      <p:cxnSp>
        <p:nvCxnSpPr>
          <p:cNvPr id="54" name="Connector 53"/>
          <p:cNvCxnSpPr/>
          <p:nvPr/>
        </p:nvCxnSpPr>
        <p:spPr>
          <a:xfrm>
            <a:off x="2903220" y="3877056"/>
            <a:ext cx="0" cy="164592"/>
          </a:xfrm>
          <a:prstGeom prst="line">
            <a:avLst/>
          </a:prstGeom>
          <a:ln w="1270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55" name="Isosceles Triangle 54"/>
          <p:cNvSpPr/>
          <p:nvPr/>
        </p:nvSpPr>
        <p:spPr>
          <a:xfrm rot="10800000">
            <a:off x="2871215" y="4009644"/>
            <a:ext cx="64008" cy="64008"/>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6" name="Connector 55"/>
          <p:cNvCxnSpPr/>
          <p:nvPr/>
        </p:nvCxnSpPr>
        <p:spPr>
          <a:xfrm>
            <a:off x="5920740" y="3877056"/>
            <a:ext cx="0" cy="164592"/>
          </a:xfrm>
          <a:prstGeom prst="line">
            <a:avLst/>
          </a:prstGeom>
          <a:ln w="1270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57" name="Isosceles Triangle 56"/>
          <p:cNvSpPr/>
          <p:nvPr/>
        </p:nvSpPr>
        <p:spPr>
          <a:xfrm rot="10800000">
            <a:off x="5888736" y="4009644"/>
            <a:ext cx="64008" cy="64008"/>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Connector 57"/>
          <p:cNvCxnSpPr/>
          <p:nvPr/>
        </p:nvCxnSpPr>
        <p:spPr>
          <a:xfrm>
            <a:off x="7658100" y="3877056"/>
            <a:ext cx="0" cy="164592"/>
          </a:xfrm>
          <a:prstGeom prst="line">
            <a:avLst/>
          </a:prstGeom>
          <a:ln w="1270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59" name="Isosceles Triangle 58"/>
          <p:cNvSpPr/>
          <p:nvPr/>
        </p:nvSpPr>
        <p:spPr>
          <a:xfrm rot="10800000">
            <a:off x="7626096" y="4009644"/>
            <a:ext cx="64008" cy="64008"/>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9578340" y="3877056"/>
            <a:ext cx="0" cy="164592"/>
          </a:xfrm>
          <a:prstGeom prst="line">
            <a:avLst/>
          </a:prstGeom>
          <a:ln w="1270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61" name="Isosceles Triangle 60"/>
          <p:cNvSpPr/>
          <p:nvPr/>
        </p:nvSpPr>
        <p:spPr>
          <a:xfrm rot="10800000">
            <a:off x="9546336" y="4009644"/>
            <a:ext cx="64008" cy="64008"/>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2" name="Connector 61"/>
          <p:cNvCxnSpPr/>
          <p:nvPr/>
        </p:nvCxnSpPr>
        <p:spPr>
          <a:xfrm>
            <a:off x="11201400" y="3877056"/>
            <a:ext cx="0" cy="164592"/>
          </a:xfrm>
          <a:prstGeom prst="line">
            <a:avLst/>
          </a:prstGeom>
          <a:ln w="1270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63" name="Isosceles Triangle 62"/>
          <p:cNvSpPr/>
          <p:nvPr/>
        </p:nvSpPr>
        <p:spPr>
          <a:xfrm rot="10800000">
            <a:off x="11169396" y="4009644"/>
            <a:ext cx="64008" cy="64008"/>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8851392" y="2157984"/>
            <a:ext cx="1371600" cy="274320"/>
          </a:xfrm>
          <a:prstGeom prst="rect">
            <a:avLst/>
          </a:prstGeom>
          <a:noFill/>
        </p:spPr>
        <p:txBody>
          <a:bodyPr wrap="square" anchor="t" lIns="0" rIns="0" tIns="0" bIns="0">
            <a:spAutoFit/>
          </a:bodyPr>
          <a:lstStyle/>
          <a:p>
            <a:pPr algn="ctr">
              <a:lnSpc>
                <a:spcPct val="95000"/>
              </a:lnSpc>
            </a:pPr>
            <a:r>
              <a:rPr sz="780" b="0" i="1">
                <a:solidFill>
                  <a:srgbClr val="5B6B7D"/>
                </a:solidFill>
                <a:latin typeface="Calibri"/>
              </a:rPr>
              <a:t>(delivered responses</a:t>
            </a:r>
          </a:p>
          <a:p>
            <a:pPr algn="ctr">
              <a:lnSpc>
                <a:spcPct val="95000"/>
              </a:lnSpc>
            </a:pPr>
            <a:r>
              <a:rPr sz="780" b="0" i="1">
                <a:solidFill>
                  <a:srgbClr val="5B6B7D"/>
                </a:solidFill>
                <a:latin typeface="Calibri"/>
              </a:rPr>
              <a:t>are logged too)</a:t>
            </a:r>
          </a:p>
        </p:txBody>
      </p:sp>
      <p:sp>
        <p:nvSpPr>
          <p:cNvPr id="65" name="Rounded Rectangle 64"/>
          <p:cNvSpPr/>
          <p:nvPr/>
        </p:nvSpPr>
        <p:spPr>
          <a:xfrm>
            <a:off x="2651760" y="4892040"/>
            <a:ext cx="8778240" cy="502920"/>
          </a:xfrm>
          <a:prstGeom prst="roundRect">
            <a:avLst>
              <a:gd name="adj" fmla="val 12000"/>
            </a:avLst>
          </a:prstGeom>
          <a:solidFill>
            <a:srgbClr val="C0392B"/>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100" b="1">
                <a:solidFill>
                  <a:srgbClr val="FFFFFF"/>
                </a:solidFill>
                <a:latin typeface="Calibri"/>
              </a:rPr>
              <a:t>OFFLINE, CONTINUOUS: Red-Team &amp; Eval CI</a:t>
            </a:r>
          </a:p>
          <a:p>
            <a:pPr algn="ctr"/>
            <a:r>
              <a:rPr sz="850" b="0">
                <a:solidFill>
                  <a:srgbClr val="5B6B7D"/>
                </a:solidFill>
                <a:latin typeface="Calibri"/>
              </a:rPr>
              <a:t>PyRIT · garak · promptfoo · DeepTeam - runs on every rail, prompt, or model change</a:t>
            </a:r>
          </a:p>
        </p:txBody>
      </p:sp>
      <p:cxnSp>
        <p:nvCxnSpPr>
          <p:cNvPr id="66" name="Connector 65"/>
          <p:cNvCxnSpPr/>
          <p:nvPr/>
        </p:nvCxnSpPr>
        <p:spPr>
          <a:xfrm flipV="1">
            <a:off x="7040879" y="4544568"/>
            <a:ext cx="0" cy="347472"/>
          </a:xfrm>
          <a:prstGeom prst="line">
            <a:avLst/>
          </a:prstGeom>
          <a:ln w="19050">
            <a:solidFill>
              <a:srgbClr val="C0392B"/>
            </a:solidFill>
          </a:ln>
          <a:effectLst/>
        </p:spPr>
        <p:style>
          <a:lnRef idx="2">
            <a:schemeClr val="accent1"/>
          </a:lnRef>
          <a:fillRef idx="0">
            <a:schemeClr val="accent1"/>
          </a:fillRef>
          <a:effectRef idx="1">
            <a:schemeClr val="accent1"/>
          </a:effectRef>
          <a:fontRef idx="minor">
            <a:schemeClr val="tx1"/>
          </a:fontRef>
        </p:style>
      </p:cxnSp>
      <p:sp>
        <p:nvSpPr>
          <p:cNvPr id="67" name="Isosceles Triangle 66"/>
          <p:cNvSpPr/>
          <p:nvPr/>
        </p:nvSpPr>
        <p:spPr>
          <a:xfrm>
            <a:off x="6999731" y="4503420"/>
            <a:ext cx="82296" cy="82296"/>
          </a:xfrm>
          <a:prstGeom prst="triangl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492240" y="4572000"/>
            <a:ext cx="1097280" cy="164592"/>
          </a:xfrm>
          <a:prstGeom prst="rect">
            <a:avLst/>
          </a:prstGeom>
          <a:noFill/>
        </p:spPr>
        <p:txBody>
          <a:bodyPr wrap="none" anchor="t" lIns="0" rIns="0" tIns="0" bIns="0">
            <a:spAutoFit/>
          </a:bodyPr>
          <a:lstStyle/>
          <a:p>
            <a:pPr algn="ctr">
              <a:lnSpc>
                <a:spcPct val="100000"/>
              </a:lnSpc>
            </a:pPr>
            <a:r>
              <a:rPr sz="850" b="0" i="0">
                <a:solidFill>
                  <a:srgbClr val="C0392B"/>
                </a:solidFill>
                <a:latin typeface="Calibri"/>
              </a:rPr>
              <a:t>every finding</a:t>
            </a:r>
          </a:p>
        </p:txBody>
      </p:sp>
      <p:cxnSp>
        <p:nvCxnSpPr>
          <p:cNvPr id="69" name="Connector 68"/>
          <p:cNvCxnSpPr/>
          <p:nvPr/>
        </p:nvCxnSpPr>
        <p:spPr>
          <a:xfrm flipH="1" flipV="1">
            <a:off x="2194560" y="2926080"/>
            <a:ext cx="1920240" cy="1965960"/>
          </a:xfrm>
          <a:prstGeom prst="line">
            <a:avLst/>
          </a:prstGeom>
          <a:ln w="19050">
            <a:solidFill>
              <a:srgbClr val="1B9AAA"/>
            </a:solidFill>
            <a:prstDash val="dash"/>
          </a:ln>
          <a:effectLst/>
        </p:spPr>
        <p:style>
          <a:lnRef idx="2">
            <a:schemeClr val="accent1"/>
          </a:lnRef>
          <a:fillRef idx="0">
            <a:schemeClr val="accent1"/>
          </a:fillRef>
          <a:effectRef idx="1">
            <a:schemeClr val="accent1"/>
          </a:effectRef>
          <a:fontRef idx="minor">
            <a:schemeClr val="tx1"/>
          </a:fontRef>
        </p:style>
      </p:cxnSp>
      <p:sp>
        <p:nvSpPr>
          <p:cNvPr id="70" name="Isosceles Triangle 69"/>
          <p:cNvSpPr/>
          <p:nvPr/>
        </p:nvSpPr>
        <p:spPr>
          <a:xfrm>
            <a:off x="2153412" y="2884932"/>
            <a:ext cx="82296" cy="82296"/>
          </a:xfrm>
          <a:prstGeom prst="triangl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606040" y="3762756"/>
            <a:ext cx="1097280" cy="164592"/>
          </a:xfrm>
          <a:prstGeom prst="rect">
            <a:avLst/>
          </a:prstGeom>
          <a:noFill/>
        </p:spPr>
        <p:txBody>
          <a:bodyPr wrap="none" anchor="t" lIns="0" rIns="0" tIns="0" bIns="0">
            <a:spAutoFit/>
          </a:bodyPr>
          <a:lstStyle/>
          <a:p>
            <a:pPr algn="ctr">
              <a:lnSpc>
                <a:spcPct val="100000"/>
              </a:lnSpc>
            </a:pPr>
            <a:r>
              <a:rPr sz="850" b="0" i="0">
                <a:solidFill>
                  <a:srgbClr val="1B9AAA"/>
                </a:solidFill>
                <a:latin typeface="Calibri"/>
              </a:rPr>
              <a:t>hardens rails</a:t>
            </a:r>
          </a:p>
        </p:txBody>
      </p:sp>
      <p:sp>
        <p:nvSpPr>
          <p:cNvPr id="72" name="TextBox 71"/>
          <p:cNvSpPr txBox="1"/>
          <p:nvPr/>
        </p:nvSpPr>
        <p:spPr>
          <a:xfrm>
            <a:off x="320040" y="5623560"/>
            <a:ext cx="11338560" cy="685800"/>
          </a:xfrm>
          <a:prstGeom prst="rect">
            <a:avLst/>
          </a:prstGeom>
          <a:noFill/>
        </p:spPr>
        <p:txBody>
          <a:bodyPr wrap="square" anchor="t" lIns="0" rIns="0" tIns="0" bIns="0">
            <a:spAutoFit/>
          </a:bodyPr>
          <a:lstStyle/>
          <a:p>
            <a:pPr algn="l">
              <a:lnSpc>
                <a:spcPct val="115000"/>
              </a:lnSpc>
            </a:pPr>
            <a:r>
              <a:rPr sz="1030" b="0" i="0">
                <a:solidFill>
                  <a:srgbClr val="5B6B7D"/>
                </a:solidFill>
                <a:latin typeface="Calibri"/>
              </a:rPr>
              <a:t>Solid arrows = live request path (every millisecond counts). Dashed arrow = offline feedback: confirmed red-team failures raise thresholds and add new rails before the next release. Two rules never bend: the gateway fails closed on client-facing traffic, and a check that could not run is reported as unjudged, never silently passed.</a:t>
            </a:r>
          </a:p>
        </p:txBody>
      </p:sp>
      <p:sp>
        <p:nvSpPr>
          <p:cNvPr id="73" name="Rectangle 72"/>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75" name="TextBox 74"/>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Request Flow</a:t>
            </a:r>
          </a:p>
        </p:txBody>
      </p:sp>
      <p:sp>
        <p:nvSpPr>
          <p:cNvPr id="76" name="TextBox 75"/>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67</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THE UNIFIED DESIGN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Why NeMo Guardrails as the Backbone</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71600"/>
            <a:ext cx="11155680" cy="4937760"/>
          </a:xfrm>
          <a:prstGeom prst="rect">
            <a:avLst/>
          </a:prstGeom>
          <a:noFill/>
        </p:spPr>
        <p:txBody>
          <a:bodyPr wrap="square" anchor="t" lIns="0" rIns="0" tIns="0" bIns="0">
            <a:spAutoFit/>
          </a:bodyPr>
          <a:lstStyle/>
          <a:p>
            <a:pPr algn="l">
              <a:lnSpc>
                <a:spcPct val="120000"/>
              </a:lnSpc>
            </a:pPr>
            <a:r>
              <a:rPr sz="1160" b="0" i="0">
                <a:solidFill>
                  <a:srgbClr val="1A1A2E"/>
                </a:solidFill>
                <a:latin typeface="Calibri"/>
              </a:rPr>
              <a:t>The Infosys Responsible AI Toolkit has the right shape and the wrong implementation, and AFNI should copy the shape. Its moderationlayer service is genuinely close to what AFNI needs: one async dispatcher that fans a single input out to roughly 15 independently-thresholded checks and returns one pass or fail summary with per-check evidence, in both coupled and decoupled modes, with thresholds configured per account and per portfolio through a separate admin service. That fan-out plus per-tenant threshold pattern is the correct design and should be reproduced. What AFNI should not do is deploy it. Adopting it as designed means standing up roughly 20 independently-versioned FastAPI microservices plus an Angular micro-frontend, each with its own requirements file and several gigabytes of local model weights, and every service configured with every other service's URL. Its red-team modules are marked retired for release 2.2.1 while the frontend still ships orphaned red-teaming components pointing at nothing, no accuracy figures exist for any of its in-house fine-tuned models, and most importantly the core dispatcher wraps individual checks in broad try/except blocks that log and return None, so a single timeout or misconfigured threshold silently drops a check rather than failing loudly. That is precisely the failure mode a governance framework exists to prevent. The recommended backbone is therefore NeMo Guardrails (Guardrails-develop) as the runtime orchestration layer, for four concrete reasons: it is a single pip-installable Python package rather than a service mesh; its library directory is already a plugin architecture where each rail is a self-contained module with an actions file, a config schema and a manifest, so AFNI's own detectors and the other adopted repos plug in as first-class rails; it already ships adapters for roughly 20 managed safety vendors and for Azure services, so AFNI stays Azure-first without being locked in; and NVIDIA maintains it with a 383-file test suite and publishes honest weakness numbers. Layered on top, the OpenGuardrails Verdict and GuardEvent schemas become the contract between the gateway and every application, which is what lets AFNI swap a detector, add a vendor, or move a check from local to cloud without touching application code. Three things must be carried over from Infosys and built explicitly, because NeMo does not provide them: the per-tenant and per-project threshold configuration service, a single consolidated verdict summary rather than a raw list of rail outputs, and a loud-failure policy where any check that could not complete is reported as unjudged and, for client-facing traffic, fails closed.</a:t>
            </a:r>
          </a:p>
        </p:txBody>
      </p:sp>
      <p:sp>
        <p:nvSpPr>
          <p:cNvPr id="8" name="Rectangle 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0" name="TextBox 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Orchestration Design</a:t>
            </a:r>
          </a:p>
        </p:txBody>
      </p:sp>
      <p:sp>
        <p:nvSpPr>
          <p:cNvPr id="11" name="TextBox 1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68</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0243E"/>
                </a:solidFill>
                <a:latin typeface="Calibri"/>
              </a:rPr>
              <a:t>CURRENT SHAPE VS. RECOMMENDED BACKBONE</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Infosys Toolkit vs. NeMo Guardrails</a:t>
            </a:r>
          </a:p>
        </p:txBody>
      </p:sp>
      <p:sp>
        <p:nvSpPr>
          <p:cNvPr id="6" name="Rectangle 5"/>
          <p:cNvSpPr/>
          <p:nvPr/>
        </p:nvSpPr>
        <p:spPr>
          <a:xfrm>
            <a:off x="502920" y="1207008"/>
            <a:ext cx="2011680" cy="32004"/>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365760" y="1371600"/>
            <a:ext cx="5349240" cy="420624"/>
          </a:xfrm>
          <a:prstGeom prst="roundRect">
            <a:avLst>
              <a:gd name="adj" fmla="val 18000"/>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371600"/>
            <a:ext cx="5349240" cy="420624"/>
          </a:xfrm>
          <a:prstGeom prst="rect">
            <a:avLst/>
          </a:prstGeom>
          <a:noFill/>
        </p:spPr>
        <p:txBody>
          <a:bodyPr wrap="square" anchor="ctr" lIns="0" rIns="0" tIns="0" bIns="0">
            <a:spAutoFit/>
          </a:bodyPr>
          <a:lstStyle/>
          <a:p>
            <a:pPr algn="ctr">
              <a:lnSpc>
                <a:spcPct val="100000"/>
              </a:lnSpc>
            </a:pPr>
            <a:r>
              <a:rPr sz="1200" b="1" i="0">
                <a:solidFill>
                  <a:srgbClr val="FFFFFF"/>
                </a:solidFill>
                <a:latin typeface="Calibri"/>
              </a:rPr>
              <a:t>INFOSYS TOOLKIT — right shape, wrong build</a:t>
            </a:r>
          </a:p>
        </p:txBody>
      </p:sp>
      <p:sp>
        <p:nvSpPr>
          <p:cNvPr id="9" name="Rounded Rectangle 8"/>
          <p:cNvSpPr/>
          <p:nvPr/>
        </p:nvSpPr>
        <p:spPr>
          <a:xfrm>
            <a:off x="5989320" y="1371600"/>
            <a:ext cx="5349240" cy="420624"/>
          </a:xfrm>
          <a:prstGeom prst="roundRect">
            <a:avLst>
              <a:gd name="adj" fmla="val 18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89320" y="1371600"/>
            <a:ext cx="5349240" cy="420624"/>
          </a:xfrm>
          <a:prstGeom prst="rect">
            <a:avLst/>
          </a:prstGeom>
          <a:noFill/>
        </p:spPr>
        <p:txBody>
          <a:bodyPr wrap="square" anchor="ctr" lIns="0" rIns="0" tIns="0" bIns="0">
            <a:spAutoFit/>
          </a:bodyPr>
          <a:lstStyle/>
          <a:p>
            <a:pPr algn="ctr">
              <a:lnSpc>
                <a:spcPct val="100000"/>
              </a:lnSpc>
            </a:pPr>
            <a:r>
              <a:rPr sz="1200" b="1" i="0">
                <a:solidFill>
                  <a:srgbClr val="FFFFFF"/>
                </a:solidFill>
                <a:latin typeface="Calibri"/>
              </a:rPr>
              <a:t>NEMO GUARDRAILS — recommended backbone</a:t>
            </a:r>
          </a:p>
        </p:txBody>
      </p:sp>
      <p:sp>
        <p:nvSpPr>
          <p:cNvPr id="11" name="Rounded Rectangle 10"/>
          <p:cNvSpPr/>
          <p:nvPr/>
        </p:nvSpPr>
        <p:spPr>
          <a:xfrm>
            <a:off x="365760" y="1965960"/>
            <a:ext cx="1600200" cy="566928"/>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50" b="1">
                <a:solidFill>
                  <a:srgbClr val="1A1A2E"/>
                </a:solidFill>
                <a:latin typeface="Calibri"/>
              </a:rPr>
              <a:t>1 Dispatcher</a:t>
            </a:r>
          </a:p>
        </p:txBody>
      </p:sp>
      <p:sp>
        <p:nvSpPr>
          <p:cNvPr id="12" name="Rounded Rectangle 11"/>
          <p:cNvSpPr/>
          <p:nvPr/>
        </p:nvSpPr>
        <p:spPr>
          <a:xfrm>
            <a:off x="2194560" y="1965960"/>
            <a:ext cx="1691640" cy="566928"/>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a:solidFill>
                  <a:srgbClr val="1A1A2E"/>
                </a:solidFill>
                <a:latin typeface="Calibri"/>
              </a:rPr>
              <a:t>~15 Checks</a:t>
            </a:r>
          </a:p>
          <a:p>
            <a:pPr algn="ctr"/>
            <a:r>
              <a:rPr sz="830" b="0">
                <a:solidFill>
                  <a:srgbClr val="5B6B7D"/>
                </a:solidFill>
                <a:latin typeface="Calibri"/>
              </a:rPr>
              <a:t>fanned out, own thresholds</a:t>
            </a:r>
          </a:p>
        </p:txBody>
      </p:sp>
      <p:sp>
        <p:nvSpPr>
          <p:cNvPr id="13" name="Rounded Rectangle 12"/>
          <p:cNvSpPr/>
          <p:nvPr/>
        </p:nvSpPr>
        <p:spPr>
          <a:xfrm>
            <a:off x="4023360" y="1965960"/>
            <a:ext cx="1691640" cy="566928"/>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a:solidFill>
                  <a:srgbClr val="1A1A2E"/>
                </a:solidFill>
                <a:latin typeface="Calibri"/>
              </a:rPr>
              <a:t>1 Pass/Fail</a:t>
            </a:r>
          </a:p>
          <a:p>
            <a:pPr algn="ctr"/>
            <a:r>
              <a:rPr sz="830" b="0">
                <a:solidFill>
                  <a:srgbClr val="5B6B7D"/>
                </a:solidFill>
                <a:latin typeface="Calibri"/>
              </a:rPr>
              <a:t>+ per-check evidence</a:t>
            </a:r>
          </a:p>
        </p:txBody>
      </p:sp>
      <p:cxnSp>
        <p:nvCxnSpPr>
          <p:cNvPr id="14" name="Connector 13"/>
          <p:cNvCxnSpPr/>
          <p:nvPr/>
        </p:nvCxnSpPr>
        <p:spPr>
          <a:xfrm>
            <a:off x="1965960" y="2249424"/>
            <a:ext cx="210312" cy="0"/>
          </a:xfrm>
          <a:prstGeom prst="line">
            <a:avLst/>
          </a:prstGeom>
          <a:ln w="1524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rot="5400000">
            <a:off x="2135124" y="2208276"/>
            <a:ext cx="82296" cy="82296"/>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6" name="Connector 15"/>
          <p:cNvCxnSpPr/>
          <p:nvPr/>
        </p:nvCxnSpPr>
        <p:spPr>
          <a:xfrm>
            <a:off x="3886200" y="2249424"/>
            <a:ext cx="118872" cy="0"/>
          </a:xfrm>
          <a:prstGeom prst="line">
            <a:avLst/>
          </a:prstGeom>
          <a:ln w="15240">
            <a:solidFill>
              <a:srgbClr val="5B6B7D"/>
            </a:solidFill>
          </a:ln>
          <a:effectLst/>
        </p:spPr>
        <p:style>
          <a:lnRef idx="2">
            <a:schemeClr val="accent1"/>
          </a:lnRef>
          <a:fillRef idx="0">
            <a:schemeClr val="accent1"/>
          </a:fillRef>
          <a:effectRef idx="1">
            <a:schemeClr val="accent1"/>
          </a:effectRef>
          <a:fontRef idx="minor">
            <a:schemeClr val="tx1"/>
          </a:fontRef>
        </p:style>
      </p:cxnSp>
      <p:sp>
        <p:nvSpPr>
          <p:cNvPr id="17" name="Isosceles Triangle 16"/>
          <p:cNvSpPr/>
          <p:nvPr/>
        </p:nvSpPr>
        <p:spPr>
          <a:xfrm rot="5400000">
            <a:off x="3963924" y="2208276"/>
            <a:ext cx="82296" cy="82296"/>
          </a:xfrm>
          <a:prstGeom prst="triangle">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5989320" y="1965960"/>
            <a:ext cx="1600200" cy="566928"/>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a:solidFill>
                  <a:srgbClr val="1A1A2E"/>
                </a:solidFill>
                <a:latin typeface="Calibri"/>
              </a:rPr>
              <a:t>pip install</a:t>
            </a:r>
          </a:p>
          <a:p>
            <a:pPr algn="ctr"/>
            <a:r>
              <a:rPr sz="830" b="0">
                <a:solidFill>
                  <a:srgbClr val="5B6B7D"/>
                </a:solidFill>
                <a:latin typeface="Calibri"/>
              </a:rPr>
              <a:t>1 package, not a mesh</a:t>
            </a:r>
          </a:p>
        </p:txBody>
      </p:sp>
      <p:sp>
        <p:nvSpPr>
          <p:cNvPr id="19" name="Rounded Rectangle 18"/>
          <p:cNvSpPr/>
          <p:nvPr/>
        </p:nvSpPr>
        <p:spPr>
          <a:xfrm>
            <a:off x="7818120" y="1965960"/>
            <a:ext cx="1691640" cy="566928"/>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a:solidFill>
                  <a:srgbClr val="1A1A2E"/>
                </a:solidFill>
                <a:latin typeface="Calibri"/>
              </a:rPr>
              <a:t>Plugin Rails</a:t>
            </a:r>
          </a:p>
          <a:p>
            <a:pPr algn="ctr"/>
            <a:r>
              <a:rPr sz="830" b="0">
                <a:solidFill>
                  <a:srgbClr val="5B6B7D"/>
                </a:solidFill>
                <a:latin typeface="Calibri"/>
              </a:rPr>
              <a:t>actions + config + manifest</a:t>
            </a:r>
          </a:p>
        </p:txBody>
      </p:sp>
      <p:sp>
        <p:nvSpPr>
          <p:cNvPr id="20" name="Rounded Rectangle 19"/>
          <p:cNvSpPr/>
          <p:nvPr/>
        </p:nvSpPr>
        <p:spPr>
          <a:xfrm>
            <a:off x="9646920" y="1965960"/>
            <a:ext cx="1691640" cy="566928"/>
          </a:xfrm>
          <a:prstGeom prst="roundRect">
            <a:avLst>
              <a:gd name="adj" fmla="val 12000"/>
            </a:avLst>
          </a:prstGeom>
          <a:solidFill>
            <a:srgbClr val="FFFFFF"/>
          </a:solidFill>
          <a:ln w="12700">
            <a:solidFill>
              <a:srgbClr val="DDE3EA"/>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900" b="1">
                <a:solidFill>
                  <a:srgbClr val="1A1A2E"/>
                </a:solidFill>
                <a:latin typeface="Calibri"/>
              </a:rPr>
              <a:t>~20 Adapters</a:t>
            </a:r>
          </a:p>
          <a:p>
            <a:pPr algn="ctr"/>
            <a:r>
              <a:rPr sz="830" b="0">
                <a:solidFill>
                  <a:srgbClr val="5B6B7D"/>
                </a:solidFill>
                <a:latin typeface="Calibri"/>
              </a:rPr>
              <a:t>vendors + Azure</a:t>
            </a:r>
          </a:p>
        </p:txBody>
      </p:sp>
      <p:cxnSp>
        <p:nvCxnSpPr>
          <p:cNvPr id="21" name="Connector 20"/>
          <p:cNvCxnSpPr/>
          <p:nvPr/>
        </p:nvCxnSpPr>
        <p:spPr>
          <a:xfrm>
            <a:off x="7589520" y="2249424"/>
            <a:ext cx="210311" cy="0"/>
          </a:xfrm>
          <a:prstGeom prst="line">
            <a:avLst/>
          </a:prstGeom>
          <a:ln w="15240">
            <a:solidFill>
              <a:srgbClr val="1B9AAA"/>
            </a:solidFill>
          </a:ln>
          <a:effectLst/>
        </p:spPr>
        <p:style>
          <a:lnRef idx="2">
            <a:schemeClr val="accent1"/>
          </a:lnRef>
          <a:fillRef idx="0">
            <a:schemeClr val="accent1"/>
          </a:fillRef>
          <a:effectRef idx="1">
            <a:schemeClr val="accent1"/>
          </a:effectRef>
          <a:fontRef idx="minor">
            <a:schemeClr val="tx1"/>
          </a:fontRef>
        </p:style>
      </p:cxnSp>
      <p:sp>
        <p:nvSpPr>
          <p:cNvPr id="22" name="Isosceles Triangle 21"/>
          <p:cNvSpPr/>
          <p:nvPr/>
        </p:nvSpPr>
        <p:spPr>
          <a:xfrm rot="5400000">
            <a:off x="7758683" y="2208276"/>
            <a:ext cx="82296" cy="82296"/>
          </a:xfrm>
          <a:prstGeom prst="triangl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a:off x="9509760" y="2249424"/>
            <a:ext cx="118872" cy="0"/>
          </a:xfrm>
          <a:prstGeom prst="line">
            <a:avLst/>
          </a:prstGeom>
          <a:ln w="15240">
            <a:solidFill>
              <a:srgbClr val="1B9AAA"/>
            </a:solidFill>
          </a:ln>
          <a:effectLst/>
        </p:spPr>
        <p:style>
          <a:lnRef idx="2">
            <a:schemeClr val="accent1"/>
          </a:lnRef>
          <a:fillRef idx="0">
            <a:schemeClr val="accent1"/>
          </a:fillRef>
          <a:effectRef idx="1">
            <a:schemeClr val="accent1"/>
          </a:effectRef>
          <a:fontRef idx="minor">
            <a:schemeClr val="tx1"/>
          </a:fontRef>
        </p:style>
      </p:cxnSp>
      <p:sp>
        <p:nvSpPr>
          <p:cNvPr id="24" name="Isosceles Triangle 23"/>
          <p:cNvSpPr/>
          <p:nvPr/>
        </p:nvSpPr>
        <p:spPr>
          <a:xfrm rot="5400000">
            <a:off x="9587484" y="2208276"/>
            <a:ext cx="82296" cy="82296"/>
          </a:xfrm>
          <a:prstGeom prst="triangl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5760" y="2743200"/>
            <a:ext cx="5349240" cy="228600"/>
          </a:xfrm>
          <a:prstGeom prst="rect">
            <a:avLst/>
          </a:prstGeom>
          <a:noFill/>
        </p:spPr>
        <p:txBody>
          <a:bodyPr wrap="square" anchor="t" lIns="0" rIns="0" tIns="0" bIns="0">
            <a:spAutoFit/>
          </a:bodyPr>
          <a:lstStyle/>
          <a:p>
            <a:pPr algn="l">
              <a:lnSpc>
                <a:spcPct val="100000"/>
              </a:lnSpc>
            </a:pPr>
            <a:r>
              <a:rPr sz="1050" b="1" i="0">
                <a:solidFill>
                  <a:srgbClr val="C0392B"/>
                </a:solidFill>
                <a:latin typeface="Calibri"/>
              </a:rPr>
              <a:t>DRAWBACKS FOUND IN THE CODE</a:t>
            </a:r>
          </a:p>
        </p:txBody>
      </p:sp>
      <p:sp>
        <p:nvSpPr>
          <p:cNvPr id="26" name="TextBox 25"/>
          <p:cNvSpPr txBox="1"/>
          <p:nvPr/>
        </p:nvSpPr>
        <p:spPr>
          <a:xfrm>
            <a:off x="365760" y="3017520"/>
            <a:ext cx="5349240" cy="2834640"/>
          </a:xfrm>
          <a:prstGeom prst="rect">
            <a:avLst/>
          </a:prstGeom>
          <a:noFill/>
        </p:spPr>
        <p:txBody>
          <a:bodyPr wrap="square" lIns="0" rIns="0" tIns="0" bIns="0">
            <a:spAutoFit/>
          </a:bodyPr>
          <a:lstStyle/>
          <a:p>
            <a:pPr>
              <a:lnSpc>
                <a:spcPct val="108000"/>
              </a:lnSpc>
              <a:spcAft>
                <a:spcPts val="900"/>
              </a:spcAft>
            </a:pPr>
            <a:r>
              <a:rPr sz="1030" b="1">
                <a:solidFill>
                  <a:srgbClr val="C0392B"/>
                </a:solidFill>
                <a:latin typeface="Calibri"/>
              </a:rPr>
              <a:t>▪  </a:t>
            </a:r>
            <a:r>
              <a:rPr sz="1030">
                <a:solidFill>
                  <a:srgbClr val="1A1A2E"/>
                </a:solidFill>
                <a:latin typeface="Calibri"/>
              </a:rPr>
              <a:t>Deploying it as designed means standing up about 20 independently-versioned FastAPI microservices plus an Angular front end, each with its own model weights</a:t>
            </a:r>
          </a:p>
          <a:p>
            <a:pPr>
              <a:lnSpc>
                <a:spcPct val="108000"/>
              </a:lnSpc>
              <a:spcAft>
                <a:spcPts val="900"/>
              </a:spcAft>
            </a:pPr>
            <a:r>
              <a:rPr sz="1030" b="1">
                <a:solidFill>
                  <a:srgbClr val="C0392B"/>
                </a:solidFill>
                <a:latin typeface="Calibri"/>
              </a:rPr>
              <a:t>▪  </a:t>
            </a:r>
            <a:r>
              <a:rPr sz="1030">
                <a:solidFill>
                  <a:srgbClr val="1A1A2E"/>
                </a:solidFill>
                <a:latin typeface="Calibri"/>
              </a:rPr>
              <a:t>Red-team modules are marked retired for release 2.2.1; the front end still ships orphaned red-teaming screens pointing at nothing</a:t>
            </a:r>
          </a:p>
          <a:p>
            <a:pPr>
              <a:lnSpc>
                <a:spcPct val="108000"/>
              </a:lnSpc>
              <a:spcAft>
                <a:spcPts val="900"/>
              </a:spcAft>
            </a:pPr>
            <a:r>
              <a:rPr sz="1030" b="1">
                <a:solidFill>
                  <a:srgbClr val="C0392B"/>
                </a:solidFill>
                <a:latin typeface="Calibri"/>
              </a:rPr>
              <a:t>▪  </a:t>
            </a:r>
            <a:r>
              <a:rPr sz="1030">
                <a:solidFill>
                  <a:srgbClr val="1A1A2E"/>
                </a:solidFill>
                <a:latin typeface="Calibri"/>
              </a:rPr>
              <a:t>No accuracy numbers exist anywhere for its in-house fine-tuned models</a:t>
            </a:r>
          </a:p>
          <a:p>
            <a:pPr>
              <a:lnSpc>
                <a:spcPct val="108000"/>
              </a:lnSpc>
              <a:spcAft>
                <a:spcPts val="900"/>
              </a:spcAft>
            </a:pPr>
            <a:r>
              <a:rPr sz="1030" b="1">
                <a:solidFill>
                  <a:srgbClr val="C0392B"/>
                </a:solidFill>
                <a:latin typeface="Calibri"/>
              </a:rPr>
              <a:t>▪  </a:t>
            </a:r>
            <a:r>
              <a:rPr sz="1030">
                <a:solidFill>
                  <a:srgbClr val="1A1A2E"/>
                </a:solidFill>
                <a:latin typeface="Calibri"/>
              </a:rPr>
              <a:t>The core dispatcher wraps each check in a broad try/except that logs and returns None - one timeout silently drops a check instead of failing loudly</a:t>
            </a:r>
          </a:p>
          <a:p>
            <a:pPr>
              <a:lnSpc>
                <a:spcPct val="108000"/>
              </a:lnSpc>
              <a:spcAft>
                <a:spcPts val="900"/>
              </a:spcAft>
            </a:pPr>
            <a:r>
              <a:rPr sz="1030" b="1">
                <a:solidFill>
                  <a:srgbClr val="C0392B"/>
                </a:solidFill>
                <a:latin typeface="Calibri"/>
              </a:rPr>
              <a:t>▪  </a:t>
            </a:r>
            <a:r>
              <a:rPr sz="1030">
                <a:solidFill>
                  <a:srgbClr val="1A1A2E"/>
                </a:solidFill>
                <a:latin typeface="Calibri"/>
              </a:rPr>
              <a:t>Every one of the ~20 services must be configured with every other service's URL</a:t>
            </a:r>
          </a:p>
        </p:txBody>
      </p:sp>
      <p:sp>
        <p:nvSpPr>
          <p:cNvPr id="27" name="TextBox 26"/>
          <p:cNvSpPr txBox="1"/>
          <p:nvPr/>
        </p:nvSpPr>
        <p:spPr>
          <a:xfrm>
            <a:off x="5989320" y="2743200"/>
            <a:ext cx="5349240" cy="228600"/>
          </a:xfrm>
          <a:prstGeom prst="rect">
            <a:avLst/>
          </a:prstGeom>
          <a:noFill/>
        </p:spPr>
        <p:txBody>
          <a:bodyPr wrap="square" anchor="t" lIns="0" rIns="0" tIns="0" bIns="0">
            <a:spAutoFit/>
          </a:bodyPr>
          <a:lstStyle/>
          <a:p>
            <a:pPr algn="l">
              <a:lnSpc>
                <a:spcPct val="100000"/>
              </a:lnSpc>
            </a:pPr>
            <a:r>
              <a:rPr sz="1050" b="1" i="0">
                <a:solidFill>
                  <a:srgbClr val="1B9AAA"/>
                </a:solidFill>
                <a:latin typeface="Calibri"/>
              </a:rPr>
              <a:t>WHY IT WINS AS THE BACKBONE</a:t>
            </a:r>
          </a:p>
        </p:txBody>
      </p:sp>
      <p:sp>
        <p:nvSpPr>
          <p:cNvPr id="28" name="TextBox 27"/>
          <p:cNvSpPr txBox="1"/>
          <p:nvPr/>
        </p:nvSpPr>
        <p:spPr>
          <a:xfrm>
            <a:off x="5989320" y="3017520"/>
            <a:ext cx="5349240" cy="2834640"/>
          </a:xfrm>
          <a:prstGeom prst="rect">
            <a:avLst/>
          </a:prstGeom>
          <a:noFill/>
        </p:spPr>
        <p:txBody>
          <a:bodyPr wrap="square" lIns="0" rIns="0" tIns="0" bIns="0">
            <a:spAutoFit/>
          </a:bodyPr>
          <a:lstStyle/>
          <a:p>
            <a:pPr>
              <a:lnSpc>
                <a:spcPct val="108000"/>
              </a:lnSpc>
              <a:spcAft>
                <a:spcPts val="900"/>
              </a:spcAft>
            </a:pPr>
            <a:r>
              <a:rPr sz="1030" b="1">
                <a:solidFill>
                  <a:srgbClr val="1B9AAA"/>
                </a:solidFill>
                <a:latin typeface="Calibri"/>
              </a:rPr>
              <a:t>▪  </a:t>
            </a:r>
            <a:r>
              <a:rPr sz="1030">
                <a:solidFill>
                  <a:srgbClr val="1A1A2E"/>
                </a:solidFill>
                <a:latin typeface="Calibri"/>
              </a:rPr>
              <a:t>One pip-installable Python package, not a service mesh to operate</a:t>
            </a:r>
          </a:p>
          <a:p>
            <a:pPr>
              <a:lnSpc>
                <a:spcPct val="108000"/>
              </a:lnSpc>
              <a:spcAft>
                <a:spcPts val="900"/>
              </a:spcAft>
            </a:pPr>
            <a:r>
              <a:rPr sz="1030" b="1">
                <a:solidFill>
                  <a:srgbClr val="1B9AAA"/>
                </a:solidFill>
                <a:latin typeface="Calibri"/>
              </a:rPr>
              <a:t>▪  </a:t>
            </a:r>
            <a:r>
              <a:rPr sz="1030">
                <a:solidFill>
                  <a:srgbClr val="1A1A2E"/>
                </a:solidFill>
                <a:latin typeface="Calibri"/>
              </a:rPr>
              <a:t>Already a plugin architecture: every rail is a self-contained module (an actions file, a config schema, a manifest) - AFNI's own detectors plug in as first-class rails</a:t>
            </a:r>
          </a:p>
          <a:p>
            <a:pPr>
              <a:lnSpc>
                <a:spcPct val="108000"/>
              </a:lnSpc>
              <a:spcAft>
                <a:spcPts val="900"/>
              </a:spcAft>
            </a:pPr>
            <a:r>
              <a:rPr sz="1030" b="1">
                <a:solidFill>
                  <a:srgbClr val="1B9AAA"/>
                </a:solidFill>
                <a:latin typeface="Calibri"/>
              </a:rPr>
              <a:t>▪  </a:t>
            </a:r>
            <a:r>
              <a:rPr sz="1030">
                <a:solidFill>
                  <a:srgbClr val="1A1A2E"/>
                </a:solidFill>
                <a:latin typeface="Calibri"/>
              </a:rPr>
              <a:t>Ships ready adapters for about 20 managed safety vendors plus Azure services, so AFNI stays Azure-first without being locked in</a:t>
            </a:r>
          </a:p>
          <a:p>
            <a:pPr>
              <a:lnSpc>
                <a:spcPct val="108000"/>
              </a:lnSpc>
              <a:spcAft>
                <a:spcPts val="900"/>
              </a:spcAft>
            </a:pPr>
            <a:r>
              <a:rPr sz="1030" b="1">
                <a:solidFill>
                  <a:srgbClr val="1B9AAA"/>
                </a:solidFill>
                <a:latin typeface="Calibri"/>
              </a:rPr>
              <a:t>▪  </a:t>
            </a:r>
            <a:r>
              <a:rPr sz="1030">
                <a:solidFill>
                  <a:srgbClr val="1A1A2E"/>
                </a:solidFill>
                <a:latin typeface="Calibri"/>
              </a:rPr>
              <a:t>NVIDIA-maintained with a 383-file test suite, and it publishes honest numbers about its own weak spots instead of hiding them</a:t>
            </a:r>
          </a:p>
        </p:txBody>
      </p:sp>
      <p:sp>
        <p:nvSpPr>
          <p:cNvPr id="29" name="Rounded Rectangle 28"/>
          <p:cNvSpPr/>
          <p:nvPr/>
        </p:nvSpPr>
        <p:spPr>
          <a:xfrm>
            <a:off x="365760" y="5989320"/>
            <a:ext cx="10972800" cy="502920"/>
          </a:xfrm>
          <a:prstGeom prst="roundRect">
            <a:avLst>
              <a:gd name="adj" fmla="val 10000"/>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02920" y="5989320"/>
            <a:ext cx="2834640" cy="502920"/>
          </a:xfrm>
          <a:prstGeom prst="rect">
            <a:avLst/>
          </a:prstGeom>
          <a:noFill/>
        </p:spPr>
        <p:txBody>
          <a:bodyPr wrap="square" anchor="ctr" lIns="0" rIns="0" tIns="0" bIns="0">
            <a:spAutoFit/>
          </a:bodyPr>
          <a:lstStyle/>
          <a:p>
            <a:pPr algn="l">
              <a:lnSpc>
                <a:spcPct val="100000"/>
              </a:lnSpc>
            </a:pPr>
            <a:r>
              <a:rPr sz="1000" b="1" i="0">
                <a:solidFill>
                  <a:srgbClr val="1B9AAA"/>
                </a:solidFill>
                <a:latin typeface="Calibri"/>
              </a:rPr>
              <a:t>CARRY OVER FROM INFOSYS:</a:t>
            </a:r>
          </a:p>
        </p:txBody>
      </p:sp>
      <p:sp>
        <p:nvSpPr>
          <p:cNvPr id="31" name="Rounded Rectangle 30"/>
          <p:cNvSpPr/>
          <p:nvPr/>
        </p:nvSpPr>
        <p:spPr>
          <a:xfrm>
            <a:off x="3429000" y="6108192"/>
            <a:ext cx="2514600" cy="274320"/>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429000" y="6108192"/>
            <a:ext cx="2514600" cy="274320"/>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Per-tenant threshold service</a:t>
            </a:r>
          </a:p>
        </p:txBody>
      </p:sp>
      <p:sp>
        <p:nvSpPr>
          <p:cNvPr id="33" name="Rounded Rectangle 32"/>
          <p:cNvSpPr/>
          <p:nvPr/>
        </p:nvSpPr>
        <p:spPr>
          <a:xfrm>
            <a:off x="6126480" y="6108192"/>
            <a:ext cx="2514600" cy="274320"/>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126480" y="6108192"/>
            <a:ext cx="2514600" cy="274320"/>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One consolidated verdict</a:t>
            </a:r>
          </a:p>
        </p:txBody>
      </p:sp>
      <p:sp>
        <p:nvSpPr>
          <p:cNvPr id="35" name="Rounded Rectangle 34"/>
          <p:cNvSpPr/>
          <p:nvPr/>
        </p:nvSpPr>
        <p:spPr>
          <a:xfrm>
            <a:off x="8823960" y="6108192"/>
            <a:ext cx="2514600" cy="274320"/>
          </a:xfrm>
          <a:prstGeom prst="roundRect">
            <a:avLst>
              <a:gd name="adj" fmla="val 2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823960" y="6108192"/>
            <a:ext cx="2514600" cy="274320"/>
          </a:xfrm>
          <a:prstGeom prst="rect">
            <a:avLst/>
          </a:prstGeom>
          <a:noFill/>
        </p:spPr>
        <p:txBody>
          <a:bodyPr wrap="none" anchor="ctr" lIns="0" rIns="0" tIns="0" bIns="0">
            <a:spAutoFit/>
          </a:bodyPr>
          <a:lstStyle/>
          <a:p>
            <a:pPr algn="ctr">
              <a:lnSpc>
                <a:spcPct val="100000"/>
              </a:lnSpc>
            </a:pPr>
            <a:r>
              <a:rPr sz="950" b="1" i="0">
                <a:solidFill>
                  <a:srgbClr val="FFFFFF"/>
                </a:solidFill>
                <a:latin typeface="Calibri"/>
              </a:rPr>
              <a:t>Fail-loud, fails-closed policy</a:t>
            </a:r>
          </a:p>
        </p:txBody>
      </p:sp>
      <p:sp>
        <p:nvSpPr>
          <p:cNvPr id="37" name="Rectangle 36"/>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9" name="TextBox 38"/>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Infosys vs NeMo</a:t>
            </a:r>
          </a:p>
        </p:txBody>
      </p:sp>
      <p:sp>
        <p:nvSpPr>
          <p:cNvPr id="40" name="TextBox 39"/>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0243E"/>
                </a:solidFill>
                <a:latin typeface="Calibri"/>
              </a:rPr>
              <a:t>IN DETAIL</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What To Keep, What To Drop, What To Build</a:t>
            </a:r>
          </a:p>
        </p:txBody>
      </p:sp>
      <p:sp>
        <p:nvSpPr>
          <p:cNvPr id="6" name="Rectangle 5"/>
          <p:cNvSpPr/>
          <p:nvPr/>
        </p:nvSpPr>
        <p:spPr>
          <a:xfrm>
            <a:off x="502920" y="1207008"/>
            <a:ext cx="2011680" cy="32004"/>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371600"/>
            <a:ext cx="5349240" cy="4572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81328"/>
            <a:ext cx="5349240" cy="256032"/>
          </a:xfrm>
          <a:prstGeom prst="rect">
            <a:avLst/>
          </a:prstGeom>
          <a:noFill/>
        </p:spPr>
        <p:txBody>
          <a:bodyPr wrap="square" anchor="t" lIns="0" rIns="0" tIns="0" bIns="0">
            <a:spAutoFit/>
          </a:bodyPr>
          <a:lstStyle/>
          <a:p>
            <a:pPr algn="l">
              <a:lnSpc>
                <a:spcPct val="100000"/>
              </a:lnSpc>
            </a:pPr>
            <a:r>
              <a:rPr sz="1200" b="1" i="0">
                <a:solidFill>
                  <a:srgbClr val="10243E"/>
                </a:solidFill>
                <a:latin typeface="Calibri"/>
              </a:rPr>
              <a:t>WHAT INFOSYS HAS TODAY</a:t>
            </a:r>
          </a:p>
        </p:txBody>
      </p:sp>
      <p:sp>
        <p:nvSpPr>
          <p:cNvPr id="9" name="TextBox 8"/>
          <p:cNvSpPr txBox="1"/>
          <p:nvPr/>
        </p:nvSpPr>
        <p:spPr>
          <a:xfrm>
            <a:off x="365760" y="1810512"/>
            <a:ext cx="5349240" cy="1965960"/>
          </a:xfrm>
          <a:prstGeom prst="rect">
            <a:avLst/>
          </a:prstGeom>
          <a:noFill/>
        </p:spPr>
        <p:txBody>
          <a:bodyPr wrap="square" lIns="0" rIns="0" tIns="0" bIns="0">
            <a:spAutoFit/>
          </a:bodyPr>
          <a:lstStyle/>
          <a:p>
            <a:pPr>
              <a:lnSpc>
                <a:spcPct val="105000"/>
              </a:lnSpc>
              <a:spcAft>
                <a:spcPts val="700"/>
              </a:spcAft>
            </a:pPr>
            <a:r>
              <a:rPr sz="1019" b="1">
                <a:solidFill>
                  <a:srgbClr val="10243E"/>
                </a:solidFill>
                <a:latin typeface="Calibri"/>
              </a:rPr>
              <a:t>▪  </a:t>
            </a:r>
            <a:r>
              <a:rPr sz="1019">
                <a:solidFill>
                  <a:srgbClr val="1A1A2E"/>
                </a:solidFill>
                <a:latin typeface="Calibri"/>
              </a:rPr>
              <a:t>One async dispatcher (moderationlayer) fans a single input out to roughly 15 independently-thresholded checks</a:t>
            </a:r>
          </a:p>
          <a:p>
            <a:pPr>
              <a:lnSpc>
                <a:spcPct val="105000"/>
              </a:lnSpc>
              <a:spcAft>
                <a:spcPts val="700"/>
              </a:spcAft>
            </a:pPr>
            <a:r>
              <a:rPr sz="1019" b="1">
                <a:solidFill>
                  <a:srgbClr val="10243E"/>
                </a:solidFill>
                <a:latin typeface="Calibri"/>
              </a:rPr>
              <a:t>▪  </a:t>
            </a:r>
            <a:r>
              <a:rPr sz="1019">
                <a:solidFill>
                  <a:srgbClr val="1A1A2E"/>
                </a:solidFill>
                <a:latin typeface="Calibri"/>
              </a:rPr>
              <a:t>Returns one pass/fail summary with per-check evidence, in both coupled and decoupled modes</a:t>
            </a:r>
          </a:p>
          <a:p>
            <a:pPr>
              <a:lnSpc>
                <a:spcPct val="105000"/>
              </a:lnSpc>
              <a:spcAft>
                <a:spcPts val="700"/>
              </a:spcAft>
            </a:pPr>
            <a:r>
              <a:rPr sz="1019" b="1">
                <a:solidFill>
                  <a:srgbClr val="10243E"/>
                </a:solidFill>
                <a:latin typeface="Calibri"/>
              </a:rPr>
              <a:t>▪  </a:t>
            </a:r>
            <a:r>
              <a:rPr sz="1019">
                <a:solidFill>
                  <a:srgbClr val="1A1A2E"/>
                </a:solidFill>
                <a:latin typeface="Calibri"/>
              </a:rPr>
              <a:t>Thresholds are configured per account and per portfolio through a separate admin service</a:t>
            </a:r>
          </a:p>
          <a:p>
            <a:pPr>
              <a:lnSpc>
                <a:spcPct val="105000"/>
              </a:lnSpc>
              <a:spcAft>
                <a:spcPts val="700"/>
              </a:spcAft>
            </a:pPr>
            <a:r>
              <a:rPr sz="1019" b="1">
                <a:solidFill>
                  <a:srgbClr val="10243E"/>
                </a:solidFill>
                <a:latin typeface="Calibri"/>
              </a:rPr>
              <a:t>▪  </a:t>
            </a:r>
            <a:r>
              <a:rPr sz="1019">
                <a:solidFill>
                  <a:srgbClr val="1A1A2E"/>
                </a:solidFill>
                <a:latin typeface="Calibri"/>
              </a:rPr>
              <a:t>Locally-hosted fine-tuned models for toxicity, jailbreak, restricted topics, and gibberish - no per-call cloud cost</a:t>
            </a:r>
          </a:p>
        </p:txBody>
      </p:sp>
      <p:sp>
        <p:nvSpPr>
          <p:cNvPr id="10" name="Rectangle 9"/>
          <p:cNvSpPr/>
          <p:nvPr/>
        </p:nvSpPr>
        <p:spPr>
          <a:xfrm>
            <a:off x="6172200" y="1371600"/>
            <a:ext cx="5349240" cy="4572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72200" y="1481328"/>
            <a:ext cx="5349240" cy="256032"/>
          </a:xfrm>
          <a:prstGeom prst="rect">
            <a:avLst/>
          </a:prstGeom>
          <a:noFill/>
        </p:spPr>
        <p:txBody>
          <a:bodyPr wrap="square" anchor="t" lIns="0" rIns="0" tIns="0" bIns="0">
            <a:spAutoFit/>
          </a:bodyPr>
          <a:lstStyle/>
          <a:p>
            <a:pPr algn="l">
              <a:lnSpc>
                <a:spcPct val="100000"/>
              </a:lnSpc>
            </a:pPr>
            <a:r>
              <a:rPr sz="1200" b="1" i="0">
                <a:solidFill>
                  <a:srgbClr val="C0392B"/>
                </a:solidFill>
                <a:latin typeface="Calibri"/>
              </a:rPr>
              <a:t>DRAWBACKS FOUND</a:t>
            </a:r>
          </a:p>
        </p:txBody>
      </p:sp>
      <p:sp>
        <p:nvSpPr>
          <p:cNvPr id="12" name="TextBox 11"/>
          <p:cNvSpPr txBox="1"/>
          <p:nvPr/>
        </p:nvSpPr>
        <p:spPr>
          <a:xfrm>
            <a:off x="6172200" y="1810512"/>
            <a:ext cx="5349240" cy="1965960"/>
          </a:xfrm>
          <a:prstGeom prst="rect">
            <a:avLst/>
          </a:prstGeom>
          <a:noFill/>
        </p:spPr>
        <p:txBody>
          <a:bodyPr wrap="square" lIns="0" rIns="0" tIns="0" bIns="0">
            <a:spAutoFit/>
          </a:bodyPr>
          <a:lstStyle/>
          <a:p>
            <a:pPr>
              <a:lnSpc>
                <a:spcPct val="105000"/>
              </a:lnSpc>
              <a:spcAft>
                <a:spcPts val="700"/>
              </a:spcAft>
            </a:pPr>
            <a:r>
              <a:rPr sz="1019" b="1">
                <a:solidFill>
                  <a:srgbClr val="C0392B"/>
                </a:solidFill>
                <a:latin typeface="Calibri"/>
              </a:rPr>
              <a:t>▪  </a:t>
            </a:r>
            <a:r>
              <a:rPr sz="1019">
                <a:solidFill>
                  <a:srgbClr val="1A1A2E"/>
                </a:solidFill>
                <a:latin typeface="Calibri"/>
              </a:rPr>
              <a:t>Full adoption means ~20 FastAPI microservices plus an Angular front end, each with its own requirements file and several GB of model weights</a:t>
            </a:r>
          </a:p>
          <a:p>
            <a:pPr>
              <a:lnSpc>
                <a:spcPct val="105000"/>
              </a:lnSpc>
              <a:spcAft>
                <a:spcPts val="700"/>
              </a:spcAft>
            </a:pPr>
            <a:r>
              <a:rPr sz="1019" b="1">
                <a:solidFill>
                  <a:srgbClr val="C0392B"/>
                </a:solidFill>
                <a:latin typeface="Calibri"/>
              </a:rPr>
              <a:t>▪  </a:t>
            </a:r>
            <a:r>
              <a:rPr sz="1019">
                <a:solidFill>
                  <a:srgbClr val="1A1A2E"/>
                </a:solidFill>
                <a:latin typeface="Calibri"/>
              </a:rPr>
              <a:t>Red-team (PAIR/TAP) modules are retired for 2.2.1; the frontend still ships orphaned red-team screens with no backend behind them</a:t>
            </a:r>
          </a:p>
          <a:p>
            <a:pPr>
              <a:lnSpc>
                <a:spcPct val="105000"/>
              </a:lnSpc>
              <a:spcAft>
                <a:spcPts val="700"/>
              </a:spcAft>
            </a:pPr>
            <a:r>
              <a:rPr sz="1019" b="1">
                <a:solidFill>
                  <a:srgbClr val="C0392B"/>
                </a:solidFill>
                <a:latin typeface="Calibri"/>
              </a:rPr>
              <a:t>▪  </a:t>
            </a:r>
            <a:r>
              <a:rPr sz="1019">
                <a:solidFill>
                  <a:srgbClr val="1A1A2E"/>
                </a:solidFill>
                <a:latin typeface="Calibri"/>
              </a:rPr>
              <a:t>No published accuracy figures for any in-house fine-tuned model</a:t>
            </a:r>
          </a:p>
          <a:p>
            <a:pPr>
              <a:lnSpc>
                <a:spcPct val="105000"/>
              </a:lnSpc>
              <a:spcAft>
                <a:spcPts val="700"/>
              </a:spcAft>
            </a:pPr>
            <a:r>
              <a:rPr sz="1019" b="1">
                <a:solidFill>
                  <a:srgbClr val="C0392B"/>
                </a:solidFill>
                <a:latin typeface="Calibri"/>
              </a:rPr>
              <a:t>▪  </a:t>
            </a:r>
            <a:r>
              <a:rPr sz="1019">
                <a:solidFill>
                  <a:srgbClr val="1A1A2E"/>
                </a:solidFill>
                <a:latin typeface="Calibri"/>
              </a:rPr>
              <a:t>Broad try/except blocks log and return None on failure - a single bad threshold or timeout silently drops a check</a:t>
            </a:r>
          </a:p>
        </p:txBody>
      </p:sp>
      <p:sp>
        <p:nvSpPr>
          <p:cNvPr id="13" name="Rectangle 12"/>
          <p:cNvSpPr/>
          <p:nvPr/>
        </p:nvSpPr>
        <p:spPr>
          <a:xfrm>
            <a:off x="365760" y="3794760"/>
            <a:ext cx="53492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65760" y="3904488"/>
            <a:ext cx="5349240" cy="256032"/>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WHAT NEMO GUARDRAILS BRINGS</a:t>
            </a:r>
          </a:p>
        </p:txBody>
      </p:sp>
      <p:sp>
        <p:nvSpPr>
          <p:cNvPr id="15" name="TextBox 14"/>
          <p:cNvSpPr txBox="1"/>
          <p:nvPr/>
        </p:nvSpPr>
        <p:spPr>
          <a:xfrm>
            <a:off x="365760" y="4233672"/>
            <a:ext cx="5349240" cy="1965960"/>
          </a:xfrm>
          <a:prstGeom prst="rect">
            <a:avLst/>
          </a:prstGeom>
          <a:noFill/>
        </p:spPr>
        <p:txBody>
          <a:bodyPr wrap="square" lIns="0" rIns="0" tIns="0" bIns="0">
            <a:spAutoFit/>
          </a:bodyPr>
          <a:lstStyle/>
          <a:p>
            <a:pPr>
              <a:lnSpc>
                <a:spcPct val="105000"/>
              </a:lnSpc>
              <a:spcAft>
                <a:spcPts val="700"/>
              </a:spcAft>
            </a:pPr>
            <a:r>
              <a:rPr sz="1019" b="1">
                <a:solidFill>
                  <a:srgbClr val="1B9AAA"/>
                </a:solidFill>
                <a:latin typeface="Calibri"/>
              </a:rPr>
              <a:t>▪  </a:t>
            </a:r>
            <a:r>
              <a:rPr sz="1019">
                <a:solidFill>
                  <a:srgbClr val="1A1A2E"/>
                </a:solidFill>
                <a:latin typeface="Calibri"/>
              </a:rPr>
              <a:t>A single pip-installable Python package - no service mesh, no per-service URL wiring</a:t>
            </a:r>
          </a:p>
          <a:p>
            <a:pPr>
              <a:lnSpc>
                <a:spcPct val="105000"/>
              </a:lnSpc>
              <a:spcAft>
                <a:spcPts val="700"/>
              </a:spcAft>
            </a:pPr>
            <a:r>
              <a:rPr sz="1019" b="1">
                <a:solidFill>
                  <a:srgbClr val="1B9AAA"/>
                </a:solidFill>
                <a:latin typeface="Calibri"/>
              </a:rPr>
              <a:t>▪  </a:t>
            </a:r>
            <a:r>
              <a:rPr sz="1019">
                <a:solidFill>
                  <a:srgbClr val="1A1A2E"/>
                </a:solidFill>
                <a:latin typeface="Calibri"/>
              </a:rPr>
              <a:t>A genuine plugin architecture: each rail is a self-contained module (actions file, config schema, manifest)</a:t>
            </a:r>
          </a:p>
          <a:p>
            <a:pPr>
              <a:lnSpc>
                <a:spcPct val="105000"/>
              </a:lnSpc>
              <a:spcAft>
                <a:spcPts val="700"/>
              </a:spcAft>
            </a:pPr>
            <a:r>
              <a:rPr sz="1019" b="1">
                <a:solidFill>
                  <a:srgbClr val="1B9AAA"/>
                </a:solidFill>
                <a:latin typeface="Calibri"/>
              </a:rPr>
              <a:t>▪  </a:t>
            </a:r>
            <a:r>
              <a:rPr sz="1019">
                <a:solidFill>
                  <a:srgbClr val="1A1A2E"/>
                </a:solidFill>
                <a:latin typeface="Calibri"/>
              </a:rPr>
              <a:t>Roughly 20 ready adapters to managed safety vendors, plus native Azure service adapters</a:t>
            </a:r>
          </a:p>
          <a:p>
            <a:pPr>
              <a:lnSpc>
                <a:spcPct val="105000"/>
              </a:lnSpc>
              <a:spcAft>
                <a:spcPts val="700"/>
              </a:spcAft>
            </a:pPr>
            <a:r>
              <a:rPr sz="1019" b="1">
                <a:solidFill>
                  <a:srgbClr val="1B9AAA"/>
                </a:solidFill>
                <a:latin typeface="Calibri"/>
              </a:rPr>
              <a:t>▪  </a:t>
            </a:r>
            <a:r>
              <a:rPr sz="1019">
                <a:solidFill>
                  <a:srgbClr val="1A1A2E"/>
                </a:solidFill>
                <a:latin typeface="Calibri"/>
              </a:rPr>
              <a:t>NVIDIA maintains it, backed by a 383-file test suite, and publishes its own weakness numbers honestly</a:t>
            </a:r>
          </a:p>
        </p:txBody>
      </p:sp>
      <p:sp>
        <p:nvSpPr>
          <p:cNvPr id="16" name="Rectangle 15"/>
          <p:cNvSpPr/>
          <p:nvPr/>
        </p:nvSpPr>
        <p:spPr>
          <a:xfrm>
            <a:off x="6172200" y="3794760"/>
            <a:ext cx="5349240" cy="45720"/>
          </a:xfrm>
          <a:prstGeom prst="rect">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172200" y="3904488"/>
            <a:ext cx="5349240" cy="256032"/>
          </a:xfrm>
          <a:prstGeom prst="rect">
            <a:avLst/>
          </a:prstGeom>
          <a:noFill/>
        </p:spPr>
        <p:txBody>
          <a:bodyPr wrap="square" anchor="t" lIns="0" rIns="0" tIns="0" bIns="0">
            <a:spAutoFit/>
          </a:bodyPr>
          <a:lstStyle/>
          <a:p>
            <a:pPr algn="l">
              <a:lnSpc>
                <a:spcPct val="100000"/>
              </a:lnSpc>
            </a:pPr>
            <a:r>
              <a:rPr sz="1200" b="1" i="0">
                <a:solidFill>
                  <a:srgbClr val="E88C00"/>
                </a:solidFill>
                <a:latin typeface="Calibri"/>
              </a:rPr>
              <a:t>WHAT AFNI MUST BUILD ITSELF</a:t>
            </a:r>
          </a:p>
        </p:txBody>
      </p:sp>
      <p:sp>
        <p:nvSpPr>
          <p:cNvPr id="18" name="TextBox 17"/>
          <p:cNvSpPr txBox="1"/>
          <p:nvPr/>
        </p:nvSpPr>
        <p:spPr>
          <a:xfrm>
            <a:off x="6172200" y="4233672"/>
            <a:ext cx="5349240" cy="1965960"/>
          </a:xfrm>
          <a:prstGeom prst="rect">
            <a:avLst/>
          </a:prstGeom>
          <a:noFill/>
        </p:spPr>
        <p:txBody>
          <a:bodyPr wrap="square" lIns="0" rIns="0" tIns="0" bIns="0">
            <a:spAutoFit/>
          </a:bodyPr>
          <a:lstStyle/>
          <a:p>
            <a:pPr>
              <a:lnSpc>
                <a:spcPct val="105000"/>
              </a:lnSpc>
              <a:spcAft>
                <a:spcPts val="700"/>
              </a:spcAft>
            </a:pPr>
            <a:r>
              <a:rPr sz="1019" b="1">
                <a:solidFill>
                  <a:srgbClr val="E88C00"/>
                </a:solidFill>
                <a:latin typeface="Calibri"/>
              </a:rPr>
              <a:t>▪  </a:t>
            </a:r>
            <a:r>
              <a:rPr sz="1019">
                <a:solidFill>
                  <a:srgbClr val="1A1A2E"/>
                </a:solidFill>
                <a:latin typeface="Calibri"/>
              </a:rPr>
              <a:t>A per-tenant and per-project threshold configuration service, modelled on Infosys's admin pattern</a:t>
            </a:r>
          </a:p>
          <a:p>
            <a:pPr>
              <a:lnSpc>
                <a:spcPct val="105000"/>
              </a:lnSpc>
              <a:spcAft>
                <a:spcPts val="700"/>
              </a:spcAft>
            </a:pPr>
            <a:r>
              <a:rPr sz="1019" b="1">
                <a:solidFill>
                  <a:srgbClr val="E88C00"/>
                </a:solidFill>
                <a:latin typeface="Calibri"/>
              </a:rPr>
              <a:t>▪  </a:t>
            </a:r>
            <a:r>
              <a:rPr sz="1019">
                <a:solidFill>
                  <a:srgbClr val="1A1A2E"/>
                </a:solidFill>
                <a:latin typeface="Calibri"/>
              </a:rPr>
              <a:t>One consolidated verdict summary per request - not a raw list of individual rail outputs</a:t>
            </a:r>
          </a:p>
          <a:p>
            <a:pPr>
              <a:lnSpc>
                <a:spcPct val="105000"/>
              </a:lnSpc>
              <a:spcAft>
                <a:spcPts val="700"/>
              </a:spcAft>
            </a:pPr>
            <a:r>
              <a:rPr sz="1019" b="1">
                <a:solidFill>
                  <a:srgbClr val="E88C00"/>
                </a:solidFill>
                <a:latin typeface="Calibri"/>
              </a:rPr>
              <a:t>▪  </a:t>
            </a:r>
            <a:r>
              <a:rPr sz="1019">
                <a:solidFill>
                  <a:srgbClr val="1A1A2E"/>
                </a:solidFill>
                <a:latin typeface="Calibri"/>
              </a:rPr>
              <a:t>A loud-failure policy: any check that could not complete is reported as unjudged, and for client-facing traffic the gateway fails closed</a:t>
            </a:r>
          </a:p>
          <a:p>
            <a:pPr>
              <a:lnSpc>
                <a:spcPct val="105000"/>
              </a:lnSpc>
              <a:spcAft>
                <a:spcPts val="700"/>
              </a:spcAft>
            </a:pPr>
            <a:r>
              <a:rPr sz="1019" b="1">
                <a:solidFill>
                  <a:srgbClr val="E88C00"/>
                </a:solidFill>
                <a:latin typeface="Calibri"/>
              </a:rPr>
              <a:t>▪  </a:t>
            </a:r>
            <a:r>
              <a:rPr sz="1019">
                <a:solidFill>
                  <a:srgbClr val="1A1A2E"/>
                </a:solidFill>
                <a:latin typeface="Calibri"/>
              </a:rPr>
              <a:t>The OpenGuardrails Verdict/GuardEvent schema as the fixed contract between the gateway and every app</a:t>
            </a:r>
          </a:p>
        </p:txBody>
      </p:sp>
      <p:sp>
        <p:nvSpPr>
          <p:cNvPr id="19" name="Rectangle 18"/>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21" name="TextBox 20"/>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Infosys vs NeMo - Detail</a:t>
            </a:r>
          </a:p>
        </p:txBody>
      </p:sp>
      <p:sp>
        <p:nvSpPr>
          <p:cNvPr id="22" name="TextBox 21"/>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THE UNIFIED DESIGN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Per-Tenet Stack (1 of 4)</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82296" cy="2423160"/>
          </a:xfrm>
          <a:prstGeom prst="rect">
            <a:avLst/>
          </a:prstGeom>
          <a:solidFill>
            <a:srgbClr val="2E86A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71600"/>
            <a:ext cx="4114800" cy="274320"/>
          </a:xfrm>
          <a:prstGeom prst="rect">
            <a:avLst/>
          </a:prstGeom>
          <a:noFill/>
        </p:spPr>
        <p:txBody>
          <a:bodyPr wrap="square" anchor="t" lIns="0" rIns="0" tIns="0" bIns="0">
            <a:spAutoFit/>
          </a:bodyPr>
          <a:lstStyle/>
          <a:p>
            <a:pPr algn="l">
              <a:lnSpc>
                <a:spcPct val="100000"/>
              </a:lnSpc>
            </a:pPr>
            <a:r>
              <a:rPr sz="1400" b="1" i="0">
                <a:solidFill>
                  <a:srgbClr val="10243E"/>
                </a:solidFill>
                <a:latin typeface="Calibri"/>
              </a:rPr>
              <a:t>Privacy</a:t>
            </a:r>
          </a:p>
        </p:txBody>
      </p:sp>
      <p:sp>
        <p:nvSpPr>
          <p:cNvPr id="9" name="TextBox 8"/>
          <p:cNvSpPr txBox="1"/>
          <p:nvPr/>
        </p:nvSpPr>
        <p:spPr>
          <a:xfrm>
            <a:off x="713232" y="1700784"/>
            <a:ext cx="10881360" cy="457200"/>
          </a:xfrm>
          <a:prstGeom prst="rect">
            <a:avLst/>
          </a:prstGeom>
          <a:noFill/>
        </p:spPr>
        <p:txBody>
          <a:bodyPr wrap="square" anchor="t" lIns="0" rIns="0" tIns="0" bIns="0">
            <a:spAutoFit/>
          </a:bodyPr>
          <a:lstStyle/>
          <a:p>
            <a:pPr algn="l">
              <a:lnSpc>
                <a:spcPct val="105000"/>
              </a:lnSpc>
            </a:pPr>
            <a:r>
              <a:rPr sz="1080" b="0" i="1">
                <a:solidFill>
                  <a:srgbClr val="5B6B7D"/>
                </a:solidFill>
                <a:latin typeface="Calibri"/>
              </a:rPr>
              <a:t>Deterministic and NER-based redaction with reversible masking at runtime, proven by offline leakage probing.</a:t>
            </a:r>
          </a:p>
        </p:txBody>
      </p:sp>
      <p:sp>
        <p:nvSpPr>
          <p:cNvPr id="10" name="TextBox 9"/>
          <p:cNvSpPr txBox="1"/>
          <p:nvPr/>
        </p:nvSpPr>
        <p:spPr>
          <a:xfrm>
            <a:off x="713232" y="2194560"/>
            <a:ext cx="10881360" cy="1527048"/>
          </a:xfrm>
          <a:prstGeom prst="rect">
            <a:avLst/>
          </a:prstGeom>
          <a:noFill/>
        </p:spPr>
        <p:txBody>
          <a:bodyPr wrap="square" anchor="t" lIns="0" rIns="0" tIns="0" bIns="0">
            <a:spAutoFit/>
          </a:bodyPr>
          <a:lstStyle/>
          <a:p>
            <a:pPr algn="l">
              <a:lnSpc>
                <a:spcPct val="122000"/>
              </a:lnSpc>
            </a:pPr>
            <a:r>
              <a:rPr sz="1030" b="0" i="0">
                <a:solidFill>
                  <a:srgbClr val="1A1A2E"/>
                </a:solidFill>
                <a:latin typeface="Calibri"/>
              </a:rPr>
              <a:t>llm-guard-main (Presidio + DeBERTa NER + Vault redaction)   →   Guardrails-develop (GLiNER zero-shot PII rail)   →   Azure AI Language PII detection (optional client-facing service)   →   garak-main (ProPILE leakage probes, offline)   →   hai-guardrails-main PHI regexes ported into Presidio</a:t>
            </a:r>
          </a:p>
        </p:txBody>
      </p:sp>
      <p:sp>
        <p:nvSpPr>
          <p:cNvPr id="11" name="Rectangle 10"/>
          <p:cNvSpPr/>
          <p:nvPr/>
        </p:nvSpPr>
        <p:spPr>
          <a:xfrm>
            <a:off x="502920" y="3931920"/>
            <a:ext cx="82296" cy="2423160"/>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931920"/>
            <a:ext cx="4114800" cy="274320"/>
          </a:xfrm>
          <a:prstGeom prst="rect">
            <a:avLst/>
          </a:prstGeom>
          <a:noFill/>
        </p:spPr>
        <p:txBody>
          <a:bodyPr wrap="square" anchor="t" lIns="0" rIns="0" tIns="0" bIns="0">
            <a:spAutoFit/>
          </a:bodyPr>
          <a:lstStyle/>
          <a:p>
            <a:pPr algn="l">
              <a:lnSpc>
                <a:spcPct val="100000"/>
              </a:lnSpc>
            </a:pPr>
            <a:r>
              <a:rPr sz="1400" b="1" i="0">
                <a:solidFill>
                  <a:srgbClr val="10243E"/>
                </a:solidFill>
                <a:latin typeface="Calibri"/>
              </a:rPr>
              <a:t>Security</a:t>
            </a:r>
          </a:p>
        </p:txBody>
      </p:sp>
      <p:sp>
        <p:nvSpPr>
          <p:cNvPr id="13" name="TextBox 12"/>
          <p:cNvSpPr txBox="1"/>
          <p:nvPr/>
        </p:nvSpPr>
        <p:spPr>
          <a:xfrm>
            <a:off x="713232" y="4261104"/>
            <a:ext cx="10881360" cy="457200"/>
          </a:xfrm>
          <a:prstGeom prst="rect">
            <a:avLst/>
          </a:prstGeom>
          <a:noFill/>
        </p:spPr>
        <p:txBody>
          <a:bodyPr wrap="square" anchor="t" lIns="0" rIns="0" tIns="0" bIns="0">
            <a:spAutoFit/>
          </a:bodyPr>
          <a:lstStyle/>
          <a:p>
            <a:pPr algn="l">
              <a:lnSpc>
                <a:spcPct val="105000"/>
              </a:lnSpc>
            </a:pPr>
            <a:r>
              <a:rPr sz="1080" b="0" i="1">
                <a:solidFill>
                  <a:srgbClr val="5B6B7D"/>
                </a:solidFill>
                <a:latin typeface="Calibri"/>
              </a:rPr>
              <a:t>Cheap deterministic screens first, a local classifier second, a cloud shield third, all continuously attacked offline.</a:t>
            </a:r>
          </a:p>
        </p:txBody>
      </p:sp>
      <p:sp>
        <p:nvSpPr>
          <p:cNvPr id="14" name="TextBox 13"/>
          <p:cNvSpPr txBox="1"/>
          <p:nvPr/>
        </p:nvSpPr>
        <p:spPr>
          <a:xfrm>
            <a:off x="713232" y="4754880"/>
            <a:ext cx="10881360" cy="1527048"/>
          </a:xfrm>
          <a:prstGeom prst="rect">
            <a:avLst/>
          </a:prstGeom>
          <a:noFill/>
        </p:spPr>
        <p:txBody>
          <a:bodyPr wrap="square" anchor="t" lIns="0" rIns="0" tIns="0" bIns="0">
            <a:spAutoFit/>
          </a:bodyPr>
          <a:lstStyle/>
          <a:p>
            <a:pPr algn="l">
              <a:lnSpc>
                <a:spcPct val="122000"/>
              </a:lnSpc>
            </a:pPr>
            <a:r>
              <a:rPr sz="1030" b="0" i="0">
                <a:solidFill>
                  <a:srgbClr val="1A1A2E"/>
                </a:solidFill>
                <a:latin typeface="Calibri"/>
              </a:rPr>
              <a:t>llm-guard-main (DeBERTa-v3 prompt-injection classifier, Secrets, InvisibleText)   →   Guardrails-develop (YARA injection rules, perplexity heuristics, context-bloat, tool-schema validation)   →   Azure AI Content Safety Prompt Shields (third opinion on high-risk traffic)   →   PyRIT-main (offline multi-turn attacks and OWASP output scorers)   →   garak-main (second offline scanner and shields up/down guardrail audit)</a:t>
            </a:r>
          </a:p>
        </p:txBody>
      </p:sp>
      <p:sp>
        <p:nvSpPr>
          <p:cNvPr id="15" name="Rectangle 14"/>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7" name="TextBox 16"/>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Per-Tenet Stack</a:t>
            </a:r>
          </a:p>
        </p:txBody>
      </p:sp>
      <p:sp>
        <p:nvSpPr>
          <p:cNvPr id="18" name="TextBox 1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71</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THE UNIFIED DESIGN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Per-Tenet Stack (2 of 4)</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82296" cy="2423160"/>
          </a:xfrm>
          <a:prstGeom prst="rect">
            <a:avLst/>
          </a:prstGeom>
          <a:solidFill>
            <a:srgbClr val="6A4C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71600"/>
            <a:ext cx="4114800" cy="274320"/>
          </a:xfrm>
          <a:prstGeom prst="rect">
            <a:avLst/>
          </a:prstGeom>
          <a:noFill/>
        </p:spPr>
        <p:txBody>
          <a:bodyPr wrap="square" anchor="t" lIns="0" rIns="0" tIns="0" bIns="0">
            <a:spAutoFit/>
          </a:bodyPr>
          <a:lstStyle/>
          <a:p>
            <a:pPr algn="l">
              <a:lnSpc>
                <a:spcPct val="100000"/>
              </a:lnSpc>
            </a:pPr>
            <a:r>
              <a:rPr sz="1400" b="1" i="0">
                <a:solidFill>
                  <a:srgbClr val="10243E"/>
                </a:solidFill>
                <a:latin typeface="Calibri"/>
              </a:rPr>
              <a:t>Fairness &amp; Bias</a:t>
            </a:r>
          </a:p>
        </p:txBody>
      </p:sp>
      <p:sp>
        <p:nvSpPr>
          <p:cNvPr id="9" name="TextBox 8"/>
          <p:cNvSpPr txBox="1"/>
          <p:nvPr/>
        </p:nvSpPr>
        <p:spPr>
          <a:xfrm>
            <a:off x="713232" y="1700784"/>
            <a:ext cx="10881360" cy="457200"/>
          </a:xfrm>
          <a:prstGeom prst="rect">
            <a:avLst/>
          </a:prstGeom>
          <a:noFill/>
        </p:spPr>
        <p:txBody>
          <a:bodyPr wrap="square" anchor="t" lIns="0" rIns="0" tIns="0" bIns="0">
            <a:spAutoFit/>
          </a:bodyPr>
          <a:lstStyle/>
          <a:p>
            <a:pPr algn="l">
              <a:lnSpc>
                <a:spcPct val="105000"/>
              </a:lnSpc>
            </a:pPr>
            <a:r>
              <a:rPr sz="1080" b="0" i="1">
                <a:solidFill>
                  <a:srgbClr val="5B6B7D"/>
                </a:solidFill>
                <a:latin typeface="Calibri"/>
              </a:rPr>
              <a:t>Measured in scheduled batch jobs and CI, never enforced on a single live response, because bias is a pattern not an event.</a:t>
            </a:r>
          </a:p>
        </p:txBody>
      </p:sp>
      <p:sp>
        <p:nvSpPr>
          <p:cNvPr id="10" name="TextBox 9"/>
          <p:cNvSpPr txBox="1"/>
          <p:nvPr/>
        </p:nvSpPr>
        <p:spPr>
          <a:xfrm>
            <a:off x="713232" y="2194560"/>
            <a:ext cx="10881360" cy="1527048"/>
          </a:xfrm>
          <a:prstGeom prst="rect">
            <a:avLst/>
          </a:prstGeom>
          <a:noFill/>
        </p:spPr>
        <p:txBody>
          <a:bodyPr wrap="square" anchor="t" lIns="0" rIns="0" tIns="0" bIns="0">
            <a:spAutoFit/>
          </a:bodyPr>
          <a:lstStyle/>
          <a:p>
            <a:pPr algn="l">
              <a:lnSpc>
                <a:spcPct val="122000"/>
              </a:lnSpc>
            </a:pPr>
            <a:r>
              <a:rPr sz="1030" b="0" i="0">
                <a:solidFill>
                  <a:srgbClr val="1A1A2E"/>
                </a:solidFill>
                <a:latin typeface="Calibri"/>
              </a:rPr>
              <a:t>fairlearn-main (group metrics, mitigation, intersectional analysis)   →   AIF360-main (MDSS and FACTS subgroup discovery)   →   promptfoo-main (LLM bias red-team plugins in CI)   →   shap-master (feature-level decomposition of outcome gaps)</a:t>
            </a:r>
          </a:p>
        </p:txBody>
      </p:sp>
      <p:sp>
        <p:nvSpPr>
          <p:cNvPr id="11" name="Rectangle 10"/>
          <p:cNvSpPr/>
          <p:nvPr/>
        </p:nvSpPr>
        <p:spPr>
          <a:xfrm>
            <a:off x="502920" y="3931920"/>
            <a:ext cx="82296" cy="2423160"/>
          </a:xfrm>
          <a:prstGeom prst="rect">
            <a:avLst/>
          </a:prstGeom>
          <a:solidFill>
            <a:srgbClr val="E08E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931920"/>
            <a:ext cx="4114800" cy="274320"/>
          </a:xfrm>
          <a:prstGeom prst="rect">
            <a:avLst/>
          </a:prstGeom>
          <a:noFill/>
        </p:spPr>
        <p:txBody>
          <a:bodyPr wrap="square" anchor="t" lIns="0" rIns="0" tIns="0" bIns="0">
            <a:spAutoFit/>
          </a:bodyPr>
          <a:lstStyle/>
          <a:p>
            <a:pPr algn="l">
              <a:lnSpc>
                <a:spcPct val="100000"/>
              </a:lnSpc>
            </a:pPr>
            <a:r>
              <a:rPr sz="1400" b="1" i="0">
                <a:solidFill>
                  <a:srgbClr val="10243E"/>
                </a:solidFill>
                <a:latin typeface="Calibri"/>
              </a:rPr>
              <a:t>Explainability &amp; Transparency</a:t>
            </a:r>
          </a:p>
        </p:txBody>
      </p:sp>
      <p:sp>
        <p:nvSpPr>
          <p:cNvPr id="13" name="TextBox 12"/>
          <p:cNvSpPr txBox="1"/>
          <p:nvPr/>
        </p:nvSpPr>
        <p:spPr>
          <a:xfrm>
            <a:off x="713232" y="4261104"/>
            <a:ext cx="10881360" cy="457200"/>
          </a:xfrm>
          <a:prstGeom prst="rect">
            <a:avLst/>
          </a:prstGeom>
          <a:noFill/>
        </p:spPr>
        <p:txBody>
          <a:bodyPr wrap="square" anchor="t" lIns="0" rIns="0" tIns="0" bIns="0">
            <a:spAutoFit/>
          </a:bodyPr>
          <a:lstStyle/>
          <a:p>
            <a:pPr algn="l">
              <a:lnSpc>
                <a:spcPct val="105000"/>
              </a:lnSpc>
            </a:pPr>
            <a:r>
              <a:rPr sz="1080" b="0" i="1">
                <a:solidFill>
                  <a:srgbClr val="5B6B7D"/>
                </a:solidFill>
                <a:latin typeface="Calibri"/>
              </a:rPr>
              <a:t>Explain the model with SHAP, explain the guardrail with a structured verdict, explain policy judgments with a versioned rubric.</a:t>
            </a:r>
          </a:p>
        </p:txBody>
      </p:sp>
      <p:sp>
        <p:nvSpPr>
          <p:cNvPr id="14" name="TextBox 13"/>
          <p:cNvSpPr txBox="1"/>
          <p:nvPr/>
        </p:nvSpPr>
        <p:spPr>
          <a:xfrm>
            <a:off x="713232" y="4754880"/>
            <a:ext cx="10881360" cy="1527048"/>
          </a:xfrm>
          <a:prstGeom prst="rect">
            <a:avLst/>
          </a:prstGeom>
          <a:noFill/>
        </p:spPr>
        <p:txBody>
          <a:bodyPr wrap="square" anchor="t" lIns="0" rIns="0" tIns="0" bIns="0">
            <a:spAutoFit/>
          </a:bodyPr>
          <a:lstStyle/>
          <a:p>
            <a:pPr algn="l">
              <a:lnSpc>
                <a:spcPct val="122000"/>
              </a:lnSpc>
            </a:pPr>
            <a:r>
              <a:rPr sz="1030" b="0" i="0">
                <a:solidFill>
                  <a:srgbClr val="1A1A2E"/>
                </a:solidFill>
                <a:latin typeface="Calibri"/>
              </a:rPr>
              <a:t>shap-master (feature attribution for tabular and text models)   →   deepeval-main (G-Eval and DAG policy rubrics with written reasons)   →   OpenGuardrails Verdict schema (per-finding score, severity, detector, span)</a:t>
            </a:r>
          </a:p>
        </p:txBody>
      </p:sp>
      <p:sp>
        <p:nvSpPr>
          <p:cNvPr id="15" name="Rectangle 14"/>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7" name="TextBox 16"/>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Per-Tenet Stack</a:t>
            </a:r>
          </a:p>
        </p:txBody>
      </p:sp>
      <p:sp>
        <p:nvSpPr>
          <p:cNvPr id="18" name="TextBox 1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72</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THE UNIFIED DESIGN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Per-Tenet Stack (3 of 4)</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82296" cy="2423160"/>
          </a:xfrm>
          <a:prstGeom prst="rect">
            <a:avLst/>
          </a:prstGeom>
          <a:solidFill>
            <a:srgbClr val="E76F5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71600"/>
            <a:ext cx="4114800" cy="274320"/>
          </a:xfrm>
          <a:prstGeom prst="rect">
            <a:avLst/>
          </a:prstGeom>
          <a:noFill/>
        </p:spPr>
        <p:txBody>
          <a:bodyPr wrap="square" anchor="t" lIns="0" rIns="0" tIns="0" bIns="0">
            <a:spAutoFit/>
          </a:bodyPr>
          <a:lstStyle/>
          <a:p>
            <a:pPr algn="l">
              <a:lnSpc>
                <a:spcPct val="100000"/>
              </a:lnSpc>
            </a:pPr>
            <a:r>
              <a:rPr sz="1400" b="1" i="0">
                <a:solidFill>
                  <a:srgbClr val="10243E"/>
                </a:solidFill>
                <a:latin typeface="Calibri"/>
              </a:rPr>
              <a:t>Profanity / Content Safety</a:t>
            </a:r>
          </a:p>
        </p:txBody>
      </p:sp>
      <p:sp>
        <p:nvSpPr>
          <p:cNvPr id="9" name="TextBox 8"/>
          <p:cNvSpPr txBox="1"/>
          <p:nvPr/>
        </p:nvSpPr>
        <p:spPr>
          <a:xfrm>
            <a:off x="713232" y="1700784"/>
            <a:ext cx="10881360" cy="457200"/>
          </a:xfrm>
          <a:prstGeom prst="rect">
            <a:avLst/>
          </a:prstGeom>
          <a:noFill/>
        </p:spPr>
        <p:txBody>
          <a:bodyPr wrap="square" anchor="t" lIns="0" rIns="0" tIns="0" bIns="0">
            <a:spAutoFit/>
          </a:bodyPr>
          <a:lstStyle/>
          <a:p>
            <a:pPr algn="l">
              <a:lnSpc>
                <a:spcPct val="105000"/>
              </a:lnSpc>
            </a:pPr>
            <a:r>
              <a:rPr sz="1080" b="0" i="1">
                <a:solidFill>
                  <a:srgbClr val="5B6B7D"/>
                </a:solidFill>
                <a:latin typeface="Calibri"/>
              </a:rPr>
              <a:t>Local classifier for volume, a dedicated guard model for borderline cases, a cloud filter for the audit trail, never one filter alone.</a:t>
            </a:r>
          </a:p>
        </p:txBody>
      </p:sp>
      <p:sp>
        <p:nvSpPr>
          <p:cNvPr id="10" name="TextBox 9"/>
          <p:cNvSpPr txBox="1"/>
          <p:nvPr/>
        </p:nvSpPr>
        <p:spPr>
          <a:xfrm>
            <a:off x="713232" y="2194560"/>
            <a:ext cx="10881360" cy="1527048"/>
          </a:xfrm>
          <a:prstGeom prst="rect">
            <a:avLst/>
          </a:prstGeom>
          <a:noFill/>
        </p:spPr>
        <p:txBody>
          <a:bodyPr wrap="square" anchor="t" lIns="0" rIns="0" tIns="0" bIns="0">
            <a:spAutoFit/>
          </a:bodyPr>
          <a:lstStyle/>
          <a:p>
            <a:pPr algn="l">
              <a:lnSpc>
                <a:spcPct val="122000"/>
              </a:lnSpc>
            </a:pPr>
            <a:r>
              <a:rPr sz="1030" b="0" i="0">
                <a:solidFill>
                  <a:srgbClr val="1A1A2E"/>
                </a:solidFill>
                <a:latin typeface="Calibri"/>
              </a:rPr>
              <a:t>llm-guard-main (local toxicity classifier, BanTopics, BanSubstrings)   →   Guardrails-develop routing to Llama Guard 3 or Azure AI Content Safety with custom blocklists   →   promptfoo-main (HarmBench, BeaverTails, DoNotAnswer, XSTest corpora in CI)</a:t>
            </a:r>
          </a:p>
        </p:txBody>
      </p:sp>
      <p:sp>
        <p:nvSpPr>
          <p:cNvPr id="11" name="Rectangle 10"/>
          <p:cNvSpPr/>
          <p:nvPr/>
        </p:nvSpPr>
        <p:spPr>
          <a:xfrm>
            <a:off x="502920" y="3931920"/>
            <a:ext cx="82296" cy="2423160"/>
          </a:xfrm>
          <a:prstGeom prst="rect">
            <a:avLst/>
          </a:prstGeom>
          <a:solidFill>
            <a:srgbClr val="218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3232" y="3931920"/>
            <a:ext cx="4114800" cy="274320"/>
          </a:xfrm>
          <a:prstGeom prst="rect">
            <a:avLst/>
          </a:prstGeom>
          <a:noFill/>
        </p:spPr>
        <p:txBody>
          <a:bodyPr wrap="square" anchor="t" lIns="0" rIns="0" tIns="0" bIns="0">
            <a:spAutoFit/>
          </a:bodyPr>
          <a:lstStyle/>
          <a:p>
            <a:pPr algn="l">
              <a:lnSpc>
                <a:spcPct val="100000"/>
              </a:lnSpc>
            </a:pPr>
            <a:r>
              <a:rPr sz="1400" b="1" i="0">
                <a:solidFill>
                  <a:srgbClr val="10243E"/>
                </a:solidFill>
                <a:latin typeface="Calibri"/>
              </a:rPr>
              <a:t>Hallucination / Reliability</a:t>
            </a:r>
          </a:p>
        </p:txBody>
      </p:sp>
      <p:sp>
        <p:nvSpPr>
          <p:cNvPr id="13" name="TextBox 12"/>
          <p:cNvSpPr txBox="1"/>
          <p:nvPr/>
        </p:nvSpPr>
        <p:spPr>
          <a:xfrm>
            <a:off x="713232" y="4261104"/>
            <a:ext cx="10881360" cy="457200"/>
          </a:xfrm>
          <a:prstGeom prst="rect">
            <a:avLst/>
          </a:prstGeom>
          <a:noFill/>
        </p:spPr>
        <p:txBody>
          <a:bodyPr wrap="square" anchor="t" lIns="0" rIns="0" tIns="0" bIns="0">
            <a:spAutoFit/>
          </a:bodyPr>
          <a:lstStyle/>
          <a:p>
            <a:pPr algn="l">
              <a:lnSpc>
                <a:spcPct val="105000"/>
              </a:lnSpc>
            </a:pPr>
            <a:r>
              <a:rPr sz="1080" b="0" i="1">
                <a:solidFill>
                  <a:srgbClr val="5B6B7D"/>
                </a:solidFill>
                <a:latin typeface="Calibri"/>
              </a:rPr>
              <a:t>One cheap local groundedness score on every response, with the diagnostic RAG metrics run offline where they are affordable.</a:t>
            </a:r>
          </a:p>
        </p:txBody>
      </p:sp>
      <p:sp>
        <p:nvSpPr>
          <p:cNvPr id="14" name="TextBox 13"/>
          <p:cNvSpPr txBox="1"/>
          <p:nvPr/>
        </p:nvSpPr>
        <p:spPr>
          <a:xfrm>
            <a:off x="713232" y="4754880"/>
            <a:ext cx="10881360" cy="1527048"/>
          </a:xfrm>
          <a:prstGeom prst="rect">
            <a:avLst/>
          </a:prstGeom>
          <a:noFill/>
        </p:spPr>
        <p:txBody>
          <a:bodyPr wrap="square" anchor="t" lIns="0" rIns="0" tIns="0" bIns="0">
            <a:spAutoFit/>
          </a:bodyPr>
          <a:lstStyle/>
          <a:p>
            <a:pPr algn="l">
              <a:lnSpc>
                <a:spcPct val="122000"/>
              </a:lnSpc>
            </a:pPr>
            <a:r>
              <a:rPr sz="1030" b="0" i="0">
                <a:solidFill>
                  <a:srgbClr val="1A1A2E"/>
                </a:solidFill>
                <a:latin typeface="Calibri"/>
              </a:rPr>
              <a:t>llm-guard-main (cross-encoder NLI FactualConsistency at runtime)   →   deepeval-main (faithfulness, contextual precision/recall/relevancy offline)   →   Azure AI Content Safety groundedness detection (regulated RAG flows)   →   deepchecks-main drift suite in a scheduled job (subject to AGPL clearance)</a:t>
            </a:r>
          </a:p>
        </p:txBody>
      </p:sp>
      <p:sp>
        <p:nvSpPr>
          <p:cNvPr id="15" name="Rectangle 14"/>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7" name="TextBox 16"/>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Per-Tenet Stack</a:t>
            </a:r>
          </a:p>
        </p:txBody>
      </p:sp>
      <p:sp>
        <p:nvSpPr>
          <p:cNvPr id="18" name="TextBox 17"/>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73</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THE UNIFIED DESIGN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Per-Tenet Stack (4 of 4)</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02920" y="1371600"/>
            <a:ext cx="82296" cy="2423160"/>
          </a:xfrm>
          <a:prstGeom prst="rect">
            <a:avLst/>
          </a:prstGeom>
          <a:solidFill>
            <a:srgbClr val="4A63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371600"/>
            <a:ext cx="4114800" cy="274320"/>
          </a:xfrm>
          <a:prstGeom prst="rect">
            <a:avLst/>
          </a:prstGeom>
          <a:noFill/>
        </p:spPr>
        <p:txBody>
          <a:bodyPr wrap="square" anchor="t" lIns="0" rIns="0" tIns="0" bIns="0">
            <a:spAutoFit/>
          </a:bodyPr>
          <a:lstStyle/>
          <a:p>
            <a:pPr algn="l">
              <a:lnSpc>
                <a:spcPct val="100000"/>
              </a:lnSpc>
            </a:pPr>
            <a:r>
              <a:rPr sz="1400" b="1" i="0">
                <a:solidFill>
                  <a:srgbClr val="10243E"/>
                </a:solidFill>
                <a:latin typeface="Calibri"/>
              </a:rPr>
              <a:t>Accountability</a:t>
            </a:r>
          </a:p>
        </p:txBody>
      </p:sp>
      <p:sp>
        <p:nvSpPr>
          <p:cNvPr id="9" name="TextBox 8"/>
          <p:cNvSpPr txBox="1"/>
          <p:nvPr/>
        </p:nvSpPr>
        <p:spPr>
          <a:xfrm>
            <a:off x="713232" y="1700784"/>
            <a:ext cx="10881360" cy="457200"/>
          </a:xfrm>
          <a:prstGeom prst="rect">
            <a:avLst/>
          </a:prstGeom>
          <a:noFill/>
        </p:spPr>
        <p:txBody>
          <a:bodyPr wrap="square" anchor="t" lIns="0" rIns="0" tIns="0" bIns="0">
            <a:spAutoFit/>
          </a:bodyPr>
          <a:lstStyle/>
          <a:p>
            <a:pPr algn="l">
              <a:lnSpc>
                <a:spcPct val="105000"/>
              </a:lnSpc>
            </a:pPr>
            <a:r>
              <a:rPr sz="1080" b="0" i="1">
                <a:solidFill>
                  <a:srgbClr val="5B6B7D"/>
                </a:solidFill>
                <a:latin typeface="Calibri"/>
              </a:rPr>
              <a:t>One record shape for every decision, a named owner per tenet, and a measured accuracy figure per detector rather than a vendor claim.</a:t>
            </a:r>
          </a:p>
        </p:txBody>
      </p:sp>
      <p:sp>
        <p:nvSpPr>
          <p:cNvPr id="10" name="TextBox 9"/>
          <p:cNvSpPr txBox="1"/>
          <p:nvPr/>
        </p:nvSpPr>
        <p:spPr>
          <a:xfrm>
            <a:off x="713232" y="2194560"/>
            <a:ext cx="10881360" cy="1527048"/>
          </a:xfrm>
          <a:prstGeom prst="rect">
            <a:avLst/>
          </a:prstGeom>
          <a:noFill/>
        </p:spPr>
        <p:txBody>
          <a:bodyPr wrap="square" anchor="t" lIns="0" rIns="0" tIns="0" bIns="0">
            <a:spAutoFit/>
          </a:bodyPr>
          <a:lstStyle/>
          <a:p>
            <a:pPr algn="l">
              <a:lnSpc>
                <a:spcPct val="122000"/>
              </a:lnSpc>
            </a:pPr>
            <a:r>
              <a:rPr sz="1030" b="0" i="0">
                <a:solidFill>
                  <a:srgbClr val="1A1A2E"/>
                </a:solidFill>
                <a:latin typeface="Calibri"/>
              </a:rPr>
              <a:t>openguardrails-main (GuardEvent and Verdict schema, taxonomy, fail-closed contract)   →   PyRIT-main (memory persistence, harm taxonomy, scorer accuracy vs human labels)   →   promptfoo-main (OWASP, NIST, EU AI Act mapped reports from CI)   →   Azure Monitor and Application Insights for guardrail telemetry</a:t>
            </a:r>
          </a:p>
        </p:txBody>
      </p:sp>
      <p:sp>
        <p:nvSpPr>
          <p:cNvPr id="11" name="Rectangle 10"/>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3" name="TextBox 12"/>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Per-Tenet Stack</a:t>
            </a:r>
          </a:p>
        </p:txBody>
      </p:sp>
      <p:sp>
        <p:nvSpPr>
          <p:cNvPr id="14" name="TextBox 13"/>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BUILD PLAN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One Pass, No Phases - Overview</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325880"/>
            <a:ext cx="11064240" cy="457200"/>
          </a:xfrm>
          <a:prstGeom prst="rect">
            <a:avLst/>
          </a:prstGeom>
          <a:noFill/>
        </p:spPr>
        <p:txBody>
          <a:bodyPr wrap="square" anchor="t" lIns="0" rIns="0" tIns="0" bIns="0">
            <a:spAutoFit/>
          </a:bodyPr>
          <a:lstStyle/>
          <a:p>
            <a:pPr algn="l">
              <a:lnSpc>
                <a:spcPct val="125000"/>
              </a:lnSpc>
            </a:pPr>
            <a:r>
              <a:rPr sz="1250" b="0" i="0">
                <a:solidFill>
                  <a:srgbClr val="1A1A2E"/>
                </a:solidFill>
                <a:latin typeface="Calibri"/>
              </a:rPr>
              <a:t>AFNI builds the whole platform as one body of work. There is no 30 / 60 / 90-day rollout: every item below is in scope now, and the only ordering that matters is the runtime cost cascade, which is a per-request decision rather than a date.</a:t>
            </a:r>
          </a:p>
        </p:txBody>
      </p:sp>
      <p:sp>
        <p:nvSpPr>
          <p:cNvPr id="8" name="Rounded Rectangle 7"/>
          <p:cNvSpPr/>
          <p:nvPr/>
        </p:nvSpPr>
        <p:spPr>
          <a:xfrm>
            <a:off x="502920" y="2148840"/>
            <a:ext cx="3520440" cy="457200"/>
          </a:xfrm>
          <a:prstGeom prst="roundRect">
            <a:avLst>
              <a:gd name="adj" fmla="val 1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2920" y="2148840"/>
            <a:ext cx="3520440" cy="457200"/>
          </a:xfrm>
          <a:prstGeom prst="rect">
            <a:avLst/>
          </a:prstGeom>
          <a:noFill/>
        </p:spPr>
        <p:txBody>
          <a:bodyPr wrap="square" anchor="ctr" lIns="0" rIns="0" tIns="0" bIns="0">
            <a:spAutoFit/>
          </a:bodyPr>
          <a:lstStyle/>
          <a:p>
            <a:pPr algn="ctr">
              <a:lnSpc>
                <a:spcPct val="100000"/>
              </a:lnSpc>
            </a:pPr>
            <a:r>
              <a:rPr sz="1200" b="1" i="0">
                <a:solidFill>
                  <a:srgbClr val="FFFFFF"/>
                </a:solidFill>
                <a:latin typeface="Calibri"/>
              </a:rPr>
              <a:t>The runtime gateway</a:t>
            </a:r>
          </a:p>
        </p:txBody>
      </p:sp>
      <p:sp>
        <p:nvSpPr>
          <p:cNvPr id="10" name="TextBox 9"/>
          <p:cNvSpPr txBox="1"/>
          <p:nvPr/>
        </p:nvSpPr>
        <p:spPr>
          <a:xfrm>
            <a:off x="502920" y="2679192"/>
            <a:ext cx="3520440" cy="274320"/>
          </a:xfrm>
          <a:prstGeom prst="rect">
            <a:avLst/>
          </a:prstGeom>
          <a:noFill/>
        </p:spPr>
        <p:txBody>
          <a:bodyPr wrap="square" anchor="t" lIns="0" rIns="0" tIns="0" bIns="0">
            <a:spAutoFit/>
          </a:bodyPr>
          <a:lstStyle/>
          <a:p>
            <a:pPr algn="l">
              <a:lnSpc>
                <a:spcPct val="100000"/>
              </a:lnSpc>
            </a:pPr>
            <a:r>
              <a:rPr sz="1050" b="1" i="0">
                <a:solidFill>
                  <a:srgbClr val="1B9AAA"/>
                </a:solidFill>
                <a:latin typeface="Calibri"/>
              </a:rPr>
              <a:t>7 items</a:t>
            </a:r>
          </a:p>
        </p:txBody>
      </p:sp>
      <p:sp>
        <p:nvSpPr>
          <p:cNvPr id="11" name="TextBox 10"/>
          <p:cNvSpPr txBox="1"/>
          <p:nvPr/>
        </p:nvSpPr>
        <p:spPr>
          <a:xfrm>
            <a:off x="502920" y="2953512"/>
            <a:ext cx="3520440" cy="548640"/>
          </a:xfrm>
          <a:prstGeom prst="rect">
            <a:avLst/>
          </a:prstGeom>
          <a:noFill/>
        </p:spPr>
        <p:txBody>
          <a:bodyPr wrap="square" anchor="t" lIns="0" rIns="0" tIns="0" bIns="0">
            <a:spAutoFit/>
          </a:bodyPr>
          <a:lstStyle/>
          <a:p>
            <a:pPr algn="l">
              <a:lnSpc>
                <a:spcPct val="115000"/>
              </a:lnSpc>
            </a:pPr>
            <a:r>
              <a:rPr sz="1000" b="0" i="1">
                <a:solidFill>
                  <a:srgbClr val="5B6B7D"/>
                </a:solidFill>
                <a:latin typeface="Calibri"/>
              </a:rPr>
              <a:t>Everything that sits in a live request path. Ordered by cost, not by date.</a:t>
            </a:r>
          </a:p>
        </p:txBody>
      </p:sp>
      <p:sp>
        <p:nvSpPr>
          <p:cNvPr id="12" name="Rounded Rectangle 11"/>
          <p:cNvSpPr/>
          <p:nvPr/>
        </p:nvSpPr>
        <p:spPr>
          <a:xfrm>
            <a:off x="4206240" y="2148840"/>
            <a:ext cx="3520440" cy="457200"/>
          </a:xfrm>
          <a:prstGeom prst="roundRect">
            <a:avLst>
              <a:gd name="adj" fmla="val 12000"/>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06240" y="2148840"/>
            <a:ext cx="3520440" cy="457200"/>
          </a:xfrm>
          <a:prstGeom prst="rect">
            <a:avLst/>
          </a:prstGeom>
          <a:noFill/>
        </p:spPr>
        <p:txBody>
          <a:bodyPr wrap="square" anchor="ctr" lIns="0" rIns="0" tIns="0" bIns="0">
            <a:spAutoFit/>
          </a:bodyPr>
          <a:lstStyle/>
          <a:p>
            <a:pPr algn="ctr">
              <a:lnSpc>
                <a:spcPct val="100000"/>
              </a:lnSpc>
            </a:pPr>
            <a:r>
              <a:rPr sz="1200" b="1" i="0">
                <a:solidFill>
                  <a:srgbClr val="FFFFFF"/>
                </a:solidFill>
                <a:latin typeface="Calibri"/>
              </a:rPr>
              <a:t>Testing and CI</a:t>
            </a:r>
          </a:p>
        </p:txBody>
      </p:sp>
      <p:sp>
        <p:nvSpPr>
          <p:cNvPr id="14" name="TextBox 13"/>
          <p:cNvSpPr txBox="1"/>
          <p:nvPr/>
        </p:nvSpPr>
        <p:spPr>
          <a:xfrm>
            <a:off x="4206240" y="2679192"/>
            <a:ext cx="3520440" cy="274320"/>
          </a:xfrm>
          <a:prstGeom prst="rect">
            <a:avLst/>
          </a:prstGeom>
          <a:noFill/>
        </p:spPr>
        <p:txBody>
          <a:bodyPr wrap="square" anchor="t" lIns="0" rIns="0" tIns="0" bIns="0">
            <a:spAutoFit/>
          </a:bodyPr>
          <a:lstStyle/>
          <a:p>
            <a:pPr algn="l">
              <a:lnSpc>
                <a:spcPct val="100000"/>
              </a:lnSpc>
            </a:pPr>
            <a:r>
              <a:rPr sz="1050" b="1" i="0">
                <a:solidFill>
                  <a:srgbClr val="2E8B57"/>
                </a:solidFill>
                <a:latin typeface="Calibri"/>
              </a:rPr>
              <a:t>6 items</a:t>
            </a:r>
          </a:p>
        </p:txBody>
      </p:sp>
      <p:sp>
        <p:nvSpPr>
          <p:cNvPr id="15" name="TextBox 14"/>
          <p:cNvSpPr txBox="1"/>
          <p:nvPr/>
        </p:nvSpPr>
        <p:spPr>
          <a:xfrm>
            <a:off x="4206240" y="2953512"/>
            <a:ext cx="3520440" cy="548640"/>
          </a:xfrm>
          <a:prstGeom prst="rect">
            <a:avLst/>
          </a:prstGeom>
          <a:noFill/>
        </p:spPr>
        <p:txBody>
          <a:bodyPr wrap="square" anchor="t" lIns="0" rIns="0" tIns="0" bIns="0">
            <a:spAutoFit/>
          </a:bodyPr>
          <a:lstStyle/>
          <a:p>
            <a:pPr algn="l">
              <a:lnSpc>
                <a:spcPct val="115000"/>
              </a:lnSpc>
            </a:pPr>
            <a:r>
              <a:rPr sz="1000" b="0" i="1">
                <a:solidFill>
                  <a:srgbClr val="5B6B7D"/>
                </a:solidFill>
                <a:latin typeface="Calibri"/>
              </a:rPr>
              <a:t>Offline work. None of this is in a request path, and none of it can be.</a:t>
            </a:r>
          </a:p>
        </p:txBody>
      </p:sp>
      <p:sp>
        <p:nvSpPr>
          <p:cNvPr id="16" name="Rounded Rectangle 15"/>
          <p:cNvSpPr/>
          <p:nvPr/>
        </p:nvSpPr>
        <p:spPr>
          <a:xfrm>
            <a:off x="7909560" y="2148840"/>
            <a:ext cx="3520440" cy="457200"/>
          </a:xfrm>
          <a:prstGeom prst="roundRect">
            <a:avLst>
              <a:gd name="adj" fmla="val 12000"/>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909560" y="2148840"/>
            <a:ext cx="3520440" cy="457200"/>
          </a:xfrm>
          <a:prstGeom prst="rect">
            <a:avLst/>
          </a:prstGeom>
          <a:noFill/>
        </p:spPr>
        <p:txBody>
          <a:bodyPr wrap="square" anchor="ctr" lIns="0" rIns="0" tIns="0" bIns="0">
            <a:spAutoFit/>
          </a:bodyPr>
          <a:lstStyle/>
          <a:p>
            <a:pPr algn="ctr">
              <a:lnSpc>
                <a:spcPct val="100000"/>
              </a:lnSpc>
            </a:pPr>
            <a:r>
              <a:rPr sz="1200" b="1" i="0">
                <a:solidFill>
                  <a:srgbClr val="FFFFFF"/>
                </a:solidFill>
                <a:latin typeface="Calibri"/>
              </a:rPr>
              <a:t>Measurement</a:t>
            </a:r>
          </a:p>
        </p:txBody>
      </p:sp>
      <p:sp>
        <p:nvSpPr>
          <p:cNvPr id="18" name="TextBox 17"/>
          <p:cNvSpPr txBox="1"/>
          <p:nvPr/>
        </p:nvSpPr>
        <p:spPr>
          <a:xfrm>
            <a:off x="7909560" y="2679192"/>
            <a:ext cx="3520440" cy="274320"/>
          </a:xfrm>
          <a:prstGeom prst="rect">
            <a:avLst/>
          </a:prstGeom>
          <a:noFill/>
        </p:spPr>
        <p:txBody>
          <a:bodyPr wrap="square" anchor="t" lIns="0" rIns="0" tIns="0" bIns="0">
            <a:spAutoFit/>
          </a:bodyPr>
          <a:lstStyle/>
          <a:p>
            <a:pPr algn="l">
              <a:lnSpc>
                <a:spcPct val="100000"/>
              </a:lnSpc>
            </a:pPr>
            <a:r>
              <a:rPr sz="1050" b="1" i="0">
                <a:solidFill>
                  <a:srgbClr val="E88C00"/>
                </a:solidFill>
                <a:latin typeface="Calibri"/>
              </a:rPr>
              <a:t>2 items</a:t>
            </a:r>
          </a:p>
        </p:txBody>
      </p:sp>
      <p:sp>
        <p:nvSpPr>
          <p:cNvPr id="19" name="TextBox 18"/>
          <p:cNvSpPr txBox="1"/>
          <p:nvPr/>
        </p:nvSpPr>
        <p:spPr>
          <a:xfrm>
            <a:off x="7909560" y="2953512"/>
            <a:ext cx="3520440" cy="548640"/>
          </a:xfrm>
          <a:prstGeom prst="rect">
            <a:avLst/>
          </a:prstGeom>
          <a:noFill/>
        </p:spPr>
        <p:txBody>
          <a:bodyPr wrap="square" anchor="t" lIns="0" rIns="0" tIns="0" bIns="0">
            <a:spAutoFit/>
          </a:bodyPr>
          <a:lstStyle/>
          <a:p>
            <a:pPr algn="l">
              <a:lnSpc>
                <a:spcPct val="115000"/>
              </a:lnSpc>
            </a:pPr>
            <a:r>
              <a:rPr sz="1000" b="0" i="1">
                <a:solidFill>
                  <a:srgbClr val="5B6B7D"/>
                </a:solidFill>
                <a:latin typeface="Calibri"/>
              </a:rPr>
              <a:t>The part nobody does. Without it every accuracy claim is a vendor's word.</a:t>
            </a:r>
          </a:p>
        </p:txBody>
      </p:sp>
      <p:sp>
        <p:nvSpPr>
          <p:cNvPr id="20" name="Rounded Rectangle 19"/>
          <p:cNvSpPr/>
          <p:nvPr/>
        </p:nvSpPr>
        <p:spPr>
          <a:xfrm>
            <a:off x="502920" y="3566160"/>
            <a:ext cx="3520440" cy="457200"/>
          </a:xfrm>
          <a:prstGeom prst="roundRect">
            <a:avLst>
              <a:gd name="adj" fmla="val 12000"/>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566160"/>
            <a:ext cx="3520440" cy="457200"/>
          </a:xfrm>
          <a:prstGeom prst="rect">
            <a:avLst/>
          </a:prstGeom>
          <a:noFill/>
        </p:spPr>
        <p:txBody>
          <a:bodyPr wrap="square" anchor="ctr" lIns="0" rIns="0" tIns="0" bIns="0">
            <a:spAutoFit/>
          </a:bodyPr>
          <a:lstStyle/>
          <a:p>
            <a:pPr algn="ctr">
              <a:lnSpc>
                <a:spcPct val="100000"/>
              </a:lnSpc>
            </a:pPr>
            <a:r>
              <a:rPr sz="1200" b="1" i="0">
                <a:solidFill>
                  <a:srgbClr val="FFFFFF"/>
                </a:solidFill>
                <a:latin typeface="Calibri"/>
              </a:rPr>
              <a:t>Fairness and explainability</a:t>
            </a:r>
          </a:p>
        </p:txBody>
      </p:sp>
      <p:sp>
        <p:nvSpPr>
          <p:cNvPr id="22" name="TextBox 21"/>
          <p:cNvSpPr txBox="1"/>
          <p:nvPr/>
        </p:nvSpPr>
        <p:spPr>
          <a:xfrm>
            <a:off x="502920" y="4096512"/>
            <a:ext cx="3520440" cy="274320"/>
          </a:xfrm>
          <a:prstGeom prst="rect">
            <a:avLst/>
          </a:prstGeom>
          <a:noFill/>
        </p:spPr>
        <p:txBody>
          <a:bodyPr wrap="square" anchor="t" lIns="0" rIns="0" tIns="0" bIns="0">
            <a:spAutoFit/>
          </a:bodyPr>
          <a:lstStyle/>
          <a:p>
            <a:pPr algn="l">
              <a:lnSpc>
                <a:spcPct val="100000"/>
              </a:lnSpc>
            </a:pPr>
            <a:r>
              <a:rPr sz="1050" b="1" i="0">
                <a:solidFill>
                  <a:srgbClr val="E88C00"/>
                </a:solidFill>
                <a:latin typeface="Calibri"/>
              </a:rPr>
              <a:t>2 items</a:t>
            </a:r>
          </a:p>
        </p:txBody>
      </p:sp>
      <p:sp>
        <p:nvSpPr>
          <p:cNvPr id="23" name="TextBox 22"/>
          <p:cNvSpPr txBox="1"/>
          <p:nvPr/>
        </p:nvSpPr>
        <p:spPr>
          <a:xfrm>
            <a:off x="502920" y="4370832"/>
            <a:ext cx="3520440" cy="548640"/>
          </a:xfrm>
          <a:prstGeom prst="rect">
            <a:avLst/>
          </a:prstGeom>
          <a:noFill/>
        </p:spPr>
        <p:txBody>
          <a:bodyPr wrap="square" anchor="t" lIns="0" rIns="0" tIns="0" bIns="0">
            <a:spAutoFit/>
          </a:bodyPr>
          <a:lstStyle/>
          <a:p>
            <a:pPr algn="l">
              <a:lnSpc>
                <a:spcPct val="115000"/>
              </a:lnSpc>
            </a:pPr>
            <a:r>
              <a:rPr sz="1000" b="0" i="1">
                <a:solidFill>
                  <a:srgbClr val="5B6B7D"/>
                </a:solidFill>
                <a:latin typeface="Calibri"/>
              </a:rPr>
              <a:t>Scheduled batch jobs. One response is not a fairness measurement.</a:t>
            </a:r>
          </a:p>
        </p:txBody>
      </p:sp>
      <p:sp>
        <p:nvSpPr>
          <p:cNvPr id="24" name="Rounded Rectangle 23"/>
          <p:cNvSpPr/>
          <p:nvPr/>
        </p:nvSpPr>
        <p:spPr>
          <a:xfrm>
            <a:off x="4206240" y="3566160"/>
            <a:ext cx="3520440" cy="457200"/>
          </a:xfrm>
          <a:prstGeom prst="roundRect">
            <a:avLst>
              <a:gd name="adj" fmla="val 12000"/>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206240" y="3566160"/>
            <a:ext cx="3520440" cy="457200"/>
          </a:xfrm>
          <a:prstGeom prst="rect">
            <a:avLst/>
          </a:prstGeom>
          <a:noFill/>
        </p:spPr>
        <p:txBody>
          <a:bodyPr wrap="square" anchor="ctr" lIns="0" rIns="0" tIns="0" bIns="0">
            <a:spAutoFit/>
          </a:bodyPr>
          <a:lstStyle/>
          <a:p>
            <a:pPr algn="ctr">
              <a:lnSpc>
                <a:spcPct val="100000"/>
              </a:lnSpc>
            </a:pPr>
            <a:r>
              <a:rPr sz="1200" b="1" i="0">
                <a:solidFill>
                  <a:srgbClr val="FFFFFF"/>
                </a:solidFill>
                <a:latin typeface="Calibri"/>
              </a:rPr>
              <a:t>Governance and accountability</a:t>
            </a:r>
          </a:p>
        </p:txBody>
      </p:sp>
      <p:sp>
        <p:nvSpPr>
          <p:cNvPr id="26" name="TextBox 25"/>
          <p:cNvSpPr txBox="1"/>
          <p:nvPr/>
        </p:nvSpPr>
        <p:spPr>
          <a:xfrm>
            <a:off x="4206240" y="4096512"/>
            <a:ext cx="3520440" cy="274320"/>
          </a:xfrm>
          <a:prstGeom prst="rect">
            <a:avLst/>
          </a:prstGeom>
          <a:noFill/>
        </p:spPr>
        <p:txBody>
          <a:bodyPr wrap="square" anchor="t" lIns="0" rIns="0" tIns="0" bIns="0">
            <a:spAutoFit/>
          </a:bodyPr>
          <a:lstStyle/>
          <a:p>
            <a:pPr algn="l">
              <a:lnSpc>
                <a:spcPct val="100000"/>
              </a:lnSpc>
            </a:pPr>
            <a:r>
              <a:rPr sz="1050" b="1" i="0">
                <a:solidFill>
                  <a:srgbClr val="1B9AAA"/>
                </a:solidFill>
                <a:latin typeface="Calibri"/>
              </a:rPr>
              <a:t>4 items</a:t>
            </a:r>
          </a:p>
        </p:txBody>
      </p:sp>
      <p:sp>
        <p:nvSpPr>
          <p:cNvPr id="27" name="TextBox 26"/>
          <p:cNvSpPr txBox="1"/>
          <p:nvPr/>
        </p:nvSpPr>
        <p:spPr>
          <a:xfrm>
            <a:off x="4206240" y="4370832"/>
            <a:ext cx="3520440" cy="548640"/>
          </a:xfrm>
          <a:prstGeom prst="rect">
            <a:avLst/>
          </a:prstGeom>
          <a:noFill/>
        </p:spPr>
        <p:txBody>
          <a:bodyPr wrap="square" anchor="t" lIns="0" rIns="0" tIns="0" bIns="0">
            <a:spAutoFit/>
          </a:bodyPr>
          <a:lstStyle/>
          <a:p>
            <a:pPr algn="l">
              <a:lnSpc>
                <a:spcPct val="115000"/>
              </a:lnSpc>
            </a:pPr>
            <a:r>
              <a:rPr sz="1000" b="0" i="1">
                <a:solidFill>
                  <a:srgbClr val="5B6B7D"/>
                </a:solidFill>
                <a:latin typeface="Calibri"/>
              </a:rPr>
              <a:t>The half that is not code. One item here is the last real blocker.</a:t>
            </a:r>
          </a:p>
        </p:txBody>
      </p:sp>
      <p:sp>
        <p:nvSpPr>
          <p:cNvPr id="28" name="Rounded Rectangle 27"/>
          <p:cNvSpPr/>
          <p:nvPr/>
        </p:nvSpPr>
        <p:spPr>
          <a:xfrm>
            <a:off x="7909560" y="3566160"/>
            <a:ext cx="3520440" cy="457200"/>
          </a:xfrm>
          <a:prstGeom prst="roundRect">
            <a:avLst>
              <a:gd name="adj" fmla="val 12000"/>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909560" y="3566160"/>
            <a:ext cx="3520440" cy="457200"/>
          </a:xfrm>
          <a:prstGeom prst="rect">
            <a:avLst/>
          </a:prstGeom>
          <a:noFill/>
        </p:spPr>
        <p:txBody>
          <a:bodyPr wrap="square" anchor="ctr" lIns="0" rIns="0" tIns="0" bIns="0">
            <a:spAutoFit/>
          </a:bodyPr>
          <a:lstStyle/>
          <a:p>
            <a:pPr algn="ctr">
              <a:lnSpc>
                <a:spcPct val="100000"/>
              </a:lnSpc>
            </a:pPr>
            <a:r>
              <a:rPr sz="1200" b="1" i="0">
                <a:solidFill>
                  <a:srgbClr val="FFFFFF"/>
                </a:solidFill>
                <a:latin typeface="Calibri"/>
              </a:rPr>
              <a:t>Settled, superseded or conditional</a:t>
            </a:r>
          </a:p>
        </p:txBody>
      </p:sp>
      <p:sp>
        <p:nvSpPr>
          <p:cNvPr id="30" name="TextBox 29"/>
          <p:cNvSpPr txBox="1"/>
          <p:nvPr/>
        </p:nvSpPr>
        <p:spPr>
          <a:xfrm>
            <a:off x="7909560" y="4096512"/>
            <a:ext cx="3520440" cy="274320"/>
          </a:xfrm>
          <a:prstGeom prst="rect">
            <a:avLst/>
          </a:prstGeom>
          <a:noFill/>
        </p:spPr>
        <p:txBody>
          <a:bodyPr wrap="square" anchor="t" lIns="0" rIns="0" tIns="0" bIns="0">
            <a:spAutoFit/>
          </a:bodyPr>
          <a:lstStyle/>
          <a:p>
            <a:pPr algn="l">
              <a:lnSpc>
                <a:spcPct val="100000"/>
              </a:lnSpc>
            </a:pPr>
            <a:r>
              <a:rPr sz="1050" b="1" i="0">
                <a:solidFill>
                  <a:srgbClr val="5B6B7D"/>
                </a:solidFill>
                <a:latin typeface="Calibri"/>
              </a:rPr>
              <a:t>5 items</a:t>
            </a:r>
          </a:p>
        </p:txBody>
      </p:sp>
      <p:sp>
        <p:nvSpPr>
          <p:cNvPr id="31" name="TextBox 30"/>
          <p:cNvSpPr txBox="1"/>
          <p:nvPr/>
        </p:nvSpPr>
        <p:spPr>
          <a:xfrm>
            <a:off x="7909560" y="4370832"/>
            <a:ext cx="3520440" cy="548640"/>
          </a:xfrm>
          <a:prstGeom prst="rect">
            <a:avLst/>
          </a:prstGeom>
          <a:noFill/>
        </p:spPr>
        <p:txBody>
          <a:bodyPr wrap="square" anchor="t" lIns="0" rIns="0" tIns="0" bIns="0">
            <a:spAutoFit/>
          </a:bodyPr>
          <a:lstStyle/>
          <a:p>
            <a:pPr algn="l">
              <a:lnSpc>
                <a:spcPct val="115000"/>
              </a:lnSpc>
            </a:pPr>
            <a:r>
              <a:rPr sz="1000" b="0" i="1">
                <a:solidFill>
                  <a:srgbClr val="5B6B7D"/>
                </a:solidFill>
                <a:latin typeface="Calibri"/>
              </a:rPr>
              <a:t>Kept visible rather than deleted, so a reader can see what changed and why.</a:t>
            </a:r>
          </a:p>
        </p:txBody>
      </p:sp>
      <p:sp>
        <p:nvSpPr>
          <p:cNvPr id="32" name="Rectangle 31"/>
          <p:cNvSpPr/>
          <p:nvPr/>
        </p:nvSpPr>
        <p:spPr>
          <a:xfrm>
            <a:off x="502920" y="5120640"/>
            <a:ext cx="11064240" cy="18288"/>
          </a:xfrm>
          <a:prstGeom prst="rect">
            <a:avLst/>
          </a:prstGeom>
          <a:solidFill>
            <a:srgbClr val="DDE3E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02920" y="5285232"/>
            <a:ext cx="11064240" cy="1097280"/>
          </a:xfrm>
          <a:prstGeom prst="rect">
            <a:avLst/>
          </a:prstGeom>
          <a:noFill/>
        </p:spPr>
        <p:txBody>
          <a:bodyPr wrap="square" anchor="t" lIns="0" rIns="0" tIns="0" bIns="0">
            <a:spAutoFit/>
          </a:bodyPr>
          <a:lstStyle/>
          <a:p>
            <a:pPr algn="l">
              <a:lnSpc>
                <a:spcPct val="125000"/>
              </a:lnSpc>
            </a:pPr>
            <a:r>
              <a:rPr sz="1150" b="0" i="0">
                <a:solidFill>
                  <a:srgbClr val="5B6B7D"/>
                </a:solidFill>
                <a:latin typeface="Calibri"/>
              </a:rPr>
              <a:t>Same 26 actions the analysis produced, regrouped by the kind of work each one is. The source record in RAI_Synthesis.json is left as the analysis wrote it - what changed is the delivery decision, not the findings. Three actions have since been settled, superseded or partly withdrawn; they are shown with the reason rather than removed.</a:t>
            </a:r>
          </a:p>
        </p:txBody>
      </p:sp>
      <p:sp>
        <p:nvSpPr>
          <p:cNvPr id="34" name="Rectangle 33"/>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36" name="TextBox 35"/>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Build Plan Overview</a:t>
            </a:r>
          </a:p>
        </p:txBody>
      </p:sp>
      <p:sp>
        <p:nvSpPr>
          <p:cNvPr id="37" name="TextBox 36"/>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75</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BUILD PLAN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The runtime gateway</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064240" cy="292608"/>
          </a:xfrm>
          <a:prstGeom prst="rect">
            <a:avLst/>
          </a:prstGeom>
          <a:noFill/>
        </p:spPr>
        <p:txBody>
          <a:bodyPr wrap="square" anchor="t" lIns="0" rIns="0" tIns="0" bIns="0">
            <a:spAutoFit/>
          </a:bodyPr>
          <a:lstStyle/>
          <a:p>
            <a:pPr algn="l">
              <a:lnSpc>
                <a:spcPct val="100000"/>
              </a:lnSpc>
            </a:pPr>
            <a:r>
              <a:rPr sz="1150" b="0" i="1">
                <a:solidFill>
                  <a:srgbClr val="5B6B7D"/>
                </a:solidFill>
                <a:latin typeface="Calibri"/>
              </a:rPr>
              <a:t>Everything that sits in a live request path. Ordered by cost, not by date.</a:t>
            </a:r>
          </a:p>
        </p:txBody>
      </p:sp>
      <p:sp>
        <p:nvSpPr>
          <p:cNvPr id="8" name="TextBox 7"/>
          <p:cNvSpPr txBox="1"/>
          <p:nvPr/>
        </p:nvSpPr>
        <p:spPr>
          <a:xfrm>
            <a:off x="502920" y="1737360"/>
            <a:ext cx="5349240" cy="4663440"/>
          </a:xfrm>
          <a:prstGeom prst="rect">
            <a:avLst/>
          </a:prstGeom>
          <a:noFill/>
        </p:spPr>
        <p:txBody>
          <a:bodyPr wrap="square" lIns="0" rIns="0" tIns="0" bIns="0">
            <a:spAutoFit/>
          </a:bodyPr>
          <a:lstStyle/>
          <a:p>
            <a:pPr>
              <a:lnSpc>
                <a:spcPct val="110000"/>
              </a:lnSpc>
              <a:spcAft>
                <a:spcPts val="1200"/>
              </a:spcAft>
            </a:pPr>
            <a:r>
              <a:rPr sz="1050" b="1">
                <a:solidFill>
                  <a:srgbClr val="1B9AAA"/>
                </a:solidFill>
                <a:latin typeface="Calibri"/>
              </a:rPr>
              <a:t>▪  </a:t>
            </a:r>
            <a:r>
              <a:rPr sz="1050">
                <a:solidFill>
                  <a:srgbClr val="1A1A2E"/>
                </a:solidFill>
                <a:latin typeface="Calibri"/>
              </a:rPr>
              <a:t>Stand up a single internal Responsible AI gateway as a Python FastAPI service running NeMo Guardrails (Guardrails-develop), with the jailbreak rail's fail-open default explicitly flipped to fail-closed for client-facing traffic.</a:t>
            </a:r>
          </a:p>
          <a:p>
            <a:pPr>
              <a:lnSpc>
                <a:spcPct val="110000"/>
              </a:lnSpc>
              <a:spcAft>
                <a:spcPts val="1200"/>
              </a:spcAft>
            </a:pPr>
            <a:r>
              <a:rPr sz="1050" b="1">
                <a:solidFill>
                  <a:srgbClr val="1B9AAA"/>
                </a:solidFill>
                <a:latin typeface="Calibri"/>
              </a:rPr>
              <a:t>▪  </a:t>
            </a:r>
            <a:r>
              <a:rPr sz="1050">
                <a:solidFill>
                  <a:srgbClr val="1A1A2E"/>
                </a:solidFill>
                <a:latin typeface="Calibri"/>
              </a:rPr>
              <a:t>Adopt the OpenGuardrails GuardEvent and Verdict JSON schemas plus its safety/security/privacy taxonomy as AFNI's internal contract, and pin the protocol version since it is still pre-1.0.</a:t>
            </a:r>
          </a:p>
          <a:p>
            <a:pPr>
              <a:lnSpc>
                <a:spcPct val="110000"/>
              </a:lnSpc>
              <a:spcAft>
                <a:spcPts val="1200"/>
              </a:spcAft>
            </a:pPr>
            <a:r>
              <a:rPr sz="1050" b="1">
                <a:solidFill>
                  <a:srgbClr val="1B9AAA"/>
                </a:solidFill>
                <a:latin typeface="Calibri"/>
              </a:rPr>
              <a:t>▪  </a:t>
            </a:r>
            <a:r>
              <a:rPr sz="1050">
                <a:solidFill>
                  <a:srgbClr val="1A1A2E"/>
                </a:solidFill>
                <a:latin typeface="Calibri"/>
              </a:rPr>
              <a:t>Fork llm-guard-main into an AFNI-owned repository, pin every HuggingFace model revision, and enable the free deterministic tier first: Anonymize with the Vault, Secrets, InvisibleText, Regex, plus NeMo's YARA injection rules and context-bloat heuristics.</a:t>
            </a:r>
          </a:p>
          <a:p>
            <a:pPr>
              <a:lnSpc>
                <a:spcPct val="110000"/>
              </a:lnSpc>
              <a:spcAft>
                <a:spcPts val="1200"/>
              </a:spcAft>
            </a:pPr>
            <a:r>
              <a:rPr sz="1050" b="1">
                <a:solidFill>
                  <a:srgbClr val="1B9AAA"/>
                </a:solidFill>
                <a:latin typeface="Calibri"/>
              </a:rPr>
              <a:t>▪  </a:t>
            </a:r>
            <a:r>
              <a:rPr sz="1050">
                <a:solidFill>
                  <a:srgbClr val="1A1A2E"/>
                </a:solidFill>
                <a:latin typeface="Calibri"/>
              </a:rPr>
              <a:t>Turn on the model-based runtime tier: LLM Guard's DeBERTa-v3 prompt-injection classifier and local toxicity classifier, plus its cross-encoder NLI FactualConsistency scanner on every RAG response.</a:t>
            </a:r>
          </a:p>
        </p:txBody>
      </p:sp>
      <p:sp>
        <p:nvSpPr>
          <p:cNvPr id="9" name="TextBox 8"/>
          <p:cNvSpPr txBox="1"/>
          <p:nvPr/>
        </p:nvSpPr>
        <p:spPr>
          <a:xfrm>
            <a:off x="5989320" y="1737360"/>
            <a:ext cx="5577840" cy="4663440"/>
          </a:xfrm>
          <a:prstGeom prst="rect">
            <a:avLst/>
          </a:prstGeom>
          <a:noFill/>
        </p:spPr>
        <p:txBody>
          <a:bodyPr wrap="square" lIns="0" rIns="0" tIns="0" bIns="0">
            <a:spAutoFit/>
          </a:bodyPr>
          <a:lstStyle/>
          <a:p>
            <a:pPr>
              <a:lnSpc>
                <a:spcPct val="110000"/>
              </a:lnSpc>
              <a:spcAft>
                <a:spcPts val="1200"/>
              </a:spcAft>
            </a:pPr>
            <a:r>
              <a:rPr sz="1050" b="1">
                <a:solidFill>
                  <a:srgbClr val="1B9AAA"/>
                </a:solidFill>
                <a:latin typeface="Calibri"/>
              </a:rPr>
              <a:t>▪  </a:t>
            </a:r>
            <a:r>
              <a:rPr sz="1050">
                <a:solidFill>
                  <a:srgbClr val="1A1A2E"/>
                </a:solidFill>
                <a:latin typeface="Calibri"/>
              </a:rPr>
              <a:t>Route Azure AI Content Safety in through NeMo as a second opinion on high-risk content and as the groundedness detector for regulated RAG flows, with an AFNI custom blocklist, explicitly as defence in depth rather than the primary filter.</a:t>
            </a:r>
          </a:p>
          <a:p>
            <a:pPr>
              <a:lnSpc>
                <a:spcPct val="110000"/>
              </a:lnSpc>
              <a:spcAft>
                <a:spcPts val="1200"/>
              </a:spcAft>
            </a:pPr>
            <a:r>
              <a:rPr sz="1050" b="1">
                <a:solidFill>
                  <a:srgbClr val="1B9AAA"/>
                </a:solidFill>
                <a:latin typeface="Calibri"/>
              </a:rPr>
              <a:t>▪  </a:t>
            </a:r>
            <a:r>
              <a:rPr sz="1050">
                <a:solidFill>
                  <a:srgbClr val="1A1A2E"/>
                </a:solidFill>
                <a:latin typeface="Calibri"/>
              </a:rPr>
              <a:t>Port hai-guardrails-main's healthcare PHI regexes (ICD-10, MRN, NPI, DEA) and entropy-gated secret patterns into Presidio custom recognisers inside the Python stack, and calibrate all thresholds on real AFNI traffic rather than shipping defaults.</a:t>
            </a:r>
          </a:p>
          <a:p>
            <a:pPr>
              <a:lnSpc>
                <a:spcPct val="110000"/>
              </a:lnSpc>
              <a:spcAft>
                <a:spcPts val="1200"/>
              </a:spcAft>
            </a:pPr>
            <a:r>
              <a:rPr sz="1050" b="1">
                <a:solidFill>
                  <a:srgbClr val="1B9AAA"/>
                </a:solidFill>
                <a:latin typeface="Calibri"/>
              </a:rPr>
              <a:t>▪  </a:t>
            </a:r>
            <a:r>
              <a:rPr sz="1050">
                <a:solidFill>
                  <a:srgbClr val="1A1A2E"/>
                </a:solidFill>
                <a:latin typeface="Calibri"/>
              </a:rPr>
              <a:t>Reimplement Rebuff's canary-token leak detection and its self-hardening attack-signature store as native NeMo rails, seeding the signature store from the baseline red-team findings.</a:t>
            </a:r>
          </a:p>
        </p:txBody>
      </p:sp>
      <p:sp>
        <p:nvSpPr>
          <p:cNvPr id="10" name="Rectangle 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2" name="TextBox 1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Build Plan - The runtime gateway</a:t>
            </a:r>
          </a:p>
        </p:txBody>
      </p:sp>
      <p:sp>
        <p:nvSpPr>
          <p:cNvPr id="13" name="TextBox 1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76</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2E8B57"/>
                </a:solidFill>
                <a:latin typeface="Calibri"/>
              </a:rPr>
              <a:t>BUILD PLAN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Testing and CI</a:t>
            </a:r>
          </a:p>
        </p:txBody>
      </p:sp>
      <p:sp>
        <p:nvSpPr>
          <p:cNvPr id="6" name="Rectangle 5"/>
          <p:cNvSpPr/>
          <p:nvPr/>
        </p:nvSpPr>
        <p:spPr>
          <a:xfrm>
            <a:off x="502920" y="1207008"/>
            <a:ext cx="2011680" cy="32004"/>
          </a:xfrm>
          <a:prstGeom prst="rect">
            <a:avLst/>
          </a:prstGeom>
          <a:solidFill>
            <a:srgbClr val="2E8B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064240" cy="292608"/>
          </a:xfrm>
          <a:prstGeom prst="rect">
            <a:avLst/>
          </a:prstGeom>
          <a:noFill/>
        </p:spPr>
        <p:txBody>
          <a:bodyPr wrap="square" anchor="t" lIns="0" rIns="0" tIns="0" bIns="0">
            <a:spAutoFit/>
          </a:bodyPr>
          <a:lstStyle/>
          <a:p>
            <a:pPr algn="l">
              <a:lnSpc>
                <a:spcPct val="100000"/>
              </a:lnSpc>
            </a:pPr>
            <a:r>
              <a:rPr sz="1150" b="0" i="1">
                <a:solidFill>
                  <a:srgbClr val="5B6B7D"/>
                </a:solidFill>
                <a:latin typeface="Calibri"/>
              </a:rPr>
              <a:t>Offline work. None of this is in a request path, and none of it can be.</a:t>
            </a:r>
          </a:p>
        </p:txBody>
      </p:sp>
      <p:sp>
        <p:nvSpPr>
          <p:cNvPr id="8" name="TextBox 7"/>
          <p:cNvSpPr txBox="1"/>
          <p:nvPr/>
        </p:nvSpPr>
        <p:spPr>
          <a:xfrm>
            <a:off x="502920" y="1737360"/>
            <a:ext cx="5349240" cy="4663440"/>
          </a:xfrm>
          <a:prstGeom prst="rect">
            <a:avLst/>
          </a:prstGeom>
          <a:noFill/>
        </p:spPr>
        <p:txBody>
          <a:bodyPr wrap="square" lIns="0" rIns="0" tIns="0" bIns="0">
            <a:spAutoFit/>
          </a:bodyPr>
          <a:lstStyle/>
          <a:p>
            <a:pPr>
              <a:lnSpc>
                <a:spcPct val="110000"/>
              </a:lnSpc>
              <a:spcAft>
                <a:spcPts val="1200"/>
              </a:spcAft>
            </a:pPr>
            <a:r>
              <a:rPr sz="1050" b="1">
                <a:solidFill>
                  <a:srgbClr val="2E8B57"/>
                </a:solidFill>
                <a:latin typeface="Calibri"/>
              </a:rPr>
              <a:t>▪  </a:t>
            </a:r>
            <a:r>
              <a:rPr sz="1050">
                <a:solidFill>
                  <a:srgbClr val="1A1A2E"/>
                </a:solidFill>
                <a:latin typeface="Calibri"/>
              </a:rPr>
              <a:t>Run a baseline red-team scan against one existing AFNI AI application using garak-main (CLI, low effort) and a promptfoo-main OWASP-mapped redteam run, and publish the results as the before picture.</a:t>
            </a:r>
          </a:p>
          <a:p>
            <a:pPr>
              <a:lnSpc>
                <a:spcPct val="110000"/>
              </a:lnSpc>
              <a:spcAft>
                <a:spcPts val="1200"/>
              </a:spcAft>
            </a:pPr>
            <a:r>
              <a:rPr sz="1050" b="1">
                <a:solidFill>
                  <a:srgbClr val="2E8B57"/>
                </a:solidFill>
                <a:latin typeface="Calibri"/>
              </a:rPr>
              <a:t>▪  </a:t>
            </a:r>
            <a:r>
              <a:rPr sz="1050">
                <a:solidFill>
                  <a:srgbClr val="1A1A2E"/>
                </a:solidFill>
                <a:latin typeface="Calibri"/>
              </a:rPr>
              <a:t>Wire the fast CI tier on the pilot application: DeepEval and promptfoo deterministic assertions plus PyRIT's regex output scorers, running in under five minutes on every pull request.</a:t>
            </a:r>
          </a:p>
          <a:p>
            <a:pPr>
              <a:lnSpc>
                <a:spcPct val="110000"/>
              </a:lnSpc>
              <a:spcAft>
                <a:spcPts val="1200"/>
              </a:spcAft>
            </a:pPr>
            <a:r>
              <a:rPr sz="1050" b="1">
                <a:solidFill>
                  <a:srgbClr val="2E8B57"/>
                </a:solidFill>
                <a:latin typeface="Calibri"/>
              </a:rPr>
              <a:t>▪  </a:t>
            </a:r>
            <a:r>
              <a:rPr sz="1050">
                <a:solidFill>
                  <a:srgbClr val="1A1A2E"/>
                </a:solidFill>
                <a:latin typeface="Calibri"/>
              </a:rPr>
              <a:t>Build the medium CI tier: a promptfoo redteam run over the OWASP LLM Top 10 plugin set plus a garak probe subset on every merge to main, gated on a maximum attack-success rate rather than on zero findings.</a:t>
            </a:r>
          </a:p>
        </p:txBody>
      </p:sp>
      <p:sp>
        <p:nvSpPr>
          <p:cNvPr id="9" name="TextBox 8"/>
          <p:cNvSpPr txBox="1"/>
          <p:nvPr/>
        </p:nvSpPr>
        <p:spPr>
          <a:xfrm>
            <a:off x="5989320" y="1737360"/>
            <a:ext cx="5577840" cy="4663440"/>
          </a:xfrm>
          <a:prstGeom prst="rect">
            <a:avLst/>
          </a:prstGeom>
          <a:noFill/>
        </p:spPr>
        <p:txBody>
          <a:bodyPr wrap="square" lIns="0" rIns="0" tIns="0" bIns="0">
            <a:spAutoFit/>
          </a:bodyPr>
          <a:lstStyle/>
          <a:p>
            <a:pPr>
              <a:lnSpc>
                <a:spcPct val="110000"/>
              </a:lnSpc>
              <a:spcAft>
                <a:spcPts val="1200"/>
              </a:spcAft>
            </a:pPr>
            <a:r>
              <a:rPr sz="1050" b="1">
                <a:solidFill>
                  <a:srgbClr val="2E8B57"/>
                </a:solidFill>
                <a:latin typeface="Calibri"/>
              </a:rPr>
              <a:t>▪  </a:t>
            </a:r>
            <a:r>
              <a:rPr sz="1050">
                <a:solidFill>
                  <a:srgbClr val="1A1A2E"/>
                </a:solidFill>
                <a:latin typeface="Calibri"/>
              </a:rPr>
              <a:t>Establish the versioned regression corpus in git: export every attack that succeeded against the pilot application, tag it by tenet and OWASP category, and make replay of previously-fixed attacks a hard gate in the fast tier.</a:t>
            </a:r>
          </a:p>
          <a:p>
            <a:pPr>
              <a:lnSpc>
                <a:spcPct val="110000"/>
              </a:lnSpc>
              <a:spcAft>
                <a:spcPts val="1200"/>
              </a:spcAft>
            </a:pPr>
            <a:r>
              <a:rPr sz="1050" b="1">
                <a:solidFill>
                  <a:srgbClr val="2E8B57"/>
                </a:solidFill>
                <a:latin typeface="Calibri"/>
              </a:rPr>
              <a:t>▪  </a:t>
            </a:r>
            <a:r>
              <a:rPr sz="1050">
                <a:solidFill>
                  <a:srgbClr val="1A1A2E"/>
                </a:solidFill>
                <a:latin typeface="Calibri"/>
              </a:rPr>
              <a:t>Stand up the slow nightly and pre-release tier: PyRIT Crescendo, TAP and PAIR multi-turn attacks, DeepTeam agentic vulnerability probes, and Deepchecks drift suites where licensing allows.</a:t>
            </a:r>
          </a:p>
          <a:p>
            <a:pPr>
              <a:lnSpc>
                <a:spcPct val="110000"/>
              </a:lnSpc>
              <a:spcAft>
                <a:spcPts val="1200"/>
              </a:spcAft>
            </a:pPr>
            <a:r>
              <a:rPr sz="1050" b="1">
                <a:solidFill>
                  <a:srgbClr val="2E8B57"/>
                </a:solidFill>
                <a:latin typeface="Calibri"/>
              </a:rPr>
              <a:t>▪  </a:t>
            </a:r>
            <a:r>
              <a:rPr sz="1050">
                <a:solidFill>
                  <a:srgbClr val="1A1A2E"/>
                </a:solidFill>
                <a:latin typeface="Calibri"/>
              </a:rPr>
              <a:t>Point garak's shields up and shields down probes at AFNI's own gateway to prove the rails actually fire, and add that check to the release gate.</a:t>
            </a:r>
          </a:p>
        </p:txBody>
      </p:sp>
      <p:sp>
        <p:nvSpPr>
          <p:cNvPr id="10" name="Rectangle 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2" name="TextBox 1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Build Plan - Testing and CI</a:t>
            </a:r>
          </a:p>
        </p:txBody>
      </p:sp>
      <p:sp>
        <p:nvSpPr>
          <p:cNvPr id="13" name="TextBox 1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77</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88C00"/>
                </a:solidFill>
                <a:latin typeface="Calibri"/>
              </a:rPr>
              <a:t>BUILD PLAN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Measurement</a:t>
            </a:r>
          </a:p>
        </p:txBody>
      </p:sp>
      <p:sp>
        <p:nvSpPr>
          <p:cNvPr id="6" name="Rectangle 5"/>
          <p:cNvSpPr/>
          <p:nvPr/>
        </p:nvSpPr>
        <p:spPr>
          <a:xfrm>
            <a:off x="502920" y="1207008"/>
            <a:ext cx="2011680" cy="32004"/>
          </a:xfrm>
          <a:prstGeom prst="rect">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064240" cy="292608"/>
          </a:xfrm>
          <a:prstGeom prst="rect">
            <a:avLst/>
          </a:prstGeom>
          <a:noFill/>
        </p:spPr>
        <p:txBody>
          <a:bodyPr wrap="square" anchor="t" lIns="0" rIns="0" tIns="0" bIns="0">
            <a:spAutoFit/>
          </a:bodyPr>
          <a:lstStyle/>
          <a:p>
            <a:pPr algn="l">
              <a:lnSpc>
                <a:spcPct val="100000"/>
              </a:lnSpc>
            </a:pPr>
            <a:r>
              <a:rPr sz="1150" b="0" i="1">
                <a:solidFill>
                  <a:srgbClr val="5B6B7D"/>
                </a:solidFill>
                <a:latin typeface="Calibri"/>
              </a:rPr>
              <a:t>The part nobody does. Without it every accuracy claim is a vendor's word.</a:t>
            </a:r>
          </a:p>
        </p:txBody>
      </p:sp>
      <p:sp>
        <p:nvSpPr>
          <p:cNvPr id="8" name="TextBox 7"/>
          <p:cNvSpPr txBox="1"/>
          <p:nvPr/>
        </p:nvSpPr>
        <p:spPr>
          <a:xfrm>
            <a:off x="502920" y="1737360"/>
            <a:ext cx="5349240" cy="4663440"/>
          </a:xfrm>
          <a:prstGeom prst="rect">
            <a:avLst/>
          </a:prstGeom>
          <a:noFill/>
        </p:spPr>
        <p:txBody>
          <a:bodyPr wrap="square" lIns="0" rIns="0" tIns="0" bIns="0">
            <a:spAutoFit/>
          </a:bodyPr>
          <a:lstStyle/>
          <a:p>
            <a:pPr>
              <a:lnSpc>
                <a:spcPct val="110000"/>
              </a:lnSpc>
              <a:spcAft>
                <a:spcPts val="1200"/>
              </a:spcAft>
            </a:pPr>
            <a:r>
              <a:rPr sz="1050" b="1">
                <a:solidFill>
                  <a:srgbClr val="E88C00"/>
                </a:solidFill>
                <a:latin typeface="Calibri"/>
              </a:rPr>
              <a:t>▪  </a:t>
            </a:r>
            <a:r>
              <a:rPr sz="1050">
                <a:solidFill>
                  <a:srgbClr val="1A1A2E"/>
                </a:solidFill>
                <a:latin typeface="Calibri"/>
              </a:rPr>
              <a:t>Measure the guardrails rather than assuming them: run PyRIT's scorer_evaluation tooling with Krippendorff's alpha against a human-labelled sample of production traffic, and publish a real precision and recall figure per detector.</a:t>
            </a:r>
          </a:p>
        </p:txBody>
      </p:sp>
      <p:sp>
        <p:nvSpPr>
          <p:cNvPr id="9" name="TextBox 8"/>
          <p:cNvSpPr txBox="1"/>
          <p:nvPr/>
        </p:nvSpPr>
        <p:spPr>
          <a:xfrm>
            <a:off x="5989320" y="1737360"/>
            <a:ext cx="5577840" cy="4663440"/>
          </a:xfrm>
          <a:prstGeom prst="rect">
            <a:avLst/>
          </a:prstGeom>
          <a:noFill/>
        </p:spPr>
        <p:txBody>
          <a:bodyPr wrap="square" lIns="0" rIns="0" tIns="0" bIns="0">
            <a:spAutoFit/>
          </a:bodyPr>
          <a:lstStyle/>
          <a:p>
            <a:pPr>
              <a:lnSpc>
                <a:spcPct val="110000"/>
              </a:lnSpc>
              <a:spcAft>
                <a:spcPts val="1200"/>
              </a:spcAft>
            </a:pPr>
            <a:r>
              <a:rPr sz="1050" b="1">
                <a:solidFill>
                  <a:srgbClr val="E88C00"/>
                </a:solidFill>
                <a:latin typeface="Calibri"/>
              </a:rPr>
              <a:t>▪  </a:t>
            </a:r>
            <a:r>
              <a:rPr sz="1050">
                <a:solidFill>
                  <a:srgbClr val="1A1A2E"/>
                </a:solidFill>
                <a:latin typeface="Calibri"/>
              </a:rPr>
              <a:t>Schedule quarterly re-benchmarking, because garak's own published detector metrics and the archived status of llm-guard-main both mean accuracy decays unless someone owns it.</a:t>
            </a:r>
          </a:p>
        </p:txBody>
      </p:sp>
      <p:sp>
        <p:nvSpPr>
          <p:cNvPr id="10" name="Rectangle 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2" name="TextBox 1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Build Plan - Measurement</a:t>
            </a:r>
          </a:p>
        </p:txBody>
      </p:sp>
      <p:sp>
        <p:nvSpPr>
          <p:cNvPr id="13" name="TextBox 1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78</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E88C00"/>
                </a:solidFill>
                <a:latin typeface="Calibri"/>
              </a:rPr>
              <a:t>BUILD PLAN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Fairness and explainability</a:t>
            </a:r>
          </a:p>
        </p:txBody>
      </p:sp>
      <p:sp>
        <p:nvSpPr>
          <p:cNvPr id="6" name="Rectangle 5"/>
          <p:cNvSpPr/>
          <p:nvPr/>
        </p:nvSpPr>
        <p:spPr>
          <a:xfrm>
            <a:off x="502920" y="1207008"/>
            <a:ext cx="2011680" cy="32004"/>
          </a:xfrm>
          <a:prstGeom prst="rect">
            <a:avLst/>
          </a:prstGeom>
          <a:solidFill>
            <a:srgbClr val="E88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064240" cy="292608"/>
          </a:xfrm>
          <a:prstGeom prst="rect">
            <a:avLst/>
          </a:prstGeom>
          <a:noFill/>
        </p:spPr>
        <p:txBody>
          <a:bodyPr wrap="square" anchor="t" lIns="0" rIns="0" tIns="0" bIns="0">
            <a:spAutoFit/>
          </a:bodyPr>
          <a:lstStyle/>
          <a:p>
            <a:pPr algn="l">
              <a:lnSpc>
                <a:spcPct val="100000"/>
              </a:lnSpc>
            </a:pPr>
            <a:r>
              <a:rPr sz="1150" b="0" i="1">
                <a:solidFill>
                  <a:srgbClr val="5B6B7D"/>
                </a:solidFill>
                <a:latin typeface="Calibri"/>
              </a:rPr>
              <a:t>Scheduled batch jobs. One response is not a fairness measurement.</a:t>
            </a:r>
          </a:p>
        </p:txBody>
      </p:sp>
      <p:sp>
        <p:nvSpPr>
          <p:cNvPr id="8" name="TextBox 7"/>
          <p:cNvSpPr txBox="1"/>
          <p:nvPr/>
        </p:nvSpPr>
        <p:spPr>
          <a:xfrm>
            <a:off x="502920" y="1737360"/>
            <a:ext cx="5349240" cy="4663440"/>
          </a:xfrm>
          <a:prstGeom prst="rect">
            <a:avLst/>
          </a:prstGeom>
          <a:noFill/>
        </p:spPr>
        <p:txBody>
          <a:bodyPr wrap="square" lIns="0" rIns="0" tIns="0" bIns="0">
            <a:spAutoFit/>
          </a:bodyPr>
          <a:lstStyle/>
          <a:p>
            <a:pPr>
              <a:lnSpc>
                <a:spcPct val="110000"/>
              </a:lnSpc>
              <a:spcAft>
                <a:spcPts val="1200"/>
              </a:spcAft>
            </a:pPr>
            <a:r>
              <a:rPr sz="1050" b="1">
                <a:solidFill>
                  <a:srgbClr val="E88C00"/>
                </a:solidFill>
                <a:latin typeface="Calibri"/>
              </a:rPr>
              <a:t>▪  </a:t>
            </a:r>
            <a:r>
              <a:rPr sz="1050">
                <a:solidFill>
                  <a:srgbClr val="1A1A2E"/>
                </a:solidFill>
                <a:latin typeface="Calibri"/>
              </a:rPr>
              <a:t>Adopt fairlearn-main plus the AIF360-main MDSS and FACTS scanners for any AFNI application making decisions about people, and run them as a scheduled batch job, not a runtime check.</a:t>
            </a:r>
          </a:p>
        </p:txBody>
      </p:sp>
      <p:sp>
        <p:nvSpPr>
          <p:cNvPr id="9" name="TextBox 8"/>
          <p:cNvSpPr txBox="1"/>
          <p:nvPr/>
        </p:nvSpPr>
        <p:spPr>
          <a:xfrm>
            <a:off x="5989320" y="1737360"/>
            <a:ext cx="5577840" cy="4663440"/>
          </a:xfrm>
          <a:prstGeom prst="rect">
            <a:avLst/>
          </a:prstGeom>
          <a:noFill/>
        </p:spPr>
        <p:txBody>
          <a:bodyPr wrap="square" lIns="0" rIns="0" tIns="0" bIns="0">
            <a:spAutoFit/>
          </a:bodyPr>
          <a:lstStyle/>
          <a:p>
            <a:pPr>
              <a:lnSpc>
                <a:spcPct val="110000"/>
              </a:lnSpc>
              <a:spcAft>
                <a:spcPts val="1200"/>
              </a:spcAft>
            </a:pPr>
            <a:r>
              <a:rPr sz="1050" b="1">
                <a:solidFill>
                  <a:srgbClr val="E88C00"/>
                </a:solidFill>
                <a:latin typeface="Calibri"/>
              </a:rPr>
              <a:t>▪  </a:t>
            </a:r>
            <a:r>
              <a:rPr sz="1050">
                <a:solidFill>
                  <a:srgbClr val="1A1A2E"/>
                </a:solidFill>
                <a:latin typeface="Calibri"/>
              </a:rPr>
              <a:t>Adopt shap-master for tabular and text model explanations and expose an explain endpoint backed by a background job, since SHAP is too slow for synchronous request handling.</a:t>
            </a:r>
          </a:p>
        </p:txBody>
      </p:sp>
      <p:sp>
        <p:nvSpPr>
          <p:cNvPr id="10" name="Rectangle 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2" name="TextBox 1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Build Plan - Fairness and explainability</a:t>
            </a:r>
          </a:p>
        </p:txBody>
      </p:sp>
      <p:sp>
        <p:nvSpPr>
          <p:cNvPr id="13" name="TextBox 1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79</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BUILD PLAN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Governance and accountability</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064240" cy="292608"/>
          </a:xfrm>
          <a:prstGeom prst="rect">
            <a:avLst/>
          </a:prstGeom>
          <a:noFill/>
        </p:spPr>
        <p:txBody>
          <a:bodyPr wrap="square" anchor="t" lIns="0" rIns="0" tIns="0" bIns="0">
            <a:spAutoFit/>
          </a:bodyPr>
          <a:lstStyle/>
          <a:p>
            <a:pPr algn="l">
              <a:lnSpc>
                <a:spcPct val="100000"/>
              </a:lnSpc>
            </a:pPr>
            <a:r>
              <a:rPr sz="1150" b="0" i="1">
                <a:solidFill>
                  <a:srgbClr val="5B6B7D"/>
                </a:solidFill>
                <a:latin typeface="Calibri"/>
              </a:rPr>
              <a:t>The half that is not code. One item here is the last real blocker.</a:t>
            </a:r>
          </a:p>
        </p:txBody>
      </p:sp>
      <p:sp>
        <p:nvSpPr>
          <p:cNvPr id="8" name="TextBox 7"/>
          <p:cNvSpPr txBox="1"/>
          <p:nvPr/>
        </p:nvSpPr>
        <p:spPr>
          <a:xfrm>
            <a:off x="502920" y="1737360"/>
            <a:ext cx="5349240" cy="4663440"/>
          </a:xfrm>
          <a:prstGeom prst="rect">
            <a:avLst/>
          </a:prstGeom>
          <a:noFill/>
        </p:spPr>
        <p:txBody>
          <a:bodyPr wrap="square" lIns="0" rIns="0" tIns="0" bIns="0">
            <a:spAutoFit/>
          </a:bodyPr>
          <a:lstStyle/>
          <a:p>
            <a:pPr>
              <a:lnSpc>
                <a:spcPct val="110000"/>
              </a:lnSpc>
              <a:spcAft>
                <a:spcPts val="1200"/>
              </a:spcAft>
            </a:pPr>
            <a:r>
              <a:rPr sz="1050" b="1">
                <a:solidFill>
                  <a:srgbClr val="1B9AAA"/>
                </a:solidFill>
                <a:latin typeface="Calibri"/>
              </a:rPr>
              <a:t>▪  </a:t>
            </a:r>
            <a:r>
              <a:rPr sz="1050">
                <a:solidFill>
                  <a:srgbClr val="1A1A2E"/>
                </a:solidFill>
                <a:latin typeface="Calibri"/>
              </a:rPr>
              <a:t>Name one accountable owner per tenet and record the seven tenets, their owners and their current thresholds in a single governance register.</a:t>
            </a:r>
          </a:p>
          <a:p>
            <a:pPr>
              <a:lnSpc>
                <a:spcPct val="110000"/>
              </a:lnSpc>
              <a:spcAft>
                <a:spcPts val="1200"/>
              </a:spcAft>
            </a:pPr>
            <a:r>
              <a:rPr sz="1050" b="1">
                <a:solidFill>
                  <a:srgbClr val="1B9AAA"/>
                </a:solidFill>
                <a:latin typeface="Calibri"/>
              </a:rPr>
              <a:t>▪  </a:t>
            </a:r>
            <a:r>
              <a:rPr sz="1050">
                <a:solidFill>
                  <a:srgbClr val="1A1A2E"/>
                </a:solidFill>
                <a:latin typeface="Calibri"/>
              </a:rPr>
              <a:t>Ship the audit store and dashboard: every verdict from runtime and CI written in the same schema, with OpenTelemetry traces flowing into Azure Monitor.</a:t>
            </a:r>
          </a:p>
        </p:txBody>
      </p:sp>
      <p:sp>
        <p:nvSpPr>
          <p:cNvPr id="9" name="TextBox 8"/>
          <p:cNvSpPr txBox="1"/>
          <p:nvPr/>
        </p:nvSpPr>
        <p:spPr>
          <a:xfrm>
            <a:off x="5989320" y="1737360"/>
            <a:ext cx="5577840" cy="4663440"/>
          </a:xfrm>
          <a:prstGeom prst="rect">
            <a:avLst/>
          </a:prstGeom>
          <a:noFill/>
        </p:spPr>
        <p:txBody>
          <a:bodyPr wrap="square" lIns="0" rIns="0" tIns="0" bIns="0">
            <a:spAutoFit/>
          </a:bodyPr>
          <a:lstStyle/>
          <a:p>
            <a:pPr>
              <a:lnSpc>
                <a:spcPct val="110000"/>
              </a:lnSpc>
              <a:spcAft>
                <a:spcPts val="1200"/>
              </a:spcAft>
            </a:pPr>
            <a:r>
              <a:rPr sz="1050" b="1">
                <a:solidFill>
                  <a:srgbClr val="1B9AAA"/>
                </a:solidFill>
                <a:latin typeface="Calibri"/>
              </a:rPr>
              <a:t>▪  </a:t>
            </a:r>
            <a:r>
              <a:rPr sz="1050">
                <a:solidFill>
                  <a:srgbClr val="1A1A2E"/>
                </a:solidFill>
                <a:latin typeface="Calibri"/>
              </a:rPr>
              <a:t>Produce the standard client approval pack from CI artefacts: OWASP LLM Top 10, NIST AI RMF, MITRE ATLAS and EU AI Act mapped reports from promptfoo, plus the measured detector accuracy table and the audit-trail sample.</a:t>
            </a:r>
          </a:p>
          <a:p>
            <a:pPr>
              <a:lnSpc>
                <a:spcPct val="110000"/>
              </a:lnSpc>
              <a:spcAft>
                <a:spcPts val="1200"/>
              </a:spcAft>
            </a:pPr>
            <a:r>
              <a:rPr sz="1050" b="1">
                <a:solidFill>
                  <a:srgbClr val="1B9AAA"/>
                </a:solidFill>
                <a:latin typeface="Calibri"/>
              </a:rPr>
              <a:t>▪  </a:t>
            </a:r>
            <a:r>
              <a:rPr sz="1050">
                <a:solidFill>
                  <a:srgbClr val="1A1A2E"/>
                </a:solidFill>
                <a:latin typeface="Calibri"/>
              </a:rPr>
              <a:t>Publish the AFNI Responsible AI Toolkit as an internal versioned package with a mandatory adoption gate: no AI-native application reaches production without routing through the gateway and passing the CI tiers.</a:t>
            </a:r>
          </a:p>
        </p:txBody>
      </p:sp>
      <p:sp>
        <p:nvSpPr>
          <p:cNvPr id="10" name="Rectangle 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2" name="TextBox 1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Build Plan - Governance and accountability</a:t>
            </a:r>
          </a:p>
        </p:txBody>
      </p:sp>
      <p:sp>
        <p:nvSpPr>
          <p:cNvPr id="13" name="TextBox 1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80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5B6B7D"/>
                </a:solidFill>
                <a:latin typeface="Calibri"/>
              </a:rPr>
              <a:t>BUILD PLAN</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Settled, superseded or conditional</a:t>
            </a:r>
          </a:p>
        </p:txBody>
      </p:sp>
      <p:sp>
        <p:nvSpPr>
          <p:cNvPr id="6" name="Rectangle 5"/>
          <p:cNvSpPr/>
          <p:nvPr/>
        </p:nvSpPr>
        <p:spPr>
          <a:xfrm>
            <a:off x="502920" y="1207008"/>
            <a:ext cx="2011680" cy="32004"/>
          </a:xfrm>
          <a:prstGeom prst="rect">
            <a:avLst/>
          </a:prstGeom>
          <a:solidFill>
            <a:srgbClr val="5B6B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98448"/>
            <a:ext cx="11064240" cy="292608"/>
          </a:xfrm>
          <a:prstGeom prst="rect">
            <a:avLst/>
          </a:prstGeom>
          <a:noFill/>
        </p:spPr>
        <p:txBody>
          <a:bodyPr wrap="square" anchor="t" lIns="0" rIns="0" tIns="0" bIns="0">
            <a:spAutoFit/>
          </a:bodyPr>
          <a:lstStyle/>
          <a:p>
            <a:pPr algn="l">
              <a:lnSpc>
                <a:spcPct val="100000"/>
              </a:lnSpc>
            </a:pPr>
            <a:r>
              <a:rPr sz="1150" b="0" i="1">
                <a:solidFill>
                  <a:srgbClr val="5B6B7D"/>
                </a:solidFill>
                <a:latin typeface="Calibri"/>
              </a:rPr>
              <a:t>Kept visible rather than deleted, so a reader can see what changed and why.</a:t>
            </a:r>
          </a:p>
        </p:txBody>
      </p:sp>
      <p:sp>
        <p:nvSpPr>
          <p:cNvPr id="8" name="TextBox 7"/>
          <p:cNvSpPr txBox="1"/>
          <p:nvPr/>
        </p:nvSpPr>
        <p:spPr>
          <a:xfrm>
            <a:off x="502920" y="1737360"/>
            <a:ext cx="5349240" cy="4663440"/>
          </a:xfrm>
          <a:prstGeom prst="rect">
            <a:avLst/>
          </a:prstGeom>
          <a:noFill/>
        </p:spPr>
        <p:txBody>
          <a:bodyPr wrap="square" lIns="0" rIns="0" tIns="0" bIns="0">
            <a:spAutoFit/>
          </a:bodyPr>
          <a:lstStyle/>
          <a:p>
            <a:pPr>
              <a:lnSpc>
                <a:spcPct val="110000"/>
              </a:lnSpc>
              <a:spcAft>
                <a:spcPts val="1200"/>
              </a:spcAft>
            </a:pPr>
            <a:r>
              <a:rPr sz="1050" b="1">
                <a:solidFill>
                  <a:srgbClr val="5B6B7D"/>
                </a:solidFill>
                <a:latin typeface="Calibri"/>
              </a:rPr>
              <a:t>▪  </a:t>
            </a:r>
            <a:r>
              <a:rPr sz="1050">
                <a:solidFill>
                  <a:srgbClr val="1A1A2E"/>
                </a:solidFill>
                <a:latin typeface="Calibri"/>
              </a:rPr>
              <a:t>Get legal to rule on deepchecks-main's AGPL-3.0 licence and on promptfoo's remote-only plugin data-residency question before either is embedded in a client deliverable.
    -&gt; SETTLED 2026-09-02 - AFNI holds licences covering Apache-2.0, MIT and AGPL-3.0, and cleared external data transport. Deepchecks stays benched on a technical ground instead: it has no per-request API at all.</a:t>
            </a:r>
          </a:p>
          <a:p>
            <a:pPr>
              <a:lnSpc>
                <a:spcPct val="110000"/>
              </a:lnSpc>
              <a:spcAft>
                <a:spcPts val="1200"/>
              </a:spcAft>
            </a:pPr>
            <a:r>
              <a:rPr sz="1050" b="1">
                <a:solidFill>
                  <a:srgbClr val="5B6B7D"/>
                </a:solidFill>
                <a:latin typeface="Calibri"/>
              </a:rPr>
              <a:t>▪  </a:t>
            </a:r>
            <a:r>
              <a:rPr sz="1050">
                <a:solidFill>
                  <a:srgbClr val="1A1A2E"/>
                </a:solidFill>
                <a:latin typeface="Calibri"/>
              </a:rPr>
              <a:t>Flag the two vendor-risk items found in the review for the record: Guardrails AI's documented PyPI supply-chain compromise, and agentic_security-main's hard-coded third-party bearer token.
    -&gt; PARTLY WITHDRAWN - the Guardrails AI PyPI compromise is real and stands. The 'hard-coded bearer token' in Agentic Security is NOT real: the string is a Bearer XXXXX placeholder in a config template. Claim withdrawn.</a:t>
            </a:r>
          </a:p>
          <a:p>
            <a:pPr>
              <a:lnSpc>
                <a:spcPct val="110000"/>
              </a:lnSpc>
              <a:spcAft>
                <a:spcPts val="1200"/>
              </a:spcAft>
            </a:pPr>
            <a:r>
              <a:rPr sz="1050" b="1">
                <a:solidFill>
                  <a:srgbClr val="5B6B7D"/>
                </a:solidFill>
                <a:latin typeface="Calibri"/>
              </a:rPr>
              <a:t>▪  </a:t>
            </a:r>
            <a:r>
              <a:rPr sz="1050">
                <a:solidFill>
                  <a:srgbClr val="1A1A2E"/>
                </a:solidFill>
                <a:latin typeface="Calibri"/>
              </a:rPr>
              <a:t>Build the per-tenant and per-project threshold configuration service modelled on the Infosys admin pattern, so each AFNI project can set its own strictness without forking the gateway.
    -&gt; SUPERSEDED 2026-09-03 - AFNI removed the tenant dimension. What is built instead is one global threshold store with an operator override layer and a read log that proves a configured threshold was consulted.</a:t>
            </a:r>
          </a:p>
        </p:txBody>
      </p:sp>
      <p:sp>
        <p:nvSpPr>
          <p:cNvPr id="9" name="TextBox 8"/>
          <p:cNvSpPr txBox="1"/>
          <p:nvPr/>
        </p:nvSpPr>
        <p:spPr>
          <a:xfrm>
            <a:off x="5989320" y="1737360"/>
            <a:ext cx="5577840" cy="4663440"/>
          </a:xfrm>
          <a:prstGeom prst="rect">
            <a:avLst/>
          </a:prstGeom>
          <a:noFill/>
        </p:spPr>
        <p:txBody>
          <a:bodyPr wrap="square" lIns="0" rIns="0" tIns="0" bIns="0">
            <a:spAutoFit/>
          </a:bodyPr>
          <a:lstStyle/>
          <a:p>
            <a:pPr>
              <a:lnSpc>
                <a:spcPct val="110000"/>
              </a:lnSpc>
              <a:spcAft>
                <a:spcPts val="1200"/>
              </a:spcAft>
            </a:pPr>
            <a:r>
              <a:rPr sz="1050" b="1">
                <a:solidFill>
                  <a:srgbClr val="5B6B7D"/>
                </a:solidFill>
                <a:latin typeface="Calibri"/>
              </a:rPr>
              <a:t>▪  </a:t>
            </a:r>
            <a:r>
              <a:rPr sz="1050">
                <a:solidFill>
                  <a:srgbClr val="1A1A2E"/>
                </a:solidFill>
                <a:latin typeface="Calibri"/>
              </a:rPr>
              <a:t>Vendor the specific unique Infosys modules if the business needs them: multi-format and DICOM PII scanning, NSFW image and video detection, and Faker-based anonymisation with differential privacy.</a:t>
            </a:r>
          </a:p>
          <a:p>
            <a:pPr>
              <a:lnSpc>
                <a:spcPct val="110000"/>
              </a:lnSpc>
              <a:spcAft>
                <a:spcPts val="1200"/>
              </a:spcAft>
            </a:pPr>
            <a:r>
              <a:rPr sz="1050" b="1">
                <a:solidFill>
                  <a:srgbClr val="5B6B7D"/>
                </a:solidFill>
                <a:latin typeface="Calibri"/>
              </a:rPr>
              <a:t>▪  </a:t>
            </a:r>
            <a:r>
              <a:rPr sz="1050">
                <a:solidFill>
                  <a:srgbClr val="1A1A2E"/>
                </a:solidFill>
                <a:latin typeface="Calibri"/>
              </a:rPr>
              <a:t>Run the evals-main deception, sandbagging and covert-persuasion suite once against any AFNI product claiming agent autonomy, before it ships.</a:t>
            </a:r>
          </a:p>
        </p:txBody>
      </p:sp>
      <p:sp>
        <p:nvSpPr>
          <p:cNvPr id="10" name="Rectangle 9"/>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2" name="TextBox 11"/>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Build Plan - Settled, superseded or conditional</a:t>
            </a:r>
          </a:p>
        </p:txBody>
      </p:sp>
      <p:sp>
        <p:nvSpPr>
          <p:cNvPr id="13" name="TextBox 12"/>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81</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6858000"/>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22960" y="1005840"/>
            <a:ext cx="548640" cy="4572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502920"/>
            <a:ext cx="10058400" cy="365760"/>
          </a:xfrm>
          <a:prstGeom prst="rect">
            <a:avLst/>
          </a:prstGeom>
          <a:noFill/>
        </p:spPr>
        <p:txBody>
          <a:bodyPr wrap="square" anchor="t" lIns="0" rIns="0" tIns="0" bIns="0">
            <a:spAutoFit/>
          </a:bodyPr>
          <a:lstStyle/>
          <a:p>
            <a:pPr algn="l">
              <a:lnSpc>
                <a:spcPct val="100000"/>
              </a:lnSpc>
            </a:pPr>
            <a:r>
              <a:rPr sz="1400" b="1" i="0">
                <a:solidFill>
                  <a:srgbClr val="1B9AAA"/>
                </a:solidFill>
                <a:latin typeface="Calibri"/>
              </a:rPr>
              <a:t>THE BOTTOM LINE</a:t>
            </a:r>
          </a:p>
        </p:txBody>
      </p:sp>
      <p:sp>
        <p:nvSpPr>
          <p:cNvPr id="6" name="TextBox 5"/>
          <p:cNvSpPr txBox="1"/>
          <p:nvPr/>
        </p:nvSpPr>
        <p:spPr>
          <a:xfrm>
            <a:off x="777240" y="1188720"/>
            <a:ext cx="10607040" cy="731520"/>
          </a:xfrm>
          <a:prstGeom prst="rect">
            <a:avLst/>
          </a:prstGeom>
          <a:noFill/>
        </p:spPr>
        <p:txBody>
          <a:bodyPr wrap="square" anchor="t" lIns="0" rIns="0" tIns="0" bIns="0">
            <a:spAutoFit/>
          </a:bodyPr>
          <a:lstStyle/>
          <a:p>
            <a:pPr algn="l">
              <a:lnSpc>
                <a:spcPct val="110000"/>
              </a:lnSpc>
            </a:pPr>
            <a:r>
              <a:rPr sz="2400" b="1" i="0">
                <a:solidFill>
                  <a:srgbClr val="FFFFFF"/>
                </a:solidFill>
                <a:latin typeface="Calibri"/>
              </a:rPr>
              <a:t>How AFNI Should Think About Cost, Accuracy, and Reliability</a:t>
            </a:r>
          </a:p>
        </p:txBody>
      </p:sp>
      <p:sp>
        <p:nvSpPr>
          <p:cNvPr id="7" name="TextBox 6"/>
          <p:cNvSpPr txBox="1"/>
          <p:nvPr/>
        </p:nvSpPr>
        <p:spPr>
          <a:xfrm>
            <a:off x="822960" y="2194560"/>
            <a:ext cx="10515600" cy="4023360"/>
          </a:xfrm>
          <a:prstGeom prst="rect">
            <a:avLst/>
          </a:prstGeom>
          <a:noFill/>
        </p:spPr>
        <p:txBody>
          <a:bodyPr wrap="square" anchor="t" lIns="0" rIns="0" tIns="0" bIns="0">
            <a:spAutoFit/>
          </a:bodyPr>
          <a:lstStyle/>
          <a:p>
            <a:pPr algn="l">
              <a:lnSpc>
                <a:spcPct val="130000"/>
              </a:lnSpc>
            </a:pPr>
            <a:r>
              <a:rPr sz="1350" b="0" i="0">
                <a:solidFill>
                  <a:srgbClr val="CFDAE6"/>
                </a:solidFill>
                <a:latin typeface="Calibri"/>
              </a:rPr>
              <a:t>AFNI should spend its money where the risk is highest and use free, deterministic checks everywhere else. In practice that means running the cheap local checks on every single request, calling a paid model or cloud service only for the small slice of traffic that looks borderline, and pushing the expensive, slow, thorough work into nightly and pre-release testing rather than the live request path. No single filter should ever be the whole defence, because the independent evidence is clear that cloud content filters weaken on unusual and adversarial input, so the design is layered on purpose and every layer is allowed to be imperfect. The two rules that matter more than any tool choice are: if a check cannot run, say so and block rather than quietly letting the request through; and measure how accurate each check really is against human-reviewed examples instead of trusting a vendor's claim. Maintenance is the hidden cost that sinks most governance programmes, so AFNI should standardise on one gateway, one verdict format and one audit trail, and accept a slightly less capable tool when it means one fewer thing to keep alive. Finally, the testing half is not optional polish: the red-team corpus AFNI builds is a durable company asset that outlives any tool, and it is the single most persuasive thing to put in front of a client's security reviewer.</a:t>
            </a:r>
          </a:p>
        </p:txBody>
      </p:sp>
      <p:sp>
        <p:nvSpPr>
          <p:cNvPr id="8" name="Rectangle 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0" name="TextBox 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Recommendation</a:t>
            </a:r>
          </a:p>
        </p:txBody>
      </p:sp>
      <p:sp>
        <p:nvSpPr>
          <p:cNvPr id="11" name="TextBox 1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82</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6F8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8016" cy="6565392"/>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292608"/>
            <a:ext cx="9144000" cy="274320"/>
          </a:xfrm>
          <a:prstGeom prst="rect">
            <a:avLst/>
          </a:prstGeom>
          <a:noFill/>
        </p:spPr>
        <p:txBody>
          <a:bodyPr wrap="square" anchor="t" lIns="0" rIns="0" tIns="0" bIns="0">
            <a:spAutoFit/>
          </a:bodyPr>
          <a:lstStyle/>
          <a:p>
            <a:pPr algn="l">
              <a:lnSpc>
                <a:spcPct val="100000"/>
              </a:lnSpc>
            </a:pPr>
            <a:r>
              <a:rPr sz="1200" b="1" i="0">
                <a:solidFill>
                  <a:srgbClr val="1B9AAA"/>
                </a:solidFill>
                <a:latin typeface="Calibri"/>
              </a:rPr>
              <a:t>WRAP-UP</a:t>
            </a:r>
          </a:p>
        </p:txBody>
      </p:sp>
      <p:sp>
        <p:nvSpPr>
          <p:cNvPr id="5" name="TextBox 4"/>
          <p:cNvSpPr txBox="1"/>
          <p:nvPr/>
        </p:nvSpPr>
        <p:spPr>
          <a:xfrm>
            <a:off x="502920" y="566928"/>
            <a:ext cx="11155680" cy="640080"/>
          </a:xfrm>
          <a:prstGeom prst="rect">
            <a:avLst/>
          </a:prstGeom>
          <a:noFill/>
        </p:spPr>
        <p:txBody>
          <a:bodyPr wrap="square" anchor="t" lIns="0" rIns="0" tIns="0" bIns="0">
            <a:spAutoFit/>
          </a:bodyPr>
          <a:lstStyle/>
          <a:p>
            <a:pPr algn="l">
              <a:lnSpc>
                <a:spcPct val="100000"/>
              </a:lnSpc>
            </a:pPr>
            <a:r>
              <a:rPr sz="2600" b="1" i="0">
                <a:solidFill>
                  <a:srgbClr val="10243E"/>
                </a:solidFill>
                <a:latin typeface="Calibri"/>
              </a:rPr>
              <a:t>Next Steps</a:t>
            </a:r>
          </a:p>
        </p:txBody>
      </p:sp>
      <p:sp>
        <p:nvSpPr>
          <p:cNvPr id="6" name="Rectangle 5"/>
          <p:cNvSpPr/>
          <p:nvPr/>
        </p:nvSpPr>
        <p:spPr>
          <a:xfrm>
            <a:off x="502920" y="1207008"/>
            <a:ext cx="2011680" cy="32004"/>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554480"/>
            <a:ext cx="10789920" cy="4114800"/>
          </a:xfrm>
          <a:prstGeom prst="rect">
            <a:avLst/>
          </a:prstGeom>
          <a:noFill/>
        </p:spPr>
        <p:txBody>
          <a:bodyPr wrap="square" lIns="0" rIns="0" tIns="0" bIns="0">
            <a:spAutoFit/>
          </a:bodyPr>
          <a:lstStyle/>
          <a:p>
            <a:pPr>
              <a:lnSpc>
                <a:spcPct val="120000"/>
              </a:lnSpc>
              <a:spcAft>
                <a:spcPts val="1800"/>
              </a:spcAft>
            </a:pPr>
            <a:r>
              <a:rPr sz="1500" b="1">
                <a:solidFill>
                  <a:srgbClr val="1B9AAA"/>
                </a:solidFill>
                <a:latin typeface="Calibri"/>
              </a:rPr>
              <a:t>▪  </a:t>
            </a:r>
            <a:r>
              <a:rPr sz="1500">
                <a:solidFill>
                  <a:srgbClr val="1A1A2E"/>
                </a:solidFill>
                <a:latin typeface="Calibri"/>
              </a:rPr>
              <a:t>Walk through this deck with Kiran and agree the AFNI Responsible AI standard.</a:t>
            </a:r>
          </a:p>
          <a:p>
            <a:pPr>
              <a:lnSpc>
                <a:spcPct val="120000"/>
              </a:lnSpc>
              <a:spcAft>
                <a:spcPts val="1800"/>
              </a:spcAft>
            </a:pPr>
            <a:r>
              <a:rPr sz="1500" b="1">
                <a:solidFill>
                  <a:srgbClr val="1B9AAA"/>
                </a:solidFill>
                <a:latin typeface="Calibri"/>
              </a:rPr>
              <a:t>▪  </a:t>
            </a:r>
            <a:r>
              <a:rPr sz="1500">
                <a:solidFill>
                  <a:srgbClr val="1A1A2E"/>
                </a:solidFill>
                <a:latin typeface="Calibri"/>
              </a:rPr>
              <a:t>Start the build: the gateway, the OpenGuardrails contract, and the LLM Guard fork.</a:t>
            </a:r>
          </a:p>
          <a:p>
            <a:pPr>
              <a:lnSpc>
                <a:spcPct val="120000"/>
              </a:lnSpc>
              <a:spcAft>
                <a:spcPts val="1800"/>
              </a:spcAft>
            </a:pPr>
            <a:r>
              <a:rPr sz="1500" b="1">
                <a:solidFill>
                  <a:srgbClr val="1B9AAA"/>
                </a:solidFill>
                <a:latin typeface="Calibri"/>
              </a:rPr>
              <a:t>▪  </a:t>
            </a:r>
            <a:r>
              <a:rPr sz="1500">
                <a:solidFill>
                  <a:srgbClr val="1A1A2E"/>
                </a:solidFill>
                <a:latin typeface="Calibri"/>
              </a:rPr>
              <a:t>Name one accountable owner per tenet - seven names. This is the last blocker that code cannot clear.</a:t>
            </a:r>
          </a:p>
          <a:p>
            <a:pPr>
              <a:lnSpc>
                <a:spcPct val="120000"/>
              </a:lnSpc>
              <a:spcAft>
                <a:spcPts val="1800"/>
              </a:spcAft>
            </a:pPr>
            <a:r>
              <a:rPr sz="1500" b="1">
                <a:solidFill>
                  <a:srgbClr val="1B9AAA"/>
                </a:solidFill>
                <a:latin typeface="Calibri"/>
              </a:rPr>
              <a:t>▪  </a:t>
            </a:r>
            <a:r>
              <a:rPr sz="1500">
                <a:solidFill>
                  <a:srgbClr val="1A1A2E"/>
                </a:solidFill>
                <a:latin typeface="Calibri"/>
              </a:rPr>
              <a:t>Yamini to schedule the follow-up session and send Kiran the acceptable-use document.</a:t>
            </a:r>
          </a:p>
          <a:p>
            <a:pPr>
              <a:lnSpc>
                <a:spcPct val="120000"/>
              </a:lnSpc>
              <a:spcAft>
                <a:spcPts val="1800"/>
              </a:spcAft>
            </a:pPr>
            <a:r>
              <a:rPr sz="1500" b="1">
                <a:solidFill>
                  <a:srgbClr val="1B9AAA"/>
                </a:solidFill>
                <a:latin typeface="Calibri"/>
              </a:rPr>
              <a:t>▪  </a:t>
            </a:r>
            <a:r>
              <a:rPr sz="1500">
                <a:solidFill>
                  <a:srgbClr val="1A1A2E"/>
                </a:solidFill>
                <a:latin typeface="Calibri"/>
              </a:rPr>
              <a:t>Sai to complete the Azure AI-103 certification.</a:t>
            </a:r>
          </a:p>
        </p:txBody>
      </p:sp>
      <p:sp>
        <p:nvSpPr>
          <p:cNvPr id="8" name="Rectangle 7"/>
          <p:cNvSpPr/>
          <p:nvPr/>
        </p:nvSpPr>
        <p:spPr>
          <a:xfrm>
            <a:off x="0" y="6565392"/>
            <a:ext cx="12191695" cy="292608"/>
          </a:xfrm>
          <a:prstGeom prst="rect">
            <a:avLst/>
          </a:prstGeom>
          <a:solidFill>
            <a:srgbClr val="1024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65760" y="6565392"/>
            <a:ext cx="5486400" cy="292608"/>
          </a:xfrm>
          <a:prstGeom prst="rect">
            <a:avLst/>
          </a:prstGeom>
          <a:noFill/>
        </p:spPr>
        <p:txBody>
          <a:bodyPr wrap="square" anchor="ctr" lIns="0" rIns="0" tIns="0" bIns="0">
            <a:spAutoFit/>
          </a:bodyPr>
          <a:lstStyle/>
          <a:p>
            <a:pPr algn="l">
              <a:lnSpc>
                <a:spcPct val="100000"/>
              </a:lnSpc>
            </a:pPr>
            <a:r>
              <a:rPr sz="900" b="0" i="0">
                <a:solidFill>
                  <a:srgbClr val="CFDAE6"/>
                </a:solidFill>
                <a:latin typeface="Calibri"/>
              </a:rPr>
              <a:t>AFNI Responsible AI Framework</a:t>
            </a:r>
          </a:p>
        </p:txBody>
      </p:sp>
      <p:sp>
        <p:nvSpPr>
          <p:cNvPr id="10" name="TextBox 9"/>
          <p:cNvSpPr txBox="1"/>
          <p:nvPr/>
        </p:nvSpPr>
        <p:spPr>
          <a:xfrm>
            <a:off x="5852160" y="6565392"/>
            <a:ext cx="3657600" cy="292608"/>
          </a:xfrm>
          <a:prstGeom prst="rect">
            <a:avLst/>
          </a:prstGeom>
          <a:noFill/>
        </p:spPr>
        <p:txBody>
          <a:bodyPr wrap="square" anchor="ctr" lIns="0" rIns="0" tIns="0" bIns="0">
            <a:spAutoFit/>
          </a:bodyPr>
          <a:lstStyle/>
          <a:p>
            <a:pPr algn="ctr">
              <a:lnSpc>
                <a:spcPct val="100000"/>
              </a:lnSpc>
            </a:pPr>
            <a:r>
              <a:rPr sz="900" b="0" i="0">
                <a:solidFill>
                  <a:srgbClr val="CFDAE6"/>
                </a:solidFill>
                <a:latin typeface="Calibri"/>
              </a:rPr>
              <a:t>Next Steps</a:t>
            </a:r>
          </a:p>
        </p:txBody>
      </p:sp>
      <p:sp>
        <p:nvSpPr>
          <p:cNvPr id="11" name="TextBox 10"/>
          <p:cNvSpPr txBox="1"/>
          <p:nvPr/>
        </p:nvSpPr>
        <p:spPr>
          <a:xfrm>
            <a:off x="11277295" y="6565392"/>
            <a:ext cx="548640" cy="292608"/>
          </a:xfrm>
          <a:prstGeom prst="rect">
            <a:avLst/>
          </a:prstGeom>
          <a:noFill/>
        </p:spPr>
        <p:txBody>
          <a:bodyPr wrap="square" anchor="ctr" lIns="0" rIns="0" tIns="0" bIns="0">
            <a:spAutoFit/>
          </a:bodyPr>
          <a:lstStyle/>
          <a:p>
            <a:pPr algn="r">
              <a:lnSpc>
                <a:spcPct val="100000"/>
              </a:lnSpc>
            </a:pPr>
            <a:r>
              <a:rPr sz="900" b="0" i="0">
                <a:solidFill>
                  <a:srgbClr val="CFDAE6"/>
                </a:solidFill>
                <a:latin typeface="Calibri"/>
              </a:rPr>
              <a:t>83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